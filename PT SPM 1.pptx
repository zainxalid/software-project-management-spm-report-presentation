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38"/>
  </p:notesMasterIdLst>
  <p:handoutMasterIdLst>
    <p:handoutMasterId r:id="rId39"/>
  </p:handoutMasterIdLst>
  <p:sldIdLst>
    <p:sldId id="256" r:id="rId5"/>
    <p:sldId id="276" r:id="rId6"/>
    <p:sldId id="277" r:id="rId7"/>
    <p:sldId id="291" r:id="rId8"/>
    <p:sldId id="290" r:id="rId9"/>
    <p:sldId id="288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2" r:id="rId18"/>
    <p:sldId id="303" r:id="rId19"/>
    <p:sldId id="304" r:id="rId20"/>
    <p:sldId id="305" r:id="rId21"/>
    <p:sldId id="306" r:id="rId22"/>
    <p:sldId id="324" r:id="rId23"/>
    <p:sldId id="322" r:id="rId24"/>
    <p:sldId id="323" r:id="rId25"/>
    <p:sldId id="307" r:id="rId26"/>
    <p:sldId id="316" r:id="rId27"/>
    <p:sldId id="317" r:id="rId28"/>
    <p:sldId id="319" r:id="rId29"/>
    <p:sldId id="321" r:id="rId30"/>
    <p:sldId id="320" r:id="rId31"/>
    <p:sldId id="309" r:id="rId32"/>
    <p:sldId id="314" r:id="rId33"/>
    <p:sldId id="315" r:id="rId34"/>
    <p:sldId id="312" r:id="rId35"/>
    <p:sldId id="313" r:id="rId36"/>
    <p:sldId id="31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52" autoAdjust="0"/>
  </p:normalViewPr>
  <p:slideViewPr>
    <p:cSldViewPr snapToGrid="0" showGuides="1">
      <p:cViewPr varScale="1">
        <p:scale>
          <a:sx n="73" d="100"/>
          <a:sy n="73" d="100"/>
        </p:scale>
        <p:origin x="720" y="78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B8F91E-BD53-43B8-87CA-817F41CD3D5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9861354-6D40-4B31-B518-1D0ACC02E685}">
      <dgm:prSet phldrT="[Text]"/>
      <dgm:spPr>
        <a:solidFill>
          <a:srgbClr val="92D050"/>
        </a:solidFill>
      </dgm:spPr>
      <dgm:t>
        <a:bodyPr/>
        <a:lstStyle/>
        <a:p>
          <a:r>
            <a:rPr lang="en-US" dirty="0"/>
            <a:t>Acquisition Head	</a:t>
          </a:r>
        </a:p>
      </dgm:t>
    </dgm:pt>
    <dgm:pt modelId="{25394183-E1A6-4A0A-A9AF-FBB261CAA02B}" type="parTrans" cxnId="{91FFA0EE-6BE6-47C9-967E-559FBFE50930}">
      <dgm:prSet/>
      <dgm:spPr/>
      <dgm:t>
        <a:bodyPr/>
        <a:lstStyle/>
        <a:p>
          <a:endParaRPr lang="en-US"/>
        </a:p>
      </dgm:t>
    </dgm:pt>
    <dgm:pt modelId="{6BAC56E3-5E6C-416A-8D40-85E33D63D588}" type="sibTrans" cxnId="{91FFA0EE-6BE6-47C9-967E-559FBFE50930}">
      <dgm:prSet/>
      <dgm:spPr/>
      <dgm:t>
        <a:bodyPr/>
        <a:lstStyle/>
        <a:p>
          <a:endParaRPr lang="en-US"/>
        </a:p>
      </dgm:t>
    </dgm:pt>
    <dgm:pt modelId="{14C5DAC2-B516-44CA-AA8B-D41E807B40AE}">
      <dgm:prSet phldrT="[Text]"/>
      <dgm:spPr/>
      <dgm:t>
        <a:bodyPr/>
        <a:lstStyle/>
        <a:p>
          <a:r>
            <a:rPr lang="en-US" dirty="0"/>
            <a:t>Adolf Hitler </a:t>
          </a:r>
        </a:p>
      </dgm:t>
    </dgm:pt>
    <dgm:pt modelId="{FC6473C3-9E84-4618-BF61-8372D0F2B876}" type="parTrans" cxnId="{E02CAEAA-D804-4BEA-B2B9-694F9BEB315F}">
      <dgm:prSet/>
      <dgm:spPr/>
      <dgm:t>
        <a:bodyPr/>
        <a:lstStyle/>
        <a:p>
          <a:endParaRPr lang="en-US"/>
        </a:p>
      </dgm:t>
    </dgm:pt>
    <dgm:pt modelId="{D8B76895-F091-4A0B-A179-BB61B812F34A}" type="sibTrans" cxnId="{E02CAEAA-D804-4BEA-B2B9-694F9BEB315F}">
      <dgm:prSet/>
      <dgm:spPr/>
      <dgm:t>
        <a:bodyPr/>
        <a:lstStyle/>
        <a:p>
          <a:endParaRPr lang="en-US"/>
        </a:p>
      </dgm:t>
    </dgm:pt>
    <dgm:pt modelId="{7E37FEE7-636C-4FB5-B2D4-48C8BE538B6F}">
      <dgm:prSet phldrT="[Text]"/>
      <dgm:spPr>
        <a:solidFill>
          <a:srgbClr val="92D050"/>
        </a:solidFill>
      </dgm:spPr>
      <dgm:t>
        <a:bodyPr/>
        <a:lstStyle/>
        <a:p>
          <a:r>
            <a:rPr lang="en-US" dirty="0"/>
            <a:t>IT Advisor</a:t>
          </a:r>
        </a:p>
      </dgm:t>
    </dgm:pt>
    <dgm:pt modelId="{4B82670C-AA5A-4CB0-B823-0B0950926E7A}" type="parTrans" cxnId="{D4D796CF-01A3-44AE-8E3B-E06969A58241}">
      <dgm:prSet/>
      <dgm:spPr/>
      <dgm:t>
        <a:bodyPr/>
        <a:lstStyle/>
        <a:p>
          <a:endParaRPr lang="en-US"/>
        </a:p>
      </dgm:t>
    </dgm:pt>
    <dgm:pt modelId="{4E7BF6FB-069B-4787-9700-2E9C3462FC43}" type="sibTrans" cxnId="{D4D796CF-01A3-44AE-8E3B-E06969A58241}">
      <dgm:prSet/>
      <dgm:spPr/>
      <dgm:t>
        <a:bodyPr/>
        <a:lstStyle/>
        <a:p>
          <a:endParaRPr lang="en-US"/>
        </a:p>
      </dgm:t>
    </dgm:pt>
    <dgm:pt modelId="{0B39072D-81BA-4254-9D1A-2CA9AAB4EA30}">
      <dgm:prSet phldrT="[Text]"/>
      <dgm:spPr/>
      <dgm:t>
        <a:bodyPr/>
        <a:lstStyle/>
        <a:p>
          <a:r>
            <a:rPr lang="en-US" dirty="0" smtClean="0"/>
            <a:t>John Wick</a:t>
          </a:r>
          <a:endParaRPr lang="en-US" dirty="0"/>
        </a:p>
      </dgm:t>
    </dgm:pt>
    <dgm:pt modelId="{FAE3661A-6C95-4EF7-92FC-937ACD932139}" type="parTrans" cxnId="{AC63DF53-C0D8-490C-ADCF-C73A8A9A6F22}">
      <dgm:prSet/>
      <dgm:spPr/>
      <dgm:t>
        <a:bodyPr/>
        <a:lstStyle/>
        <a:p>
          <a:endParaRPr lang="en-US"/>
        </a:p>
      </dgm:t>
    </dgm:pt>
    <dgm:pt modelId="{404B88B5-D313-4583-BABC-6F069B631B90}" type="sibTrans" cxnId="{AC63DF53-C0D8-490C-ADCF-C73A8A9A6F22}">
      <dgm:prSet/>
      <dgm:spPr/>
      <dgm:t>
        <a:bodyPr/>
        <a:lstStyle/>
        <a:p>
          <a:endParaRPr lang="en-US"/>
        </a:p>
      </dgm:t>
    </dgm:pt>
    <dgm:pt modelId="{4DC6F826-3A50-4BD1-A660-99EAEC5BDE8C}" type="pres">
      <dgm:prSet presAssocID="{64B8F91E-BD53-43B8-87CA-817F41CD3D5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1CB6FF3-E575-4FEE-83B6-B73951442243}" type="pres">
      <dgm:prSet presAssocID="{89861354-6D40-4B31-B518-1D0ACC02E685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3A7A81-D1E7-4E29-A315-04CA01C3881D}" type="pres">
      <dgm:prSet presAssocID="{89861354-6D40-4B31-B518-1D0ACC02E685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BB69F8-FEA9-4B0C-9A7E-576A77E401C1}" type="pres">
      <dgm:prSet presAssocID="{7E37FEE7-636C-4FB5-B2D4-48C8BE538B6F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0C9DC5-9E64-41C2-A5E9-F2F448FB565B}" type="pres">
      <dgm:prSet presAssocID="{7E37FEE7-636C-4FB5-B2D4-48C8BE538B6F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36564EB-A5DB-4DB4-BB31-397D2AC7F208}" type="presOf" srcId="{7E37FEE7-636C-4FB5-B2D4-48C8BE538B6F}" destId="{A0BB69F8-FEA9-4B0C-9A7E-576A77E401C1}" srcOrd="0" destOrd="0" presId="urn:microsoft.com/office/officeart/2005/8/layout/vList2"/>
    <dgm:cxn modelId="{A82B8AE7-CF27-465C-85D7-29656A3A8142}" type="presOf" srcId="{0B39072D-81BA-4254-9D1A-2CA9AAB4EA30}" destId="{4B0C9DC5-9E64-41C2-A5E9-F2F448FB565B}" srcOrd="0" destOrd="0" presId="urn:microsoft.com/office/officeart/2005/8/layout/vList2"/>
    <dgm:cxn modelId="{E02CAEAA-D804-4BEA-B2B9-694F9BEB315F}" srcId="{89861354-6D40-4B31-B518-1D0ACC02E685}" destId="{14C5DAC2-B516-44CA-AA8B-D41E807B40AE}" srcOrd="0" destOrd="0" parTransId="{FC6473C3-9E84-4618-BF61-8372D0F2B876}" sibTransId="{D8B76895-F091-4A0B-A179-BB61B812F34A}"/>
    <dgm:cxn modelId="{AC63DF53-C0D8-490C-ADCF-C73A8A9A6F22}" srcId="{7E37FEE7-636C-4FB5-B2D4-48C8BE538B6F}" destId="{0B39072D-81BA-4254-9D1A-2CA9AAB4EA30}" srcOrd="0" destOrd="0" parTransId="{FAE3661A-6C95-4EF7-92FC-937ACD932139}" sibTransId="{404B88B5-D313-4583-BABC-6F069B631B90}"/>
    <dgm:cxn modelId="{91FFA0EE-6BE6-47C9-967E-559FBFE50930}" srcId="{64B8F91E-BD53-43B8-87CA-817F41CD3D57}" destId="{89861354-6D40-4B31-B518-1D0ACC02E685}" srcOrd="0" destOrd="0" parTransId="{25394183-E1A6-4A0A-A9AF-FBB261CAA02B}" sibTransId="{6BAC56E3-5E6C-416A-8D40-85E33D63D588}"/>
    <dgm:cxn modelId="{9AD6D16E-6299-4AF8-BB3F-25A7D4595C86}" type="presOf" srcId="{64B8F91E-BD53-43B8-87CA-817F41CD3D57}" destId="{4DC6F826-3A50-4BD1-A660-99EAEC5BDE8C}" srcOrd="0" destOrd="0" presId="urn:microsoft.com/office/officeart/2005/8/layout/vList2"/>
    <dgm:cxn modelId="{6E84AC83-7A29-43D2-ACAD-E30D44A96381}" type="presOf" srcId="{89861354-6D40-4B31-B518-1D0ACC02E685}" destId="{D1CB6FF3-E575-4FEE-83B6-B73951442243}" srcOrd="0" destOrd="0" presId="urn:microsoft.com/office/officeart/2005/8/layout/vList2"/>
    <dgm:cxn modelId="{B3256948-0EDB-4C97-83A0-E332826E70C7}" type="presOf" srcId="{14C5DAC2-B516-44CA-AA8B-D41E807B40AE}" destId="{983A7A81-D1E7-4E29-A315-04CA01C3881D}" srcOrd="0" destOrd="0" presId="urn:microsoft.com/office/officeart/2005/8/layout/vList2"/>
    <dgm:cxn modelId="{D4D796CF-01A3-44AE-8E3B-E06969A58241}" srcId="{64B8F91E-BD53-43B8-87CA-817F41CD3D57}" destId="{7E37FEE7-636C-4FB5-B2D4-48C8BE538B6F}" srcOrd="1" destOrd="0" parTransId="{4B82670C-AA5A-4CB0-B823-0B0950926E7A}" sibTransId="{4E7BF6FB-069B-4787-9700-2E9C3462FC43}"/>
    <dgm:cxn modelId="{306DE744-0760-47C3-87E0-315401B0E4D7}" type="presParOf" srcId="{4DC6F826-3A50-4BD1-A660-99EAEC5BDE8C}" destId="{D1CB6FF3-E575-4FEE-83B6-B73951442243}" srcOrd="0" destOrd="0" presId="urn:microsoft.com/office/officeart/2005/8/layout/vList2"/>
    <dgm:cxn modelId="{B9AC05B7-EBB7-451C-BA51-BBF7D2BBE21D}" type="presParOf" srcId="{4DC6F826-3A50-4BD1-A660-99EAEC5BDE8C}" destId="{983A7A81-D1E7-4E29-A315-04CA01C3881D}" srcOrd="1" destOrd="0" presId="urn:microsoft.com/office/officeart/2005/8/layout/vList2"/>
    <dgm:cxn modelId="{6AC077DD-DC9B-4F3C-8BA6-792CC71A877C}" type="presParOf" srcId="{4DC6F826-3A50-4BD1-A660-99EAEC5BDE8C}" destId="{A0BB69F8-FEA9-4B0C-9A7E-576A77E401C1}" srcOrd="2" destOrd="0" presId="urn:microsoft.com/office/officeart/2005/8/layout/vList2"/>
    <dgm:cxn modelId="{4409DB2B-AC11-452D-BFE5-274BFF36AFBD}" type="presParOf" srcId="{4DC6F826-3A50-4BD1-A660-99EAEC5BDE8C}" destId="{4B0C9DC5-9E64-41C2-A5E9-F2F448FB565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CB6FF3-E575-4FEE-83B6-B73951442243}">
      <dsp:nvSpPr>
        <dsp:cNvPr id="0" name=""/>
        <dsp:cNvSpPr/>
      </dsp:nvSpPr>
      <dsp:spPr>
        <a:xfrm>
          <a:off x="0" y="157357"/>
          <a:ext cx="4264297" cy="746460"/>
        </a:xfrm>
        <a:prstGeom prst="round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/>
            <a:t>Acquisition Head	</a:t>
          </a:r>
        </a:p>
      </dsp:txBody>
      <dsp:txXfrm>
        <a:off x="36439" y="193796"/>
        <a:ext cx="4191419" cy="673582"/>
      </dsp:txXfrm>
    </dsp:sp>
    <dsp:sp modelId="{983A7A81-D1E7-4E29-A315-04CA01C3881D}">
      <dsp:nvSpPr>
        <dsp:cNvPr id="0" name=""/>
        <dsp:cNvSpPr/>
      </dsp:nvSpPr>
      <dsp:spPr>
        <a:xfrm>
          <a:off x="0" y="903818"/>
          <a:ext cx="4264297" cy="48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391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 dirty="0"/>
            <a:t>Adolf Hitler </a:t>
          </a:r>
        </a:p>
      </dsp:txBody>
      <dsp:txXfrm>
        <a:off x="0" y="903818"/>
        <a:ext cx="4264297" cy="480240"/>
      </dsp:txXfrm>
    </dsp:sp>
    <dsp:sp modelId="{A0BB69F8-FEA9-4B0C-9A7E-576A77E401C1}">
      <dsp:nvSpPr>
        <dsp:cNvPr id="0" name=""/>
        <dsp:cNvSpPr/>
      </dsp:nvSpPr>
      <dsp:spPr>
        <a:xfrm>
          <a:off x="0" y="1384058"/>
          <a:ext cx="4264297" cy="746460"/>
        </a:xfrm>
        <a:prstGeom prst="round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/>
            <a:t>IT Advisor</a:t>
          </a:r>
        </a:p>
      </dsp:txBody>
      <dsp:txXfrm>
        <a:off x="36439" y="1420497"/>
        <a:ext cx="4191419" cy="673582"/>
      </dsp:txXfrm>
    </dsp:sp>
    <dsp:sp modelId="{4B0C9DC5-9E64-41C2-A5E9-F2F448FB565B}">
      <dsp:nvSpPr>
        <dsp:cNvPr id="0" name=""/>
        <dsp:cNvSpPr/>
      </dsp:nvSpPr>
      <dsp:spPr>
        <a:xfrm>
          <a:off x="0" y="2130518"/>
          <a:ext cx="4264297" cy="48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391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 dirty="0" smtClean="0"/>
            <a:t>John Wick</a:t>
          </a:r>
          <a:endParaRPr lang="en-US" sz="2300" kern="1200" dirty="0"/>
        </a:p>
      </dsp:txBody>
      <dsp:txXfrm>
        <a:off x="0" y="2130518"/>
        <a:ext cx="4264297" cy="480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6/29/2022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6/29/2022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54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471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8212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8346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6702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132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9510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7979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4751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6229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9322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1047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4847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0938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3273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3437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0824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0232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4525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6248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0786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6973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8016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8398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60DC36-8EFA-4378-9855-E019C55AC4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02592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7206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1711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6754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3026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6498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5306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60DC36-8EFA-4378-9855-E019C55AC4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3441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6/29/2022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6/29/2022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6/29/2022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6/29/2022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6/29/2022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6/29/2022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6/29/2022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6/29/2022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6/29/2022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6/29/2022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6/29/2022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6/29/2022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7392" y="2830929"/>
            <a:ext cx="10228217" cy="2215991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Report </a:t>
            </a:r>
            <a:r>
              <a:rPr lang="en-US" b="1" dirty="0" smtClean="0">
                <a:solidFill>
                  <a:schemeClr val="bg1"/>
                </a:solidFill>
              </a:rPr>
              <a:t>on ‘DeltaCode</a:t>
            </a:r>
            <a:r>
              <a:rPr lang="en-US" b="1" dirty="0">
                <a:solidFill>
                  <a:schemeClr val="bg1"/>
                </a:solidFill>
              </a:rPr>
              <a:t>’ </a:t>
            </a:r>
            <a:r>
              <a:rPr lang="en-US" b="1" dirty="0" smtClean="0">
                <a:solidFill>
                  <a:schemeClr val="bg1"/>
                </a:solidFill>
              </a:rPr>
              <a:t/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Project Management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accent4"/>
                </a:solidFill>
              </a:rPr>
              <a:t>Presentation</a:t>
            </a:r>
            <a:endParaRPr lang="en-US" dirty="0">
              <a:solidFill>
                <a:schemeClr val="accent4"/>
              </a:solidFill>
            </a:endParaRPr>
          </a:p>
        </p:txBody>
      </p:sp>
      <p:grpSp>
        <p:nvGrpSpPr>
          <p:cNvPr id="7" name="Group 6" descr="Icon of chart. ">
            <a:extLst>
              <a:ext uri="{FF2B5EF4-FFF2-40B4-BE49-F238E27FC236}">
                <a16:creationId xmlns:a16="http://schemas.microsoft.com/office/drawing/2014/main" id="{B95DF07A-CE7E-4D89-9AA0-25F4FFF3B9C7}"/>
              </a:ext>
            </a:extLst>
          </p:cNvPr>
          <p:cNvGrpSpPr/>
          <p:nvPr/>
        </p:nvGrpSpPr>
        <p:grpSpPr>
          <a:xfrm>
            <a:off x="5851020" y="695440"/>
            <a:ext cx="489958" cy="492680"/>
            <a:chOff x="2025650" y="4786313"/>
            <a:chExt cx="285750" cy="287338"/>
          </a:xfrm>
          <a:solidFill>
            <a:schemeClr val="bg1"/>
          </a:solidFill>
        </p:grpSpPr>
        <p:sp>
          <p:nvSpPr>
            <p:cNvPr id="8" name="Freeform 565">
              <a:extLst>
                <a:ext uri="{FF2B5EF4-FFF2-40B4-BE49-F238E27FC236}">
                  <a16:creationId xmlns:a16="http://schemas.microsoft.com/office/drawing/2014/main" id="{548FC78B-EF83-4185-A63D-1A5A85640B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5650" y="4786313"/>
              <a:ext cx="285750" cy="287338"/>
            </a:xfrm>
            <a:custGeom>
              <a:avLst/>
              <a:gdLst>
                <a:gd name="T0" fmla="*/ 812 w 903"/>
                <a:gd name="T1" fmla="*/ 500 h 903"/>
                <a:gd name="T2" fmla="*/ 810 w 903"/>
                <a:gd name="T3" fmla="*/ 505 h 903"/>
                <a:gd name="T4" fmla="*/ 806 w 903"/>
                <a:gd name="T5" fmla="*/ 509 h 903"/>
                <a:gd name="T6" fmla="*/ 800 w 903"/>
                <a:gd name="T7" fmla="*/ 511 h 903"/>
                <a:gd name="T8" fmla="*/ 105 w 903"/>
                <a:gd name="T9" fmla="*/ 511 h 903"/>
                <a:gd name="T10" fmla="*/ 99 w 903"/>
                <a:gd name="T11" fmla="*/ 510 h 903"/>
                <a:gd name="T12" fmla="*/ 95 w 903"/>
                <a:gd name="T13" fmla="*/ 507 h 903"/>
                <a:gd name="T14" fmla="*/ 92 w 903"/>
                <a:gd name="T15" fmla="*/ 502 h 903"/>
                <a:gd name="T16" fmla="*/ 90 w 903"/>
                <a:gd name="T17" fmla="*/ 496 h 903"/>
                <a:gd name="T18" fmla="*/ 90 w 903"/>
                <a:gd name="T19" fmla="*/ 105 h 903"/>
                <a:gd name="T20" fmla="*/ 92 w 903"/>
                <a:gd name="T21" fmla="*/ 100 h 903"/>
                <a:gd name="T22" fmla="*/ 95 w 903"/>
                <a:gd name="T23" fmla="*/ 94 h 903"/>
                <a:gd name="T24" fmla="*/ 99 w 903"/>
                <a:gd name="T25" fmla="*/ 91 h 903"/>
                <a:gd name="T26" fmla="*/ 105 w 903"/>
                <a:gd name="T27" fmla="*/ 90 h 903"/>
                <a:gd name="T28" fmla="*/ 800 w 903"/>
                <a:gd name="T29" fmla="*/ 90 h 903"/>
                <a:gd name="T30" fmla="*/ 806 w 903"/>
                <a:gd name="T31" fmla="*/ 92 h 903"/>
                <a:gd name="T32" fmla="*/ 810 w 903"/>
                <a:gd name="T33" fmla="*/ 96 h 903"/>
                <a:gd name="T34" fmla="*/ 812 w 903"/>
                <a:gd name="T35" fmla="*/ 102 h 903"/>
                <a:gd name="T36" fmla="*/ 813 w 903"/>
                <a:gd name="T37" fmla="*/ 496 h 903"/>
                <a:gd name="T38" fmla="*/ 15 w 903"/>
                <a:gd name="T39" fmla="*/ 0 h 903"/>
                <a:gd name="T40" fmla="*/ 9 w 903"/>
                <a:gd name="T41" fmla="*/ 1 h 903"/>
                <a:gd name="T42" fmla="*/ 5 w 903"/>
                <a:gd name="T43" fmla="*/ 4 h 903"/>
                <a:gd name="T44" fmla="*/ 1 w 903"/>
                <a:gd name="T45" fmla="*/ 8 h 903"/>
                <a:gd name="T46" fmla="*/ 0 w 903"/>
                <a:gd name="T47" fmla="*/ 15 h 903"/>
                <a:gd name="T48" fmla="*/ 0 w 903"/>
                <a:gd name="T49" fmla="*/ 590 h 903"/>
                <a:gd name="T50" fmla="*/ 2 w 903"/>
                <a:gd name="T51" fmla="*/ 595 h 903"/>
                <a:gd name="T52" fmla="*/ 7 w 903"/>
                <a:gd name="T53" fmla="*/ 599 h 903"/>
                <a:gd name="T54" fmla="*/ 12 w 903"/>
                <a:gd name="T55" fmla="*/ 602 h 903"/>
                <a:gd name="T56" fmla="*/ 437 w 903"/>
                <a:gd name="T57" fmla="*/ 602 h 903"/>
                <a:gd name="T58" fmla="*/ 260 w 903"/>
                <a:gd name="T59" fmla="*/ 877 h 903"/>
                <a:gd name="T60" fmla="*/ 257 w 903"/>
                <a:gd name="T61" fmla="*/ 883 h 903"/>
                <a:gd name="T62" fmla="*/ 256 w 903"/>
                <a:gd name="T63" fmla="*/ 888 h 903"/>
                <a:gd name="T64" fmla="*/ 257 w 903"/>
                <a:gd name="T65" fmla="*/ 893 h 903"/>
                <a:gd name="T66" fmla="*/ 260 w 903"/>
                <a:gd name="T67" fmla="*/ 899 h 903"/>
                <a:gd name="T68" fmla="*/ 265 w 903"/>
                <a:gd name="T69" fmla="*/ 902 h 903"/>
                <a:gd name="T70" fmla="*/ 271 w 903"/>
                <a:gd name="T71" fmla="*/ 903 h 903"/>
                <a:gd name="T72" fmla="*/ 277 w 903"/>
                <a:gd name="T73" fmla="*/ 902 h 903"/>
                <a:gd name="T74" fmla="*/ 281 w 903"/>
                <a:gd name="T75" fmla="*/ 899 h 903"/>
                <a:gd name="T76" fmla="*/ 621 w 903"/>
                <a:gd name="T77" fmla="*/ 899 h 903"/>
                <a:gd name="T78" fmla="*/ 627 w 903"/>
                <a:gd name="T79" fmla="*/ 902 h 903"/>
                <a:gd name="T80" fmla="*/ 632 w 903"/>
                <a:gd name="T81" fmla="*/ 903 h 903"/>
                <a:gd name="T82" fmla="*/ 637 w 903"/>
                <a:gd name="T83" fmla="*/ 902 h 903"/>
                <a:gd name="T84" fmla="*/ 643 w 903"/>
                <a:gd name="T85" fmla="*/ 899 h 903"/>
                <a:gd name="T86" fmla="*/ 646 w 903"/>
                <a:gd name="T87" fmla="*/ 893 h 903"/>
                <a:gd name="T88" fmla="*/ 647 w 903"/>
                <a:gd name="T89" fmla="*/ 888 h 903"/>
                <a:gd name="T90" fmla="*/ 646 w 903"/>
                <a:gd name="T91" fmla="*/ 883 h 903"/>
                <a:gd name="T92" fmla="*/ 643 w 903"/>
                <a:gd name="T93" fmla="*/ 877 h 903"/>
                <a:gd name="T94" fmla="*/ 467 w 903"/>
                <a:gd name="T95" fmla="*/ 602 h 903"/>
                <a:gd name="T96" fmla="*/ 892 w 903"/>
                <a:gd name="T97" fmla="*/ 602 h 903"/>
                <a:gd name="T98" fmla="*/ 897 w 903"/>
                <a:gd name="T99" fmla="*/ 599 h 903"/>
                <a:gd name="T100" fmla="*/ 900 w 903"/>
                <a:gd name="T101" fmla="*/ 595 h 903"/>
                <a:gd name="T102" fmla="*/ 902 w 903"/>
                <a:gd name="T103" fmla="*/ 590 h 903"/>
                <a:gd name="T104" fmla="*/ 903 w 903"/>
                <a:gd name="T105" fmla="*/ 15 h 903"/>
                <a:gd name="T106" fmla="*/ 902 w 903"/>
                <a:gd name="T107" fmla="*/ 8 h 903"/>
                <a:gd name="T108" fmla="*/ 899 w 903"/>
                <a:gd name="T109" fmla="*/ 4 h 903"/>
                <a:gd name="T110" fmla="*/ 894 w 903"/>
                <a:gd name="T111" fmla="*/ 1 h 903"/>
                <a:gd name="T112" fmla="*/ 888 w 903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3">
                  <a:moveTo>
                    <a:pt x="813" y="496"/>
                  </a:moveTo>
                  <a:lnTo>
                    <a:pt x="812" y="500"/>
                  </a:lnTo>
                  <a:lnTo>
                    <a:pt x="811" y="502"/>
                  </a:lnTo>
                  <a:lnTo>
                    <a:pt x="810" y="505"/>
                  </a:lnTo>
                  <a:lnTo>
                    <a:pt x="808" y="507"/>
                  </a:lnTo>
                  <a:lnTo>
                    <a:pt x="806" y="509"/>
                  </a:lnTo>
                  <a:lnTo>
                    <a:pt x="804" y="510"/>
                  </a:lnTo>
                  <a:lnTo>
                    <a:pt x="800" y="511"/>
                  </a:lnTo>
                  <a:lnTo>
                    <a:pt x="797" y="511"/>
                  </a:lnTo>
                  <a:lnTo>
                    <a:pt x="105" y="511"/>
                  </a:lnTo>
                  <a:lnTo>
                    <a:pt x="102" y="511"/>
                  </a:lnTo>
                  <a:lnTo>
                    <a:pt x="99" y="510"/>
                  </a:lnTo>
                  <a:lnTo>
                    <a:pt x="97" y="509"/>
                  </a:lnTo>
                  <a:lnTo>
                    <a:pt x="95" y="507"/>
                  </a:lnTo>
                  <a:lnTo>
                    <a:pt x="93" y="505"/>
                  </a:lnTo>
                  <a:lnTo>
                    <a:pt x="92" y="502"/>
                  </a:lnTo>
                  <a:lnTo>
                    <a:pt x="90" y="500"/>
                  </a:lnTo>
                  <a:lnTo>
                    <a:pt x="90" y="496"/>
                  </a:lnTo>
                  <a:lnTo>
                    <a:pt x="90" y="316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2"/>
                  </a:lnTo>
                  <a:lnTo>
                    <a:pt x="99" y="91"/>
                  </a:lnTo>
                  <a:lnTo>
                    <a:pt x="102" y="90"/>
                  </a:lnTo>
                  <a:lnTo>
                    <a:pt x="105" y="90"/>
                  </a:lnTo>
                  <a:lnTo>
                    <a:pt x="798" y="90"/>
                  </a:lnTo>
                  <a:lnTo>
                    <a:pt x="800" y="90"/>
                  </a:lnTo>
                  <a:lnTo>
                    <a:pt x="804" y="91"/>
                  </a:lnTo>
                  <a:lnTo>
                    <a:pt x="806" y="92"/>
                  </a:lnTo>
                  <a:lnTo>
                    <a:pt x="808" y="94"/>
                  </a:lnTo>
                  <a:lnTo>
                    <a:pt x="810" y="96"/>
                  </a:lnTo>
                  <a:lnTo>
                    <a:pt x="811" y="100"/>
                  </a:lnTo>
                  <a:lnTo>
                    <a:pt x="812" y="102"/>
                  </a:lnTo>
                  <a:lnTo>
                    <a:pt x="813" y="105"/>
                  </a:lnTo>
                  <a:lnTo>
                    <a:pt x="813" y="496"/>
                  </a:lnTo>
                  <a:close/>
                  <a:moveTo>
                    <a:pt x="888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7"/>
                  </a:lnTo>
                  <a:lnTo>
                    <a:pt x="0" y="590"/>
                  </a:lnTo>
                  <a:lnTo>
                    <a:pt x="1" y="593"/>
                  </a:lnTo>
                  <a:lnTo>
                    <a:pt x="2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9" y="601"/>
                  </a:lnTo>
                  <a:lnTo>
                    <a:pt x="12" y="602"/>
                  </a:lnTo>
                  <a:lnTo>
                    <a:pt x="15" y="602"/>
                  </a:lnTo>
                  <a:lnTo>
                    <a:pt x="437" y="602"/>
                  </a:lnTo>
                  <a:lnTo>
                    <a:pt x="437" y="701"/>
                  </a:lnTo>
                  <a:lnTo>
                    <a:pt x="260" y="877"/>
                  </a:lnTo>
                  <a:lnTo>
                    <a:pt x="259" y="879"/>
                  </a:lnTo>
                  <a:lnTo>
                    <a:pt x="257" y="883"/>
                  </a:lnTo>
                  <a:lnTo>
                    <a:pt x="256" y="885"/>
                  </a:lnTo>
                  <a:lnTo>
                    <a:pt x="256" y="888"/>
                  </a:lnTo>
                  <a:lnTo>
                    <a:pt x="256" y="891"/>
                  </a:lnTo>
                  <a:lnTo>
                    <a:pt x="257" y="893"/>
                  </a:lnTo>
                  <a:lnTo>
                    <a:pt x="259" y="897"/>
                  </a:lnTo>
                  <a:lnTo>
                    <a:pt x="260" y="899"/>
                  </a:lnTo>
                  <a:lnTo>
                    <a:pt x="263" y="901"/>
                  </a:lnTo>
                  <a:lnTo>
                    <a:pt x="265" y="902"/>
                  </a:lnTo>
                  <a:lnTo>
                    <a:pt x="268" y="903"/>
                  </a:lnTo>
                  <a:lnTo>
                    <a:pt x="271" y="903"/>
                  </a:lnTo>
                  <a:lnTo>
                    <a:pt x="274" y="903"/>
                  </a:lnTo>
                  <a:lnTo>
                    <a:pt x="277" y="902"/>
                  </a:lnTo>
                  <a:lnTo>
                    <a:pt x="279" y="901"/>
                  </a:lnTo>
                  <a:lnTo>
                    <a:pt x="281" y="899"/>
                  </a:lnTo>
                  <a:lnTo>
                    <a:pt x="452" y="728"/>
                  </a:lnTo>
                  <a:lnTo>
                    <a:pt x="621" y="899"/>
                  </a:lnTo>
                  <a:lnTo>
                    <a:pt x="623" y="901"/>
                  </a:lnTo>
                  <a:lnTo>
                    <a:pt x="627" y="902"/>
                  </a:lnTo>
                  <a:lnTo>
                    <a:pt x="629" y="903"/>
                  </a:lnTo>
                  <a:lnTo>
                    <a:pt x="632" y="903"/>
                  </a:lnTo>
                  <a:lnTo>
                    <a:pt x="635" y="903"/>
                  </a:lnTo>
                  <a:lnTo>
                    <a:pt x="637" y="902"/>
                  </a:lnTo>
                  <a:lnTo>
                    <a:pt x="641" y="901"/>
                  </a:lnTo>
                  <a:lnTo>
                    <a:pt x="643" y="899"/>
                  </a:lnTo>
                  <a:lnTo>
                    <a:pt x="645" y="897"/>
                  </a:lnTo>
                  <a:lnTo>
                    <a:pt x="646" y="893"/>
                  </a:lnTo>
                  <a:lnTo>
                    <a:pt x="647" y="891"/>
                  </a:lnTo>
                  <a:lnTo>
                    <a:pt x="647" y="888"/>
                  </a:lnTo>
                  <a:lnTo>
                    <a:pt x="647" y="885"/>
                  </a:lnTo>
                  <a:lnTo>
                    <a:pt x="646" y="883"/>
                  </a:lnTo>
                  <a:lnTo>
                    <a:pt x="645" y="879"/>
                  </a:lnTo>
                  <a:lnTo>
                    <a:pt x="643" y="877"/>
                  </a:lnTo>
                  <a:lnTo>
                    <a:pt x="467" y="701"/>
                  </a:lnTo>
                  <a:lnTo>
                    <a:pt x="467" y="602"/>
                  </a:lnTo>
                  <a:lnTo>
                    <a:pt x="888" y="602"/>
                  </a:lnTo>
                  <a:lnTo>
                    <a:pt x="892" y="602"/>
                  </a:lnTo>
                  <a:lnTo>
                    <a:pt x="894" y="601"/>
                  </a:lnTo>
                  <a:lnTo>
                    <a:pt x="897" y="599"/>
                  </a:lnTo>
                  <a:lnTo>
                    <a:pt x="899" y="597"/>
                  </a:lnTo>
                  <a:lnTo>
                    <a:pt x="900" y="595"/>
                  </a:lnTo>
                  <a:lnTo>
                    <a:pt x="902" y="593"/>
                  </a:lnTo>
                  <a:lnTo>
                    <a:pt x="902" y="590"/>
                  </a:lnTo>
                  <a:lnTo>
                    <a:pt x="903" y="587"/>
                  </a:lnTo>
                  <a:lnTo>
                    <a:pt x="903" y="15"/>
                  </a:lnTo>
                  <a:lnTo>
                    <a:pt x="902" y="12"/>
                  </a:lnTo>
                  <a:lnTo>
                    <a:pt x="902" y="8"/>
                  </a:lnTo>
                  <a:lnTo>
                    <a:pt x="900" y="6"/>
                  </a:lnTo>
                  <a:lnTo>
                    <a:pt x="899" y="4"/>
                  </a:lnTo>
                  <a:lnTo>
                    <a:pt x="897" y="2"/>
                  </a:lnTo>
                  <a:lnTo>
                    <a:pt x="894" y="1"/>
                  </a:lnTo>
                  <a:lnTo>
                    <a:pt x="892" y="0"/>
                  </a:lnTo>
                  <a:lnTo>
                    <a:pt x="8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566">
              <a:extLst>
                <a:ext uri="{FF2B5EF4-FFF2-40B4-BE49-F238E27FC236}">
                  <a16:creationId xmlns:a16="http://schemas.microsoft.com/office/drawing/2014/main" id="{B7B50F87-A3AA-4FB6-9692-24BF5512F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225" y="4843463"/>
              <a:ext cx="200025" cy="73025"/>
            </a:xfrm>
            <a:custGeom>
              <a:avLst/>
              <a:gdLst>
                <a:gd name="T0" fmla="*/ 151 w 632"/>
                <a:gd name="T1" fmla="*/ 151 h 226"/>
                <a:gd name="T2" fmla="*/ 157 w 632"/>
                <a:gd name="T3" fmla="*/ 149 h 226"/>
                <a:gd name="T4" fmla="*/ 161 w 632"/>
                <a:gd name="T5" fmla="*/ 146 h 226"/>
                <a:gd name="T6" fmla="*/ 288 w 632"/>
                <a:gd name="T7" fmla="*/ 217 h 226"/>
                <a:gd name="T8" fmla="*/ 292 w 632"/>
                <a:gd name="T9" fmla="*/ 223 h 226"/>
                <a:gd name="T10" fmla="*/ 299 w 632"/>
                <a:gd name="T11" fmla="*/ 226 h 226"/>
                <a:gd name="T12" fmla="*/ 302 w 632"/>
                <a:gd name="T13" fmla="*/ 226 h 226"/>
                <a:gd name="T14" fmla="*/ 307 w 632"/>
                <a:gd name="T15" fmla="*/ 225 h 226"/>
                <a:gd name="T16" fmla="*/ 313 w 632"/>
                <a:gd name="T17" fmla="*/ 222 h 226"/>
                <a:gd name="T18" fmla="*/ 471 w 632"/>
                <a:gd name="T19" fmla="*/ 191 h 226"/>
                <a:gd name="T20" fmla="*/ 477 w 632"/>
                <a:gd name="T21" fmla="*/ 195 h 226"/>
                <a:gd name="T22" fmla="*/ 483 w 632"/>
                <a:gd name="T23" fmla="*/ 196 h 226"/>
                <a:gd name="T24" fmla="*/ 488 w 632"/>
                <a:gd name="T25" fmla="*/ 194 h 226"/>
                <a:gd name="T26" fmla="*/ 494 w 632"/>
                <a:gd name="T27" fmla="*/ 191 h 226"/>
                <a:gd name="T28" fmla="*/ 631 w 632"/>
                <a:gd name="T29" fmla="*/ 23 h 226"/>
                <a:gd name="T30" fmla="*/ 632 w 632"/>
                <a:gd name="T31" fmla="*/ 16 h 226"/>
                <a:gd name="T32" fmla="*/ 632 w 632"/>
                <a:gd name="T33" fmla="*/ 11 h 226"/>
                <a:gd name="T34" fmla="*/ 629 w 632"/>
                <a:gd name="T35" fmla="*/ 5 h 226"/>
                <a:gd name="T36" fmla="*/ 625 w 632"/>
                <a:gd name="T37" fmla="*/ 2 h 226"/>
                <a:gd name="T38" fmla="*/ 619 w 632"/>
                <a:gd name="T39" fmla="*/ 0 h 226"/>
                <a:gd name="T40" fmla="*/ 613 w 632"/>
                <a:gd name="T41" fmla="*/ 1 h 226"/>
                <a:gd name="T42" fmla="*/ 607 w 632"/>
                <a:gd name="T43" fmla="*/ 3 h 226"/>
                <a:gd name="T44" fmla="*/ 481 w 632"/>
                <a:gd name="T45" fmla="*/ 159 h 226"/>
                <a:gd name="T46" fmla="*/ 415 w 632"/>
                <a:gd name="T47" fmla="*/ 93 h 226"/>
                <a:gd name="T48" fmla="*/ 409 w 632"/>
                <a:gd name="T49" fmla="*/ 91 h 226"/>
                <a:gd name="T50" fmla="*/ 404 w 632"/>
                <a:gd name="T51" fmla="*/ 91 h 226"/>
                <a:gd name="T52" fmla="*/ 398 w 632"/>
                <a:gd name="T53" fmla="*/ 93 h 226"/>
                <a:gd name="T54" fmla="*/ 307 w 632"/>
                <a:gd name="T55" fmla="*/ 185 h 226"/>
                <a:gd name="T56" fmla="*/ 247 w 632"/>
                <a:gd name="T57" fmla="*/ 39 h 226"/>
                <a:gd name="T58" fmla="*/ 242 w 632"/>
                <a:gd name="T59" fmla="*/ 34 h 226"/>
                <a:gd name="T60" fmla="*/ 234 w 632"/>
                <a:gd name="T61" fmla="*/ 33 h 226"/>
                <a:gd name="T62" fmla="*/ 227 w 632"/>
                <a:gd name="T63" fmla="*/ 35 h 226"/>
                <a:gd name="T64" fmla="*/ 144 w 632"/>
                <a:gd name="T65" fmla="*/ 121 h 226"/>
                <a:gd name="T66" fmla="*/ 12 w 632"/>
                <a:gd name="T67" fmla="*/ 121 h 226"/>
                <a:gd name="T68" fmla="*/ 7 w 632"/>
                <a:gd name="T69" fmla="*/ 123 h 226"/>
                <a:gd name="T70" fmla="*/ 3 w 632"/>
                <a:gd name="T71" fmla="*/ 128 h 226"/>
                <a:gd name="T72" fmla="*/ 0 w 632"/>
                <a:gd name="T73" fmla="*/ 133 h 226"/>
                <a:gd name="T74" fmla="*/ 0 w 632"/>
                <a:gd name="T75" fmla="*/ 138 h 226"/>
                <a:gd name="T76" fmla="*/ 3 w 632"/>
                <a:gd name="T77" fmla="*/ 144 h 226"/>
                <a:gd name="T78" fmla="*/ 7 w 632"/>
                <a:gd name="T79" fmla="*/ 148 h 226"/>
                <a:gd name="T80" fmla="*/ 12 w 632"/>
                <a:gd name="T81" fmla="*/ 150 h 226"/>
                <a:gd name="T82" fmla="*/ 15 w 632"/>
                <a:gd name="T83" fmla="*/ 15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2" h="226">
                  <a:moveTo>
                    <a:pt x="15" y="151"/>
                  </a:moveTo>
                  <a:lnTo>
                    <a:pt x="151" y="151"/>
                  </a:lnTo>
                  <a:lnTo>
                    <a:pt x="154" y="150"/>
                  </a:lnTo>
                  <a:lnTo>
                    <a:pt x="157" y="149"/>
                  </a:lnTo>
                  <a:lnTo>
                    <a:pt x="159" y="148"/>
                  </a:lnTo>
                  <a:lnTo>
                    <a:pt x="161" y="146"/>
                  </a:lnTo>
                  <a:lnTo>
                    <a:pt x="230" y="75"/>
                  </a:lnTo>
                  <a:lnTo>
                    <a:pt x="288" y="217"/>
                  </a:lnTo>
                  <a:lnTo>
                    <a:pt x="289" y="220"/>
                  </a:lnTo>
                  <a:lnTo>
                    <a:pt x="292" y="223"/>
                  </a:lnTo>
                  <a:lnTo>
                    <a:pt x="294" y="224"/>
                  </a:lnTo>
                  <a:lnTo>
                    <a:pt x="299" y="226"/>
                  </a:lnTo>
                  <a:lnTo>
                    <a:pt x="300" y="226"/>
                  </a:lnTo>
                  <a:lnTo>
                    <a:pt x="302" y="226"/>
                  </a:lnTo>
                  <a:lnTo>
                    <a:pt x="304" y="226"/>
                  </a:lnTo>
                  <a:lnTo>
                    <a:pt x="307" y="225"/>
                  </a:lnTo>
                  <a:lnTo>
                    <a:pt x="309" y="223"/>
                  </a:lnTo>
                  <a:lnTo>
                    <a:pt x="313" y="222"/>
                  </a:lnTo>
                  <a:lnTo>
                    <a:pt x="407" y="127"/>
                  </a:lnTo>
                  <a:lnTo>
                    <a:pt x="471" y="191"/>
                  </a:lnTo>
                  <a:lnTo>
                    <a:pt x="473" y="193"/>
                  </a:lnTo>
                  <a:lnTo>
                    <a:pt x="477" y="195"/>
                  </a:lnTo>
                  <a:lnTo>
                    <a:pt x="480" y="196"/>
                  </a:lnTo>
                  <a:lnTo>
                    <a:pt x="483" y="196"/>
                  </a:lnTo>
                  <a:lnTo>
                    <a:pt x="486" y="195"/>
                  </a:lnTo>
                  <a:lnTo>
                    <a:pt x="488" y="194"/>
                  </a:lnTo>
                  <a:lnTo>
                    <a:pt x="492" y="193"/>
                  </a:lnTo>
                  <a:lnTo>
                    <a:pt x="494" y="191"/>
                  </a:lnTo>
                  <a:lnTo>
                    <a:pt x="629" y="25"/>
                  </a:lnTo>
                  <a:lnTo>
                    <a:pt x="631" y="23"/>
                  </a:lnTo>
                  <a:lnTo>
                    <a:pt x="632" y="19"/>
                  </a:lnTo>
                  <a:lnTo>
                    <a:pt x="632" y="16"/>
                  </a:lnTo>
                  <a:lnTo>
                    <a:pt x="632" y="14"/>
                  </a:lnTo>
                  <a:lnTo>
                    <a:pt x="632" y="11"/>
                  </a:lnTo>
                  <a:lnTo>
                    <a:pt x="631" y="9"/>
                  </a:lnTo>
                  <a:lnTo>
                    <a:pt x="629" y="5"/>
                  </a:lnTo>
                  <a:lnTo>
                    <a:pt x="627" y="3"/>
                  </a:lnTo>
                  <a:lnTo>
                    <a:pt x="625" y="2"/>
                  </a:lnTo>
                  <a:lnTo>
                    <a:pt x="621" y="1"/>
                  </a:lnTo>
                  <a:lnTo>
                    <a:pt x="619" y="0"/>
                  </a:lnTo>
                  <a:lnTo>
                    <a:pt x="616" y="0"/>
                  </a:lnTo>
                  <a:lnTo>
                    <a:pt x="613" y="1"/>
                  </a:lnTo>
                  <a:lnTo>
                    <a:pt x="611" y="2"/>
                  </a:lnTo>
                  <a:lnTo>
                    <a:pt x="607" y="3"/>
                  </a:lnTo>
                  <a:lnTo>
                    <a:pt x="605" y="5"/>
                  </a:lnTo>
                  <a:lnTo>
                    <a:pt x="481" y="159"/>
                  </a:lnTo>
                  <a:lnTo>
                    <a:pt x="418" y="95"/>
                  </a:lnTo>
                  <a:lnTo>
                    <a:pt x="415" y="93"/>
                  </a:lnTo>
                  <a:lnTo>
                    <a:pt x="412" y="91"/>
                  </a:lnTo>
                  <a:lnTo>
                    <a:pt x="409" y="91"/>
                  </a:lnTo>
                  <a:lnTo>
                    <a:pt x="407" y="90"/>
                  </a:lnTo>
                  <a:lnTo>
                    <a:pt x="404" y="91"/>
                  </a:lnTo>
                  <a:lnTo>
                    <a:pt x="400" y="91"/>
                  </a:lnTo>
                  <a:lnTo>
                    <a:pt x="398" y="93"/>
                  </a:lnTo>
                  <a:lnTo>
                    <a:pt x="396" y="95"/>
                  </a:lnTo>
                  <a:lnTo>
                    <a:pt x="307" y="185"/>
                  </a:lnTo>
                  <a:lnTo>
                    <a:pt x="249" y="42"/>
                  </a:lnTo>
                  <a:lnTo>
                    <a:pt x="247" y="39"/>
                  </a:lnTo>
                  <a:lnTo>
                    <a:pt x="244" y="36"/>
                  </a:lnTo>
                  <a:lnTo>
                    <a:pt x="242" y="34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0" y="33"/>
                  </a:lnTo>
                  <a:lnTo>
                    <a:pt x="227" y="35"/>
                  </a:lnTo>
                  <a:lnTo>
                    <a:pt x="224" y="38"/>
                  </a:lnTo>
                  <a:lnTo>
                    <a:pt x="144" y="121"/>
                  </a:lnTo>
                  <a:lnTo>
                    <a:pt x="15" y="121"/>
                  </a:lnTo>
                  <a:lnTo>
                    <a:pt x="12" y="121"/>
                  </a:lnTo>
                  <a:lnTo>
                    <a:pt x="9" y="122"/>
                  </a:lnTo>
                  <a:lnTo>
                    <a:pt x="7" y="123"/>
                  </a:lnTo>
                  <a:lnTo>
                    <a:pt x="5" y="126"/>
                  </a:lnTo>
                  <a:lnTo>
                    <a:pt x="3" y="128"/>
                  </a:lnTo>
                  <a:lnTo>
                    <a:pt x="2" y="130"/>
                  </a:lnTo>
                  <a:lnTo>
                    <a:pt x="0" y="133"/>
                  </a:lnTo>
                  <a:lnTo>
                    <a:pt x="0" y="136"/>
                  </a:lnTo>
                  <a:lnTo>
                    <a:pt x="0" y="138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5" y="146"/>
                  </a:lnTo>
                  <a:lnTo>
                    <a:pt x="7" y="148"/>
                  </a:lnTo>
                  <a:lnTo>
                    <a:pt x="9" y="150"/>
                  </a:lnTo>
                  <a:lnTo>
                    <a:pt x="12" y="150"/>
                  </a:lnTo>
                  <a:lnTo>
                    <a:pt x="15" y="151"/>
                  </a:lnTo>
                  <a:lnTo>
                    <a:pt x="1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176104" y="6335485"/>
            <a:ext cx="832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 be Presented by Zain Khalid (FA19-BCS-112) &amp; Zohaib Mehmood (FA19-BCS-087) </a:t>
            </a: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id="{364CFD90-D0E1-4BC3-9D8B-7503E2632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111626" y="1720850"/>
            <a:ext cx="3968750" cy="39687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30491" y="522898"/>
            <a:ext cx="3361509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Report’s Content </a:t>
            </a:r>
            <a:endParaRPr lang="en-US" sz="4000" dirty="0">
              <a:solidFill>
                <a:schemeClr val="accent5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6703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6178536-4D8A-4FF2-BBDC-4B3E7E0FCF2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      1. Project Description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6F1356-9015-4B5C-9C64-3C1D963E5F5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151447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B7F2E37-0ACF-4E8A-9C1D-EC5B65BA29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7693025" y="333472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   2. Report Method 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8F812F5-70AF-4FBD-80D9-D59B3C456D5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7490264" y="3235325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52C5002-7E64-4069-ACA0-6876E54A9B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3. Initiation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9C5F3A-6F0D-4A0F-AE6E-92F342C22AC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5055576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4A75A79-A67A-4A23-8588-7FC5EB9A518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  <a:p>
            <a:pPr algn="ctr"/>
            <a:r>
              <a:rPr lang="en-US" sz="2000" b="1" dirty="0"/>
              <a:t>4. Planning</a:t>
            </a:r>
          </a:p>
          <a:p>
            <a:pPr algn="ctr"/>
            <a:r>
              <a:rPr lang="en-US" sz="1600" dirty="0"/>
              <a:t> 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BC62739-FA35-49F8-8929-743B31F55A6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1514475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1BB375D-5EE6-4428-9817-2C7DB6B9433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333472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  <a:p>
            <a:pPr algn="ctr"/>
            <a:r>
              <a:rPr lang="en-US" sz="2000" b="1" dirty="0"/>
              <a:t>5. Budgeting</a:t>
            </a:r>
          </a:p>
          <a:p>
            <a:pPr algn="ctr"/>
            <a:r>
              <a:rPr lang="en-US" sz="1600" dirty="0"/>
              <a:t> 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3A511B7-C7F3-4107-9962-1E10D2E087D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3670300" y="323532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4D7D4B6-62C2-45AB-89A5-3A41DA021FD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6. Changings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3902602-D4BC-4D44-AC14-BB55A86C5D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5055576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" name="Group 30" descr="Icons of bar chart and line graph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4" name="Freeform 1676" descr="Icon of check box. ">
            <a:extLst>
              <a:ext uri="{FF2B5EF4-FFF2-40B4-BE49-F238E27FC236}">
                <a16:creationId xmlns:a16="http://schemas.microsoft.com/office/drawing/2014/main" id="{6FB02354-C73F-4DCF-8004-E9CCA66963EA}"/>
              </a:ext>
            </a:extLst>
          </p:cNvPr>
          <p:cNvSpPr>
            <a:spLocks noEditPoints="1"/>
          </p:cNvSpPr>
          <p:nvPr/>
        </p:nvSpPr>
        <p:spPr bwMode="auto">
          <a:xfrm>
            <a:off x="7129621" y="1811496"/>
            <a:ext cx="345758" cy="345758"/>
          </a:xfrm>
          <a:custGeom>
            <a:avLst/>
            <a:gdLst>
              <a:gd name="T0" fmla="*/ 374 w 719"/>
              <a:gd name="T1" fmla="*/ 267 h 719"/>
              <a:gd name="T2" fmla="*/ 366 w 719"/>
              <a:gd name="T3" fmla="*/ 263 h 719"/>
              <a:gd name="T4" fmla="*/ 362 w 719"/>
              <a:gd name="T5" fmla="*/ 254 h 719"/>
              <a:gd name="T6" fmla="*/ 366 w 719"/>
              <a:gd name="T7" fmla="*/ 247 h 719"/>
              <a:gd name="T8" fmla="*/ 374 w 719"/>
              <a:gd name="T9" fmla="*/ 243 h 719"/>
              <a:gd name="T10" fmla="*/ 621 w 719"/>
              <a:gd name="T11" fmla="*/ 244 h 719"/>
              <a:gd name="T12" fmla="*/ 627 w 719"/>
              <a:gd name="T13" fmla="*/ 250 h 719"/>
              <a:gd name="T14" fmla="*/ 627 w 719"/>
              <a:gd name="T15" fmla="*/ 260 h 719"/>
              <a:gd name="T16" fmla="*/ 621 w 719"/>
              <a:gd name="T17" fmla="*/ 265 h 719"/>
              <a:gd name="T18" fmla="*/ 616 w 719"/>
              <a:gd name="T19" fmla="*/ 528 h 719"/>
              <a:gd name="T20" fmla="*/ 370 w 719"/>
              <a:gd name="T21" fmla="*/ 527 h 719"/>
              <a:gd name="T22" fmla="*/ 363 w 719"/>
              <a:gd name="T23" fmla="*/ 521 h 719"/>
              <a:gd name="T24" fmla="*/ 363 w 719"/>
              <a:gd name="T25" fmla="*/ 512 h 719"/>
              <a:gd name="T26" fmla="*/ 370 w 719"/>
              <a:gd name="T27" fmla="*/ 505 h 719"/>
              <a:gd name="T28" fmla="*/ 616 w 719"/>
              <a:gd name="T29" fmla="*/ 504 h 719"/>
              <a:gd name="T30" fmla="*/ 625 w 719"/>
              <a:gd name="T31" fmla="*/ 507 h 719"/>
              <a:gd name="T32" fmla="*/ 628 w 719"/>
              <a:gd name="T33" fmla="*/ 516 h 719"/>
              <a:gd name="T34" fmla="*/ 625 w 719"/>
              <a:gd name="T35" fmla="*/ 525 h 719"/>
              <a:gd name="T36" fmla="*/ 616 w 719"/>
              <a:gd name="T37" fmla="*/ 528 h 719"/>
              <a:gd name="T38" fmla="*/ 171 w 719"/>
              <a:gd name="T39" fmla="*/ 279 h 719"/>
              <a:gd name="T40" fmla="*/ 164 w 719"/>
              <a:gd name="T41" fmla="*/ 282 h 719"/>
              <a:gd name="T42" fmla="*/ 155 w 719"/>
              <a:gd name="T43" fmla="*/ 279 h 719"/>
              <a:gd name="T44" fmla="*/ 92 w 719"/>
              <a:gd name="T45" fmla="*/ 214 h 719"/>
              <a:gd name="T46" fmla="*/ 92 w 719"/>
              <a:gd name="T47" fmla="*/ 205 h 719"/>
              <a:gd name="T48" fmla="*/ 98 w 719"/>
              <a:gd name="T49" fmla="*/ 198 h 719"/>
              <a:gd name="T50" fmla="*/ 107 w 719"/>
              <a:gd name="T51" fmla="*/ 198 h 719"/>
              <a:gd name="T52" fmla="*/ 164 w 719"/>
              <a:gd name="T53" fmla="*/ 253 h 719"/>
              <a:gd name="T54" fmla="*/ 309 w 719"/>
              <a:gd name="T55" fmla="*/ 109 h 719"/>
              <a:gd name="T56" fmla="*/ 318 w 719"/>
              <a:gd name="T57" fmla="*/ 109 h 719"/>
              <a:gd name="T58" fmla="*/ 325 w 719"/>
              <a:gd name="T59" fmla="*/ 114 h 719"/>
              <a:gd name="T60" fmla="*/ 325 w 719"/>
              <a:gd name="T61" fmla="*/ 124 h 719"/>
              <a:gd name="T62" fmla="*/ 323 w 719"/>
              <a:gd name="T63" fmla="*/ 414 h 719"/>
              <a:gd name="T64" fmla="*/ 168 w 719"/>
              <a:gd name="T65" fmla="*/ 568 h 719"/>
              <a:gd name="T66" fmla="*/ 158 w 719"/>
              <a:gd name="T67" fmla="*/ 568 h 719"/>
              <a:gd name="T68" fmla="*/ 94 w 719"/>
              <a:gd name="T69" fmla="*/ 505 h 719"/>
              <a:gd name="T70" fmla="*/ 91 w 719"/>
              <a:gd name="T71" fmla="*/ 497 h 719"/>
              <a:gd name="T72" fmla="*/ 94 w 719"/>
              <a:gd name="T73" fmla="*/ 488 h 719"/>
              <a:gd name="T74" fmla="*/ 103 w 719"/>
              <a:gd name="T75" fmla="*/ 485 h 719"/>
              <a:gd name="T76" fmla="*/ 111 w 719"/>
              <a:gd name="T77" fmla="*/ 488 h 719"/>
              <a:gd name="T78" fmla="*/ 306 w 719"/>
              <a:gd name="T79" fmla="*/ 397 h 719"/>
              <a:gd name="T80" fmla="*/ 314 w 719"/>
              <a:gd name="T81" fmla="*/ 394 h 719"/>
              <a:gd name="T82" fmla="*/ 323 w 719"/>
              <a:gd name="T83" fmla="*/ 398 h 719"/>
              <a:gd name="T84" fmla="*/ 326 w 719"/>
              <a:gd name="T85" fmla="*/ 406 h 719"/>
              <a:gd name="T86" fmla="*/ 323 w 719"/>
              <a:gd name="T87" fmla="*/ 414 h 719"/>
              <a:gd name="T88" fmla="*/ 12 w 719"/>
              <a:gd name="T89" fmla="*/ 0 h 719"/>
              <a:gd name="T90" fmla="*/ 3 w 719"/>
              <a:gd name="T91" fmla="*/ 5 h 719"/>
              <a:gd name="T92" fmla="*/ 0 w 719"/>
              <a:gd name="T93" fmla="*/ 13 h 719"/>
              <a:gd name="T94" fmla="*/ 1 w 719"/>
              <a:gd name="T95" fmla="*/ 713 h 719"/>
              <a:gd name="T96" fmla="*/ 8 w 719"/>
              <a:gd name="T97" fmla="*/ 719 h 719"/>
              <a:gd name="T98" fmla="*/ 707 w 719"/>
              <a:gd name="T99" fmla="*/ 719 h 719"/>
              <a:gd name="T100" fmla="*/ 716 w 719"/>
              <a:gd name="T101" fmla="*/ 716 h 719"/>
              <a:gd name="T102" fmla="*/ 719 w 719"/>
              <a:gd name="T103" fmla="*/ 707 h 719"/>
              <a:gd name="T104" fmla="*/ 718 w 719"/>
              <a:gd name="T105" fmla="*/ 8 h 719"/>
              <a:gd name="T106" fmla="*/ 711 w 719"/>
              <a:gd name="T107" fmla="*/ 2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719" h="719">
                <a:moveTo>
                  <a:pt x="616" y="267"/>
                </a:moveTo>
                <a:lnTo>
                  <a:pt x="374" y="267"/>
                </a:lnTo>
                <a:lnTo>
                  <a:pt x="370" y="265"/>
                </a:lnTo>
                <a:lnTo>
                  <a:pt x="366" y="263"/>
                </a:lnTo>
                <a:lnTo>
                  <a:pt x="363" y="260"/>
                </a:lnTo>
                <a:lnTo>
                  <a:pt x="362" y="254"/>
                </a:lnTo>
                <a:lnTo>
                  <a:pt x="363" y="250"/>
                </a:lnTo>
                <a:lnTo>
                  <a:pt x="366" y="247"/>
                </a:lnTo>
                <a:lnTo>
                  <a:pt x="370" y="244"/>
                </a:lnTo>
                <a:lnTo>
                  <a:pt x="374" y="243"/>
                </a:lnTo>
                <a:lnTo>
                  <a:pt x="616" y="243"/>
                </a:lnTo>
                <a:lnTo>
                  <a:pt x="621" y="244"/>
                </a:lnTo>
                <a:lnTo>
                  <a:pt x="625" y="247"/>
                </a:lnTo>
                <a:lnTo>
                  <a:pt x="627" y="250"/>
                </a:lnTo>
                <a:lnTo>
                  <a:pt x="628" y="254"/>
                </a:lnTo>
                <a:lnTo>
                  <a:pt x="627" y="260"/>
                </a:lnTo>
                <a:lnTo>
                  <a:pt x="625" y="263"/>
                </a:lnTo>
                <a:lnTo>
                  <a:pt x="621" y="265"/>
                </a:lnTo>
                <a:lnTo>
                  <a:pt x="616" y="267"/>
                </a:lnTo>
                <a:close/>
                <a:moveTo>
                  <a:pt x="616" y="528"/>
                </a:moveTo>
                <a:lnTo>
                  <a:pt x="374" y="528"/>
                </a:lnTo>
                <a:lnTo>
                  <a:pt x="370" y="527"/>
                </a:lnTo>
                <a:lnTo>
                  <a:pt x="366" y="525"/>
                </a:lnTo>
                <a:lnTo>
                  <a:pt x="363" y="521"/>
                </a:lnTo>
                <a:lnTo>
                  <a:pt x="362" y="516"/>
                </a:lnTo>
                <a:lnTo>
                  <a:pt x="363" y="512"/>
                </a:lnTo>
                <a:lnTo>
                  <a:pt x="366" y="507"/>
                </a:lnTo>
                <a:lnTo>
                  <a:pt x="370" y="505"/>
                </a:lnTo>
                <a:lnTo>
                  <a:pt x="374" y="504"/>
                </a:lnTo>
                <a:lnTo>
                  <a:pt x="616" y="504"/>
                </a:lnTo>
                <a:lnTo>
                  <a:pt x="621" y="505"/>
                </a:lnTo>
                <a:lnTo>
                  <a:pt x="625" y="507"/>
                </a:lnTo>
                <a:lnTo>
                  <a:pt x="627" y="512"/>
                </a:lnTo>
                <a:lnTo>
                  <a:pt x="628" y="516"/>
                </a:lnTo>
                <a:lnTo>
                  <a:pt x="627" y="521"/>
                </a:lnTo>
                <a:lnTo>
                  <a:pt x="625" y="525"/>
                </a:lnTo>
                <a:lnTo>
                  <a:pt x="621" y="527"/>
                </a:lnTo>
                <a:lnTo>
                  <a:pt x="616" y="528"/>
                </a:lnTo>
                <a:close/>
                <a:moveTo>
                  <a:pt x="323" y="127"/>
                </a:moveTo>
                <a:lnTo>
                  <a:pt x="171" y="279"/>
                </a:lnTo>
                <a:lnTo>
                  <a:pt x="168" y="282"/>
                </a:lnTo>
                <a:lnTo>
                  <a:pt x="164" y="282"/>
                </a:lnTo>
                <a:lnTo>
                  <a:pt x="158" y="282"/>
                </a:lnTo>
                <a:lnTo>
                  <a:pt x="155" y="279"/>
                </a:lnTo>
                <a:lnTo>
                  <a:pt x="94" y="218"/>
                </a:lnTo>
                <a:lnTo>
                  <a:pt x="92" y="214"/>
                </a:lnTo>
                <a:lnTo>
                  <a:pt x="91" y="209"/>
                </a:lnTo>
                <a:lnTo>
                  <a:pt x="92" y="205"/>
                </a:lnTo>
                <a:lnTo>
                  <a:pt x="94" y="201"/>
                </a:lnTo>
                <a:lnTo>
                  <a:pt x="98" y="198"/>
                </a:lnTo>
                <a:lnTo>
                  <a:pt x="103" y="197"/>
                </a:lnTo>
                <a:lnTo>
                  <a:pt x="107" y="198"/>
                </a:lnTo>
                <a:lnTo>
                  <a:pt x="111" y="201"/>
                </a:lnTo>
                <a:lnTo>
                  <a:pt x="164" y="253"/>
                </a:lnTo>
                <a:lnTo>
                  <a:pt x="306" y="111"/>
                </a:lnTo>
                <a:lnTo>
                  <a:pt x="309" y="109"/>
                </a:lnTo>
                <a:lnTo>
                  <a:pt x="314" y="108"/>
                </a:lnTo>
                <a:lnTo>
                  <a:pt x="318" y="109"/>
                </a:lnTo>
                <a:lnTo>
                  <a:pt x="323" y="111"/>
                </a:lnTo>
                <a:lnTo>
                  <a:pt x="325" y="114"/>
                </a:lnTo>
                <a:lnTo>
                  <a:pt x="326" y="119"/>
                </a:lnTo>
                <a:lnTo>
                  <a:pt x="325" y="124"/>
                </a:lnTo>
                <a:lnTo>
                  <a:pt x="323" y="127"/>
                </a:lnTo>
                <a:close/>
                <a:moveTo>
                  <a:pt x="323" y="414"/>
                </a:moveTo>
                <a:lnTo>
                  <a:pt x="171" y="565"/>
                </a:lnTo>
                <a:lnTo>
                  <a:pt x="168" y="568"/>
                </a:lnTo>
                <a:lnTo>
                  <a:pt x="164" y="569"/>
                </a:lnTo>
                <a:lnTo>
                  <a:pt x="158" y="568"/>
                </a:lnTo>
                <a:lnTo>
                  <a:pt x="155" y="565"/>
                </a:lnTo>
                <a:lnTo>
                  <a:pt x="94" y="505"/>
                </a:lnTo>
                <a:lnTo>
                  <a:pt x="92" y="502"/>
                </a:lnTo>
                <a:lnTo>
                  <a:pt x="91" y="497"/>
                </a:lnTo>
                <a:lnTo>
                  <a:pt x="92" y="493"/>
                </a:lnTo>
                <a:lnTo>
                  <a:pt x="94" y="488"/>
                </a:lnTo>
                <a:lnTo>
                  <a:pt x="98" y="486"/>
                </a:lnTo>
                <a:lnTo>
                  <a:pt x="103" y="485"/>
                </a:lnTo>
                <a:lnTo>
                  <a:pt x="107" y="486"/>
                </a:lnTo>
                <a:lnTo>
                  <a:pt x="111" y="488"/>
                </a:lnTo>
                <a:lnTo>
                  <a:pt x="164" y="540"/>
                </a:lnTo>
                <a:lnTo>
                  <a:pt x="306" y="397"/>
                </a:lnTo>
                <a:lnTo>
                  <a:pt x="309" y="395"/>
                </a:lnTo>
                <a:lnTo>
                  <a:pt x="314" y="394"/>
                </a:lnTo>
                <a:lnTo>
                  <a:pt x="318" y="395"/>
                </a:lnTo>
                <a:lnTo>
                  <a:pt x="323" y="398"/>
                </a:lnTo>
                <a:lnTo>
                  <a:pt x="325" y="401"/>
                </a:lnTo>
                <a:lnTo>
                  <a:pt x="326" y="406"/>
                </a:lnTo>
                <a:lnTo>
                  <a:pt x="325" y="410"/>
                </a:lnTo>
                <a:lnTo>
                  <a:pt x="323" y="414"/>
                </a:lnTo>
                <a:close/>
                <a:moveTo>
                  <a:pt x="707" y="0"/>
                </a:moveTo>
                <a:lnTo>
                  <a:pt x="12" y="0"/>
                </a:lnTo>
                <a:lnTo>
                  <a:pt x="8" y="2"/>
                </a:lnTo>
                <a:lnTo>
                  <a:pt x="3" y="5"/>
                </a:lnTo>
                <a:lnTo>
                  <a:pt x="1" y="8"/>
                </a:lnTo>
                <a:lnTo>
                  <a:pt x="0" y="13"/>
                </a:lnTo>
                <a:lnTo>
                  <a:pt x="0" y="707"/>
                </a:lnTo>
                <a:lnTo>
                  <a:pt x="1" y="713"/>
                </a:lnTo>
                <a:lnTo>
                  <a:pt x="3" y="716"/>
                </a:lnTo>
                <a:lnTo>
                  <a:pt x="8" y="719"/>
                </a:lnTo>
                <a:lnTo>
                  <a:pt x="12" y="719"/>
                </a:lnTo>
                <a:lnTo>
                  <a:pt x="707" y="719"/>
                </a:lnTo>
                <a:lnTo>
                  <a:pt x="711" y="719"/>
                </a:lnTo>
                <a:lnTo>
                  <a:pt x="716" y="716"/>
                </a:lnTo>
                <a:lnTo>
                  <a:pt x="718" y="713"/>
                </a:lnTo>
                <a:lnTo>
                  <a:pt x="719" y="707"/>
                </a:lnTo>
                <a:lnTo>
                  <a:pt x="719" y="13"/>
                </a:lnTo>
                <a:lnTo>
                  <a:pt x="718" y="8"/>
                </a:lnTo>
                <a:lnTo>
                  <a:pt x="716" y="5"/>
                </a:lnTo>
                <a:lnTo>
                  <a:pt x="711" y="2"/>
                </a:lnTo>
                <a:lnTo>
                  <a:pt x="70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877961" y="3531386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 descr="Icon of gears.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2" name="Freeform 4346" descr="Icon of box and whisker chart.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353234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3ECCC05-FF78-40FA-84FF-172821D8B5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061419" y="2756263"/>
            <a:ext cx="2068202" cy="199353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+mj-lt"/>
              </a:rPr>
              <a:t>DeltaCode PROJECT</a:t>
            </a:r>
            <a:endParaRPr lang="en-US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5" grpId="0" animBg="1"/>
      <p:bldP spid="19" grpId="0" animBg="1"/>
      <p:bldP spid="20" grpId="0" animBg="1"/>
      <p:bldP spid="21" grpId="0" animBg="1"/>
      <p:bldP spid="22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4" grpId="0" animBg="1"/>
      <p:bldP spid="35" grpId="0" animBg="1"/>
      <p:bldP spid="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43554" y="522898"/>
            <a:ext cx="3348446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265714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026434" y="522898"/>
            <a:ext cx="3165566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Project Description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1251905" y="1988337"/>
            <a:ext cx="47989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b="1" dirty="0">
              <a:latin typeface="+mj-lt"/>
            </a:endParaRPr>
          </a:p>
          <a:p>
            <a:pPr algn="ctr"/>
            <a:r>
              <a:rPr lang="en-US" sz="2400" b="1" dirty="0">
                <a:latin typeface="+mj-lt"/>
              </a:rPr>
              <a:t>“As part of Acceleron Corp.’s mission to solve intelligence, we want you to develop a system called “DeltaCode” that writes computer programs at a competitive leve</a:t>
            </a:r>
            <a:r>
              <a:rPr lang="en-US" sz="2400" dirty="0">
                <a:latin typeface="+mj-lt"/>
              </a:rPr>
              <a:t>l.” </a:t>
            </a: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803" y="1159925"/>
            <a:ext cx="5559262" cy="49214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2256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43554" y="522898"/>
            <a:ext cx="3348446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Report Methodology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265714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970115" y="2676129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3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212276" y="4059024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4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622072" y="4059024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" name="Circle: Hollow 23">
            <a:extLst>
              <a:ext uri="{FF2B5EF4-FFF2-40B4-BE49-F238E27FC236}">
                <a16:creationId xmlns:a16="http://schemas.microsoft.com/office/drawing/2014/main" id="{A838DD0B-E018-44D0-A4C0-13DF2FD0288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3507378" y="5264142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917174" y="5264142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" name="Circle: Hollow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326969" y="5264142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79" name="Group 78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5577933" y="3283545"/>
            <a:ext cx="378221" cy="380335"/>
            <a:chOff x="3171788" y="779462"/>
            <a:chExt cx="284163" cy="285751"/>
          </a:xfrm>
          <a:solidFill>
            <a:schemeClr val="accent3">
              <a:lumMod val="75000"/>
            </a:schemeClr>
          </a:solidFill>
        </p:grpSpPr>
        <p:sp>
          <p:nvSpPr>
            <p:cNvPr id="80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1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82" name="Group 81" descr="Icon of books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4836999" y="4664730"/>
            <a:ext cx="344413" cy="382447"/>
            <a:chOff x="2608263" y="1920875"/>
            <a:chExt cx="258763" cy="287338"/>
          </a:xfrm>
          <a:solidFill>
            <a:schemeClr val="accent4">
              <a:lumMod val="75000"/>
            </a:schemeClr>
          </a:solidFill>
        </p:grpSpPr>
        <p:sp>
          <p:nvSpPr>
            <p:cNvPr id="83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4" name="Freeform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5" name="Freeform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6" name="Freeform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7" name="Freeform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8" name="Freeform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9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0" name="Freeform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1" name="Freeform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2" name="Freeform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3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4" name="Freeform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5" name="Freeform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6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7" name="Freeform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8" name="Freeform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99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6228834" y="4665786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0" name="Freeform 3850" descr="Icon of lightning. ">
            <a:extLst>
              <a:ext uri="{FF2B5EF4-FFF2-40B4-BE49-F238E27FC236}">
                <a16:creationId xmlns:a16="http://schemas.microsoft.com/office/drawing/2014/main" id="{4F438411-AB3F-41D1-B7B0-3BD67465A272}"/>
              </a:ext>
            </a:extLst>
          </p:cNvPr>
          <p:cNvSpPr>
            <a:spLocks/>
          </p:cNvSpPr>
          <p:nvPr/>
        </p:nvSpPr>
        <p:spPr bwMode="auto">
          <a:xfrm>
            <a:off x="4170134" y="5870904"/>
            <a:ext cx="268346" cy="380334"/>
          </a:xfrm>
          <a:custGeom>
            <a:avLst/>
            <a:gdLst>
              <a:gd name="T0" fmla="*/ 635 w 636"/>
              <a:gd name="T1" fmla="*/ 369 h 901"/>
              <a:gd name="T2" fmla="*/ 632 w 636"/>
              <a:gd name="T3" fmla="*/ 365 h 901"/>
              <a:gd name="T4" fmla="*/ 629 w 636"/>
              <a:gd name="T5" fmla="*/ 362 h 901"/>
              <a:gd name="T6" fmla="*/ 625 w 636"/>
              <a:gd name="T7" fmla="*/ 360 h 901"/>
              <a:gd name="T8" fmla="*/ 621 w 636"/>
              <a:gd name="T9" fmla="*/ 360 h 901"/>
              <a:gd name="T10" fmla="*/ 337 w 636"/>
              <a:gd name="T11" fmla="*/ 360 h 901"/>
              <a:gd name="T12" fmla="*/ 409 w 636"/>
              <a:gd name="T13" fmla="*/ 17 h 901"/>
              <a:gd name="T14" fmla="*/ 409 w 636"/>
              <a:gd name="T15" fmla="*/ 13 h 901"/>
              <a:gd name="T16" fmla="*/ 408 w 636"/>
              <a:gd name="T17" fmla="*/ 7 h 901"/>
              <a:gd name="T18" fmla="*/ 405 w 636"/>
              <a:gd name="T19" fmla="*/ 3 h 901"/>
              <a:gd name="T20" fmla="*/ 400 w 636"/>
              <a:gd name="T21" fmla="*/ 1 h 901"/>
              <a:gd name="T22" fmla="*/ 395 w 636"/>
              <a:gd name="T23" fmla="*/ 0 h 901"/>
              <a:gd name="T24" fmla="*/ 390 w 636"/>
              <a:gd name="T25" fmla="*/ 0 h 901"/>
              <a:gd name="T26" fmla="*/ 385 w 636"/>
              <a:gd name="T27" fmla="*/ 2 h 901"/>
              <a:gd name="T28" fmla="*/ 382 w 636"/>
              <a:gd name="T29" fmla="*/ 6 h 901"/>
              <a:gd name="T30" fmla="*/ 2 w 636"/>
              <a:gd name="T31" fmla="*/ 547 h 901"/>
              <a:gd name="T32" fmla="*/ 1 w 636"/>
              <a:gd name="T33" fmla="*/ 550 h 901"/>
              <a:gd name="T34" fmla="*/ 0 w 636"/>
              <a:gd name="T35" fmla="*/ 554 h 901"/>
              <a:gd name="T36" fmla="*/ 0 w 636"/>
              <a:gd name="T37" fmla="*/ 559 h 901"/>
              <a:gd name="T38" fmla="*/ 1 w 636"/>
              <a:gd name="T39" fmla="*/ 562 h 901"/>
              <a:gd name="T40" fmla="*/ 4 w 636"/>
              <a:gd name="T41" fmla="*/ 566 h 901"/>
              <a:gd name="T42" fmla="*/ 8 w 636"/>
              <a:gd name="T43" fmla="*/ 568 h 901"/>
              <a:gd name="T44" fmla="*/ 11 w 636"/>
              <a:gd name="T45" fmla="*/ 569 h 901"/>
              <a:gd name="T46" fmla="*/ 15 w 636"/>
              <a:gd name="T47" fmla="*/ 570 h 901"/>
              <a:gd name="T48" fmla="*/ 299 w 636"/>
              <a:gd name="T49" fmla="*/ 570 h 901"/>
              <a:gd name="T50" fmla="*/ 228 w 636"/>
              <a:gd name="T51" fmla="*/ 882 h 901"/>
              <a:gd name="T52" fmla="*/ 228 w 636"/>
              <a:gd name="T53" fmla="*/ 888 h 901"/>
              <a:gd name="T54" fmla="*/ 229 w 636"/>
              <a:gd name="T55" fmla="*/ 892 h 901"/>
              <a:gd name="T56" fmla="*/ 232 w 636"/>
              <a:gd name="T57" fmla="*/ 896 h 901"/>
              <a:gd name="T58" fmla="*/ 236 w 636"/>
              <a:gd name="T59" fmla="*/ 900 h 901"/>
              <a:gd name="T60" fmla="*/ 239 w 636"/>
              <a:gd name="T61" fmla="*/ 901 h 901"/>
              <a:gd name="T62" fmla="*/ 243 w 636"/>
              <a:gd name="T63" fmla="*/ 901 h 901"/>
              <a:gd name="T64" fmla="*/ 246 w 636"/>
              <a:gd name="T65" fmla="*/ 901 h 901"/>
              <a:gd name="T66" fmla="*/ 249 w 636"/>
              <a:gd name="T67" fmla="*/ 900 h 901"/>
              <a:gd name="T68" fmla="*/ 252 w 636"/>
              <a:gd name="T69" fmla="*/ 897 h 901"/>
              <a:gd name="T70" fmla="*/ 254 w 636"/>
              <a:gd name="T71" fmla="*/ 895 h 901"/>
              <a:gd name="T72" fmla="*/ 633 w 636"/>
              <a:gd name="T73" fmla="*/ 384 h 901"/>
              <a:gd name="T74" fmla="*/ 635 w 636"/>
              <a:gd name="T75" fmla="*/ 381 h 901"/>
              <a:gd name="T76" fmla="*/ 636 w 636"/>
              <a:gd name="T77" fmla="*/ 376 h 901"/>
              <a:gd name="T78" fmla="*/ 636 w 636"/>
              <a:gd name="T79" fmla="*/ 372 h 901"/>
              <a:gd name="T80" fmla="*/ 635 w 636"/>
              <a:gd name="T81" fmla="*/ 369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636" h="901">
                <a:moveTo>
                  <a:pt x="635" y="369"/>
                </a:moveTo>
                <a:lnTo>
                  <a:pt x="632" y="365"/>
                </a:lnTo>
                <a:lnTo>
                  <a:pt x="629" y="362"/>
                </a:lnTo>
                <a:lnTo>
                  <a:pt x="625" y="360"/>
                </a:lnTo>
                <a:lnTo>
                  <a:pt x="621" y="360"/>
                </a:lnTo>
                <a:lnTo>
                  <a:pt x="337" y="360"/>
                </a:lnTo>
                <a:lnTo>
                  <a:pt x="409" y="17"/>
                </a:lnTo>
                <a:lnTo>
                  <a:pt x="409" y="13"/>
                </a:lnTo>
                <a:lnTo>
                  <a:pt x="408" y="7"/>
                </a:lnTo>
                <a:lnTo>
                  <a:pt x="405" y="3"/>
                </a:lnTo>
                <a:lnTo>
                  <a:pt x="400" y="1"/>
                </a:lnTo>
                <a:lnTo>
                  <a:pt x="395" y="0"/>
                </a:lnTo>
                <a:lnTo>
                  <a:pt x="390" y="0"/>
                </a:lnTo>
                <a:lnTo>
                  <a:pt x="385" y="2"/>
                </a:lnTo>
                <a:lnTo>
                  <a:pt x="382" y="6"/>
                </a:lnTo>
                <a:lnTo>
                  <a:pt x="2" y="547"/>
                </a:lnTo>
                <a:lnTo>
                  <a:pt x="1" y="550"/>
                </a:lnTo>
                <a:lnTo>
                  <a:pt x="0" y="554"/>
                </a:lnTo>
                <a:lnTo>
                  <a:pt x="0" y="559"/>
                </a:lnTo>
                <a:lnTo>
                  <a:pt x="1" y="562"/>
                </a:lnTo>
                <a:lnTo>
                  <a:pt x="4" y="566"/>
                </a:lnTo>
                <a:lnTo>
                  <a:pt x="8" y="568"/>
                </a:lnTo>
                <a:lnTo>
                  <a:pt x="11" y="569"/>
                </a:lnTo>
                <a:lnTo>
                  <a:pt x="15" y="570"/>
                </a:lnTo>
                <a:lnTo>
                  <a:pt x="299" y="570"/>
                </a:lnTo>
                <a:lnTo>
                  <a:pt x="228" y="882"/>
                </a:lnTo>
                <a:lnTo>
                  <a:pt x="228" y="888"/>
                </a:lnTo>
                <a:lnTo>
                  <a:pt x="229" y="892"/>
                </a:lnTo>
                <a:lnTo>
                  <a:pt x="232" y="896"/>
                </a:lnTo>
                <a:lnTo>
                  <a:pt x="236" y="900"/>
                </a:lnTo>
                <a:lnTo>
                  <a:pt x="239" y="901"/>
                </a:lnTo>
                <a:lnTo>
                  <a:pt x="243" y="901"/>
                </a:lnTo>
                <a:lnTo>
                  <a:pt x="246" y="901"/>
                </a:lnTo>
                <a:lnTo>
                  <a:pt x="249" y="900"/>
                </a:lnTo>
                <a:lnTo>
                  <a:pt x="252" y="897"/>
                </a:lnTo>
                <a:lnTo>
                  <a:pt x="254" y="895"/>
                </a:lnTo>
                <a:lnTo>
                  <a:pt x="633" y="384"/>
                </a:lnTo>
                <a:lnTo>
                  <a:pt x="635" y="381"/>
                </a:lnTo>
                <a:lnTo>
                  <a:pt x="636" y="376"/>
                </a:lnTo>
                <a:lnTo>
                  <a:pt x="636" y="372"/>
                </a:lnTo>
                <a:lnTo>
                  <a:pt x="635" y="369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1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5522880" y="5870904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02" name="Group 101" descr="Icon of computer monitors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6932675" y="5869848"/>
            <a:ext cx="382447" cy="382446"/>
            <a:chOff x="879475" y="5100638"/>
            <a:chExt cx="287338" cy="287337"/>
          </a:xfrm>
          <a:solidFill>
            <a:schemeClr val="accent4">
              <a:lumMod val="75000"/>
            </a:schemeClr>
          </a:solidFill>
        </p:grpSpPr>
        <p:sp>
          <p:nvSpPr>
            <p:cNvPr id="103" name="Freeform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4" name="Freeform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5" name="Freeform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6" name="Freeform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7" name="Freeform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1803886" y="1308452"/>
            <a:ext cx="8849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2400" b="1" dirty="0">
                <a:latin typeface="+mj-lt"/>
              </a:rPr>
              <a:t>This report strictly adhere to the methodology instructed through the example 3.11 and chapter 3  of “Introduction to software project management” by Adolfo Villafiorita.</a:t>
            </a:r>
            <a:endParaRPr lang="en-US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2214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43554" y="522898"/>
            <a:ext cx="3348446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Report Methodology</a:t>
            </a:r>
            <a:r>
              <a:rPr lang="en-US" sz="2800" dirty="0">
                <a:solidFill>
                  <a:schemeClr val="accent5"/>
                </a:solidFill>
              </a:rPr>
              <a:t/>
            </a:r>
            <a:br>
              <a:rPr lang="en-US" sz="2800" dirty="0">
                <a:solidFill>
                  <a:schemeClr val="accent5"/>
                </a:solidFill>
              </a:rPr>
            </a:br>
            <a:endParaRPr lang="en-US" sz="2800" dirty="0">
              <a:solidFill>
                <a:schemeClr val="accent5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265714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rapezoid 42">
            <a:extLst>
              <a:ext uri="{FF2B5EF4-FFF2-40B4-BE49-F238E27FC236}">
                <a16:creationId xmlns:a16="http://schemas.microsoft.com/office/drawing/2014/main" id="{0092C447-C8E1-4B12-B012-E6D21CBB1FB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406407" y="2415176"/>
            <a:ext cx="5049434" cy="2712818"/>
          </a:xfrm>
          <a:prstGeom prst="trapezoid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rapezoid 43">
            <a:extLst>
              <a:ext uri="{FF2B5EF4-FFF2-40B4-BE49-F238E27FC236}">
                <a16:creationId xmlns:a16="http://schemas.microsoft.com/office/drawing/2014/main" id="{7E139379-1914-4446-8D6D-984A47041A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343471" y="2461042"/>
            <a:ext cx="5049437" cy="2621081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rapezoid 44">
            <a:extLst>
              <a:ext uri="{FF2B5EF4-FFF2-40B4-BE49-F238E27FC236}">
                <a16:creationId xmlns:a16="http://schemas.microsoft.com/office/drawing/2014/main" id="{F79B51BB-1B30-4ED8-B26D-21EE8BC675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099732" y="2408789"/>
            <a:ext cx="5049439" cy="2725587"/>
          </a:xfrm>
          <a:prstGeom prst="trapezoid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rapezoid 45">
            <a:extLst>
              <a:ext uri="{FF2B5EF4-FFF2-40B4-BE49-F238E27FC236}">
                <a16:creationId xmlns:a16="http://schemas.microsoft.com/office/drawing/2014/main" id="{89DA262E-0502-4E65-8ABA-E063880EAC4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774099" y="2551450"/>
            <a:ext cx="5049438" cy="244026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751D31D-3535-411D-8BAC-95CCC90AB185}"/>
              </a:ext>
            </a:extLst>
          </p:cNvPr>
          <p:cNvSpPr/>
          <p:nvPr/>
        </p:nvSpPr>
        <p:spPr>
          <a:xfrm>
            <a:off x="1132209" y="2620177"/>
            <a:ext cx="1819792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Initiating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A4D735A-8F75-4E2A-8F1A-CC303B0718BA}"/>
              </a:ext>
            </a:extLst>
          </p:cNvPr>
          <p:cNvSpPr/>
          <p:nvPr/>
        </p:nvSpPr>
        <p:spPr>
          <a:xfrm>
            <a:off x="3720043" y="2620178"/>
            <a:ext cx="2160043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Building a Plan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4AB9282-0505-49EB-AABF-998083225E3A}"/>
              </a:ext>
            </a:extLst>
          </p:cNvPr>
          <p:cNvSpPr/>
          <p:nvPr/>
        </p:nvSpPr>
        <p:spPr>
          <a:xfrm>
            <a:off x="6399838" y="2665990"/>
            <a:ext cx="2335491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Creating a Budget for the Project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68C4B5-BCEC-465A-ADA5-6A054B15F7A3}"/>
              </a:ext>
            </a:extLst>
          </p:cNvPr>
          <p:cNvSpPr/>
          <p:nvPr/>
        </p:nvSpPr>
        <p:spPr>
          <a:xfrm>
            <a:off x="9218090" y="2432863"/>
            <a:ext cx="2223277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Changing the plan to meet external Deadline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8534162-B6E2-4579-9DAD-AD8DE07459BC}"/>
              </a:ext>
            </a:extLst>
          </p:cNvPr>
          <p:cNvSpPr/>
          <p:nvPr/>
        </p:nvSpPr>
        <p:spPr>
          <a:xfrm>
            <a:off x="879831" y="3223462"/>
            <a:ext cx="2324549" cy="24365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b="1" dirty="0">
                <a:solidFill>
                  <a:schemeClr val="bg1"/>
                </a:solidFill>
                <a:cs typeface="Segoe UI" panose="020B0502040204020203" pitchFamily="34" charset="0"/>
              </a:rPr>
              <a:t>Title</a:t>
            </a:r>
          </a:p>
          <a:p>
            <a:pPr algn="ctr">
              <a:lnSpc>
                <a:spcPts val="1900"/>
              </a:lnSpc>
            </a:pPr>
            <a:endParaRPr lang="en-US" sz="1400" b="1" dirty="0">
              <a:solidFill>
                <a:schemeClr val="bg1"/>
              </a:solidFill>
              <a:cs typeface="Segoe UI" panose="020B0502040204020203" pitchFamily="34" charset="0"/>
            </a:endParaRPr>
          </a:p>
          <a:p>
            <a:pPr algn="ctr">
              <a:lnSpc>
                <a:spcPts val="1900"/>
              </a:lnSpc>
            </a:pPr>
            <a:r>
              <a:rPr lang="en-US" sz="1400" b="1" dirty="0">
                <a:solidFill>
                  <a:schemeClr val="bg1"/>
                </a:solidFill>
                <a:cs typeface="Segoe UI" panose="020B0502040204020203" pitchFamily="34" charset="0"/>
              </a:rPr>
              <a:t>Scope Document</a:t>
            </a:r>
          </a:p>
          <a:p>
            <a:pPr algn="ctr">
              <a:lnSpc>
                <a:spcPts val="1900"/>
              </a:lnSpc>
            </a:pPr>
            <a:endParaRPr lang="en-US" sz="1400" b="1" dirty="0">
              <a:solidFill>
                <a:schemeClr val="bg1"/>
              </a:solidFill>
              <a:cs typeface="Segoe UI" panose="020B0502040204020203" pitchFamily="34" charset="0"/>
            </a:endParaRPr>
          </a:p>
          <a:p>
            <a:pPr algn="ctr">
              <a:lnSpc>
                <a:spcPts val="1900"/>
              </a:lnSpc>
            </a:pPr>
            <a:endParaRPr lang="en-US" sz="1400" b="1" dirty="0">
              <a:solidFill>
                <a:schemeClr val="bg1"/>
              </a:solidFill>
              <a:cs typeface="Segoe UI" panose="020B0502040204020203" pitchFamily="34" charset="0"/>
            </a:endParaRPr>
          </a:p>
          <a:p>
            <a:pPr algn="ctr">
              <a:lnSpc>
                <a:spcPts val="1900"/>
              </a:lnSpc>
            </a:pPr>
            <a:r>
              <a:rPr lang="en-US" sz="1400" b="1" dirty="0">
                <a:solidFill>
                  <a:schemeClr val="bg1"/>
                </a:solidFill>
                <a:cs typeface="Segoe UI" panose="020B0502040204020203" pitchFamily="34" charset="0"/>
              </a:rPr>
              <a:t>Identify Team Requirements</a:t>
            </a:r>
          </a:p>
          <a:p>
            <a:pPr algn="ctr">
              <a:lnSpc>
                <a:spcPts val="1900"/>
              </a:lnSpc>
            </a:pPr>
            <a:endParaRPr lang="en-US" sz="1400" b="1" dirty="0">
              <a:solidFill>
                <a:schemeClr val="bg1"/>
              </a:solidFill>
              <a:cs typeface="Segoe UI" panose="020B0502040204020203" pitchFamily="34" charset="0"/>
            </a:endParaRPr>
          </a:p>
          <a:p>
            <a:pPr algn="ctr">
              <a:lnSpc>
                <a:spcPts val="1900"/>
              </a:lnSpc>
            </a:pPr>
            <a:endParaRPr lang="en-US" sz="1400" b="1" dirty="0">
              <a:solidFill>
                <a:schemeClr val="bg1"/>
              </a:solidFill>
              <a:cs typeface="Segoe UI" panose="020B0502040204020203" pitchFamily="34" charset="0"/>
            </a:endParaRPr>
          </a:p>
          <a:p>
            <a:pPr algn="ctr">
              <a:lnSpc>
                <a:spcPts val="1900"/>
              </a:lnSpc>
            </a:pPr>
            <a:r>
              <a:rPr lang="en-US" sz="1400" b="1" dirty="0">
                <a:solidFill>
                  <a:schemeClr val="bg1"/>
                </a:solidFill>
                <a:cs typeface="Segoe UI" panose="020B0502040204020203" pitchFamily="34" charset="0"/>
              </a:rPr>
              <a:t>Obtain Authorization</a:t>
            </a:r>
          </a:p>
          <a:p>
            <a:pPr algn="ctr">
              <a:lnSpc>
                <a:spcPts val="1900"/>
              </a:lnSpc>
            </a:pPr>
            <a:endParaRPr lang="en-US" sz="1400" dirty="0">
              <a:solidFill>
                <a:schemeClr val="bg1"/>
              </a:solidFill>
              <a:cs typeface="Segoe UI" panose="020B05020402040202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1535E1C-6EBC-45D8-BCE1-D5B947A61FB6}"/>
              </a:ext>
            </a:extLst>
          </p:cNvPr>
          <p:cNvSpPr/>
          <p:nvPr/>
        </p:nvSpPr>
        <p:spPr>
          <a:xfrm>
            <a:off x="3662584" y="3238351"/>
            <a:ext cx="2245942" cy="194925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endParaRPr lang="en-US" sz="1400" b="1" dirty="0" smtClean="0">
              <a:solidFill>
                <a:schemeClr val="bg1"/>
              </a:solidFill>
              <a:cs typeface="Segoe UI" panose="020B0502040204020203" pitchFamily="34" charset="0"/>
            </a:endParaRPr>
          </a:p>
          <a:p>
            <a:pPr algn="ctr">
              <a:lnSpc>
                <a:spcPts val="1900"/>
              </a:lnSpc>
            </a:pPr>
            <a:r>
              <a:rPr lang="en-US" sz="1400" b="1" dirty="0" smtClean="0">
                <a:solidFill>
                  <a:schemeClr val="bg1"/>
                </a:solidFill>
                <a:cs typeface="Segoe UI" panose="020B0502040204020203" pitchFamily="34" charset="0"/>
              </a:rPr>
              <a:t>Development </a:t>
            </a:r>
            <a:r>
              <a:rPr lang="en-US" sz="1400" b="1" dirty="0">
                <a:solidFill>
                  <a:schemeClr val="bg1"/>
                </a:solidFill>
                <a:cs typeface="Segoe UI" panose="020B0502040204020203" pitchFamily="34" charset="0"/>
              </a:rPr>
              <a:t>Model</a:t>
            </a:r>
          </a:p>
          <a:p>
            <a:pPr algn="ctr">
              <a:lnSpc>
                <a:spcPts val="1900"/>
              </a:lnSpc>
            </a:pPr>
            <a:endParaRPr lang="en-US" sz="1400" b="1" dirty="0">
              <a:solidFill>
                <a:schemeClr val="bg1"/>
              </a:solidFill>
              <a:cs typeface="Segoe UI" panose="020B0502040204020203" pitchFamily="34" charset="0"/>
            </a:endParaRPr>
          </a:p>
          <a:p>
            <a:pPr algn="ctr">
              <a:lnSpc>
                <a:spcPts val="1900"/>
              </a:lnSpc>
            </a:pPr>
            <a:r>
              <a:rPr lang="en-US" sz="1400" b="1" dirty="0">
                <a:solidFill>
                  <a:schemeClr val="bg1"/>
                </a:solidFill>
                <a:cs typeface="Segoe UI" panose="020B0502040204020203" pitchFamily="34" charset="0"/>
              </a:rPr>
              <a:t>Gant Chart</a:t>
            </a:r>
          </a:p>
          <a:p>
            <a:pPr algn="ctr">
              <a:lnSpc>
                <a:spcPts val="1900"/>
              </a:lnSpc>
            </a:pPr>
            <a:endParaRPr lang="en-US" sz="1400" b="1" dirty="0">
              <a:solidFill>
                <a:schemeClr val="bg1"/>
              </a:solidFill>
              <a:cs typeface="Segoe UI" panose="020B0502040204020203" pitchFamily="34" charset="0"/>
            </a:endParaRPr>
          </a:p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en-US" sz="1400" b="1" dirty="0">
                <a:solidFill>
                  <a:schemeClr val="bg1"/>
                </a:solidFill>
                <a:cs typeface="Segoe UI" panose="020B0502040204020203" pitchFamily="34" charset="0"/>
              </a:rPr>
              <a:t>Deliverables from the Client</a:t>
            </a:r>
          </a:p>
          <a:p>
            <a:pPr algn="ctr">
              <a:lnSpc>
                <a:spcPts val="1900"/>
              </a:lnSpc>
            </a:pPr>
            <a:endParaRPr lang="en-US" sz="1400" b="1" dirty="0">
              <a:solidFill>
                <a:schemeClr val="bg1"/>
              </a:solidFill>
              <a:cs typeface="Segoe UI" panose="020B0502040204020203" pitchFamily="34" charset="0"/>
            </a:endParaRPr>
          </a:p>
          <a:p>
            <a:pPr algn="ctr">
              <a:lnSpc>
                <a:spcPts val="1900"/>
              </a:lnSpc>
            </a:pPr>
            <a:endParaRPr lang="en-US" sz="1400" b="1" dirty="0">
              <a:solidFill>
                <a:schemeClr val="bg1"/>
              </a:solidFill>
              <a:cs typeface="Segoe UI" panose="020B050204020402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FF18A5-7B4E-4493-B38D-E732E033F82F}"/>
              </a:ext>
            </a:extLst>
          </p:cNvPr>
          <p:cNvSpPr/>
          <p:nvPr/>
        </p:nvSpPr>
        <p:spPr>
          <a:xfrm>
            <a:off x="6406882" y="3354766"/>
            <a:ext cx="2335491" cy="17055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endParaRPr lang="en-US" sz="1400" b="1" dirty="0">
              <a:solidFill>
                <a:schemeClr val="bg1"/>
              </a:solidFill>
              <a:cs typeface="Segoe UI" panose="020B0502040204020203" pitchFamily="34" charset="0"/>
            </a:endParaRPr>
          </a:p>
          <a:p>
            <a:pPr algn="ctr">
              <a:lnSpc>
                <a:spcPts val="1900"/>
              </a:lnSpc>
            </a:pPr>
            <a:endParaRPr lang="en-US" sz="1400" b="1" dirty="0">
              <a:solidFill>
                <a:schemeClr val="bg1"/>
              </a:solidFill>
              <a:cs typeface="Segoe UI" panose="020B0502040204020203" pitchFamily="34" charset="0"/>
            </a:endParaRPr>
          </a:p>
          <a:p>
            <a:pPr algn="ctr">
              <a:lnSpc>
                <a:spcPts val="1900"/>
              </a:lnSpc>
            </a:pPr>
            <a:r>
              <a:rPr lang="en-US" sz="1400" b="1" dirty="0">
                <a:solidFill>
                  <a:schemeClr val="bg1"/>
                </a:solidFill>
                <a:cs typeface="Segoe UI" panose="020B0502040204020203" pitchFamily="34" charset="0"/>
              </a:rPr>
              <a:t>Cost of Resources</a:t>
            </a:r>
          </a:p>
          <a:p>
            <a:pPr algn="ctr">
              <a:lnSpc>
                <a:spcPts val="1900"/>
              </a:lnSpc>
            </a:pPr>
            <a:endParaRPr lang="en-US" sz="1400" b="1" dirty="0">
              <a:solidFill>
                <a:schemeClr val="bg1"/>
              </a:solidFill>
              <a:cs typeface="Segoe UI" panose="020B0502040204020203" pitchFamily="34" charset="0"/>
            </a:endParaRPr>
          </a:p>
          <a:p>
            <a:pPr algn="ctr">
              <a:lnSpc>
                <a:spcPts val="1900"/>
              </a:lnSpc>
            </a:pPr>
            <a:endParaRPr lang="en-US" sz="1400" b="1" dirty="0">
              <a:solidFill>
                <a:schemeClr val="bg1"/>
              </a:solidFill>
              <a:cs typeface="Segoe UI" panose="020B0502040204020203" pitchFamily="34" charset="0"/>
            </a:endParaRPr>
          </a:p>
          <a:p>
            <a:pPr algn="ctr">
              <a:lnSpc>
                <a:spcPts val="1900"/>
              </a:lnSpc>
            </a:pPr>
            <a:r>
              <a:rPr lang="en-US" sz="1400" b="1" dirty="0" smtClean="0">
                <a:solidFill>
                  <a:schemeClr val="bg1"/>
                </a:solidFill>
                <a:cs typeface="Segoe UI" panose="020B0502040204020203" pitchFamily="34" charset="0"/>
              </a:rPr>
              <a:t>Budget Estimation </a:t>
            </a:r>
            <a:r>
              <a:rPr lang="en-US" sz="1400" b="1" dirty="0">
                <a:solidFill>
                  <a:schemeClr val="bg1"/>
                </a:solidFill>
                <a:cs typeface="Segoe UI" panose="020B0502040204020203" pitchFamily="34" charset="0"/>
              </a:rPr>
              <a:t>for the Project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BCD242F-9A97-473E-8E17-3F6C3C75CE68}"/>
              </a:ext>
            </a:extLst>
          </p:cNvPr>
          <p:cNvSpPr/>
          <p:nvPr/>
        </p:nvSpPr>
        <p:spPr>
          <a:xfrm>
            <a:off x="9163679" y="3544216"/>
            <a:ext cx="2249385" cy="215443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PK" sz="1400" b="1" dirty="0">
                <a:solidFill>
                  <a:schemeClr val="bg1"/>
                </a:solidFill>
              </a:rPr>
              <a:t>Changing the project approach</a:t>
            </a:r>
            <a:endParaRPr lang="en-US" sz="1400" b="1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r>
              <a:rPr lang="en-PK" sz="1400" b="1" dirty="0">
                <a:solidFill>
                  <a:schemeClr val="bg1"/>
                </a:solidFill>
              </a:rPr>
              <a:t> Reducing or changing the project scope </a:t>
            </a:r>
            <a:endParaRPr lang="en-US" sz="1400" b="1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r>
              <a:rPr lang="en-PK" sz="1400" b="1" dirty="0">
                <a:solidFill>
                  <a:schemeClr val="bg1"/>
                </a:solidFill>
              </a:rPr>
              <a:t>Allocating resources more efficiently </a:t>
            </a:r>
            <a:endParaRPr lang="en-US" sz="1400" b="1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r>
              <a:rPr lang="en-PK" sz="1400" b="1" dirty="0">
                <a:solidFill>
                  <a:schemeClr val="bg1"/>
                </a:solidFill>
              </a:rPr>
              <a:t>Fast tracking.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7" name="Freeform 4344" descr="Icon of wrench. ">
            <a:extLst>
              <a:ext uri="{FF2B5EF4-FFF2-40B4-BE49-F238E27FC236}">
                <a16:creationId xmlns:a16="http://schemas.microsoft.com/office/drawing/2014/main" id="{C131659B-1A41-4821-9349-1E69BBBB560E}"/>
              </a:ext>
            </a:extLst>
          </p:cNvPr>
          <p:cNvSpPr>
            <a:spLocks/>
          </p:cNvSpPr>
          <p:nvPr/>
        </p:nvSpPr>
        <p:spPr bwMode="auto">
          <a:xfrm>
            <a:off x="1901253" y="2080693"/>
            <a:ext cx="489891" cy="370826"/>
          </a:xfrm>
          <a:custGeom>
            <a:avLst/>
            <a:gdLst>
              <a:gd name="T0" fmla="*/ 853 w 886"/>
              <a:gd name="T1" fmla="*/ 137 h 886"/>
              <a:gd name="T2" fmla="*/ 842 w 886"/>
              <a:gd name="T3" fmla="*/ 134 h 886"/>
              <a:gd name="T4" fmla="*/ 833 w 886"/>
              <a:gd name="T5" fmla="*/ 138 h 886"/>
              <a:gd name="T6" fmla="*/ 646 w 886"/>
              <a:gd name="T7" fmla="*/ 172 h 886"/>
              <a:gd name="T8" fmla="*/ 754 w 886"/>
              <a:gd name="T9" fmla="*/ 46 h 886"/>
              <a:gd name="T10" fmla="*/ 754 w 886"/>
              <a:gd name="T11" fmla="*/ 37 h 886"/>
              <a:gd name="T12" fmla="*/ 747 w 886"/>
              <a:gd name="T13" fmla="*/ 29 h 886"/>
              <a:gd name="T14" fmla="*/ 704 w 886"/>
              <a:gd name="T15" fmla="*/ 12 h 886"/>
              <a:gd name="T16" fmla="*/ 659 w 886"/>
              <a:gd name="T17" fmla="*/ 2 h 886"/>
              <a:gd name="T18" fmla="*/ 615 w 886"/>
              <a:gd name="T19" fmla="*/ 0 h 886"/>
              <a:gd name="T20" fmla="*/ 577 w 886"/>
              <a:gd name="T21" fmla="*/ 6 h 886"/>
              <a:gd name="T22" fmla="*/ 539 w 886"/>
              <a:gd name="T23" fmla="*/ 15 h 886"/>
              <a:gd name="T24" fmla="*/ 505 w 886"/>
              <a:gd name="T25" fmla="*/ 31 h 886"/>
              <a:gd name="T26" fmla="*/ 473 w 886"/>
              <a:gd name="T27" fmla="*/ 52 h 886"/>
              <a:gd name="T28" fmla="*/ 443 w 886"/>
              <a:gd name="T29" fmla="*/ 76 h 886"/>
              <a:gd name="T30" fmla="*/ 405 w 886"/>
              <a:gd name="T31" fmla="*/ 124 h 886"/>
              <a:gd name="T32" fmla="*/ 380 w 886"/>
              <a:gd name="T33" fmla="*/ 178 h 886"/>
              <a:gd name="T34" fmla="*/ 368 w 886"/>
              <a:gd name="T35" fmla="*/ 235 h 886"/>
              <a:gd name="T36" fmla="*/ 368 w 886"/>
              <a:gd name="T37" fmla="*/ 293 h 886"/>
              <a:gd name="T38" fmla="*/ 382 w 886"/>
              <a:gd name="T39" fmla="*/ 351 h 886"/>
              <a:gd name="T40" fmla="*/ 21 w 886"/>
              <a:gd name="T41" fmla="*/ 738 h 886"/>
              <a:gd name="T42" fmla="*/ 7 w 886"/>
              <a:gd name="T43" fmla="*/ 762 h 886"/>
              <a:gd name="T44" fmla="*/ 1 w 886"/>
              <a:gd name="T45" fmla="*/ 787 h 886"/>
              <a:gd name="T46" fmla="*/ 2 w 886"/>
              <a:gd name="T47" fmla="*/ 813 h 886"/>
              <a:gd name="T48" fmla="*/ 11 w 886"/>
              <a:gd name="T49" fmla="*/ 838 h 886"/>
              <a:gd name="T50" fmla="*/ 27 w 886"/>
              <a:gd name="T51" fmla="*/ 860 h 886"/>
              <a:gd name="T52" fmla="*/ 48 w 886"/>
              <a:gd name="T53" fmla="*/ 875 h 886"/>
              <a:gd name="T54" fmla="*/ 73 w 886"/>
              <a:gd name="T55" fmla="*/ 884 h 886"/>
              <a:gd name="T56" fmla="*/ 99 w 886"/>
              <a:gd name="T57" fmla="*/ 885 h 886"/>
              <a:gd name="T58" fmla="*/ 125 w 886"/>
              <a:gd name="T59" fmla="*/ 879 h 886"/>
              <a:gd name="T60" fmla="*/ 148 w 886"/>
              <a:gd name="T61" fmla="*/ 866 h 886"/>
              <a:gd name="T62" fmla="*/ 530 w 886"/>
              <a:gd name="T63" fmla="*/ 502 h 886"/>
              <a:gd name="T64" fmla="*/ 570 w 886"/>
              <a:gd name="T65" fmla="*/ 515 h 886"/>
              <a:gd name="T66" fmla="*/ 612 w 886"/>
              <a:gd name="T67" fmla="*/ 520 h 886"/>
              <a:gd name="T68" fmla="*/ 626 w 886"/>
              <a:gd name="T69" fmla="*/ 520 h 886"/>
              <a:gd name="T70" fmla="*/ 664 w 886"/>
              <a:gd name="T71" fmla="*/ 518 h 886"/>
              <a:gd name="T72" fmla="*/ 702 w 886"/>
              <a:gd name="T73" fmla="*/ 509 h 886"/>
              <a:gd name="T74" fmla="*/ 737 w 886"/>
              <a:gd name="T75" fmla="*/ 496 h 886"/>
              <a:gd name="T76" fmla="*/ 769 w 886"/>
              <a:gd name="T77" fmla="*/ 477 h 886"/>
              <a:gd name="T78" fmla="*/ 800 w 886"/>
              <a:gd name="T79" fmla="*/ 454 h 886"/>
              <a:gd name="T80" fmla="*/ 837 w 886"/>
              <a:gd name="T81" fmla="*/ 413 h 886"/>
              <a:gd name="T82" fmla="*/ 867 w 886"/>
              <a:gd name="T83" fmla="*/ 360 h 886"/>
              <a:gd name="T84" fmla="*/ 883 w 886"/>
              <a:gd name="T85" fmla="*/ 301 h 886"/>
              <a:gd name="T86" fmla="*/ 885 w 886"/>
              <a:gd name="T87" fmla="*/ 241 h 886"/>
              <a:gd name="T88" fmla="*/ 873 w 886"/>
              <a:gd name="T89" fmla="*/ 181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86" h="886">
                <a:moveTo>
                  <a:pt x="857" y="143"/>
                </a:moveTo>
                <a:lnTo>
                  <a:pt x="855" y="139"/>
                </a:lnTo>
                <a:lnTo>
                  <a:pt x="853" y="137"/>
                </a:lnTo>
                <a:lnTo>
                  <a:pt x="849" y="135"/>
                </a:lnTo>
                <a:lnTo>
                  <a:pt x="846" y="133"/>
                </a:lnTo>
                <a:lnTo>
                  <a:pt x="842" y="134"/>
                </a:lnTo>
                <a:lnTo>
                  <a:pt x="839" y="135"/>
                </a:lnTo>
                <a:lnTo>
                  <a:pt x="836" y="136"/>
                </a:lnTo>
                <a:lnTo>
                  <a:pt x="833" y="138"/>
                </a:lnTo>
                <a:lnTo>
                  <a:pt x="712" y="259"/>
                </a:lnTo>
                <a:lnTo>
                  <a:pt x="646" y="259"/>
                </a:lnTo>
                <a:lnTo>
                  <a:pt x="646" y="172"/>
                </a:lnTo>
                <a:lnTo>
                  <a:pt x="751" y="53"/>
                </a:lnTo>
                <a:lnTo>
                  <a:pt x="753" y="49"/>
                </a:lnTo>
                <a:lnTo>
                  <a:pt x="754" y="46"/>
                </a:lnTo>
                <a:lnTo>
                  <a:pt x="755" y="43"/>
                </a:lnTo>
                <a:lnTo>
                  <a:pt x="755" y="39"/>
                </a:lnTo>
                <a:lnTo>
                  <a:pt x="754" y="37"/>
                </a:lnTo>
                <a:lnTo>
                  <a:pt x="752" y="33"/>
                </a:lnTo>
                <a:lnTo>
                  <a:pt x="750" y="31"/>
                </a:lnTo>
                <a:lnTo>
                  <a:pt x="747" y="29"/>
                </a:lnTo>
                <a:lnTo>
                  <a:pt x="733" y="23"/>
                </a:lnTo>
                <a:lnTo>
                  <a:pt x="719" y="16"/>
                </a:lnTo>
                <a:lnTo>
                  <a:pt x="704" y="12"/>
                </a:lnTo>
                <a:lnTo>
                  <a:pt x="689" y="8"/>
                </a:lnTo>
                <a:lnTo>
                  <a:pt x="674" y="5"/>
                </a:lnTo>
                <a:lnTo>
                  <a:pt x="659" y="2"/>
                </a:lnTo>
                <a:lnTo>
                  <a:pt x="643" y="1"/>
                </a:lnTo>
                <a:lnTo>
                  <a:pt x="628" y="0"/>
                </a:lnTo>
                <a:lnTo>
                  <a:pt x="615" y="0"/>
                </a:lnTo>
                <a:lnTo>
                  <a:pt x="602" y="1"/>
                </a:lnTo>
                <a:lnTo>
                  <a:pt x="589" y="3"/>
                </a:lnTo>
                <a:lnTo>
                  <a:pt x="577" y="6"/>
                </a:lnTo>
                <a:lnTo>
                  <a:pt x="564" y="8"/>
                </a:lnTo>
                <a:lnTo>
                  <a:pt x="552" y="11"/>
                </a:lnTo>
                <a:lnTo>
                  <a:pt x="539" y="15"/>
                </a:lnTo>
                <a:lnTo>
                  <a:pt x="527" y="19"/>
                </a:lnTo>
                <a:lnTo>
                  <a:pt x="516" y="25"/>
                </a:lnTo>
                <a:lnTo>
                  <a:pt x="505" y="31"/>
                </a:lnTo>
                <a:lnTo>
                  <a:pt x="493" y="37"/>
                </a:lnTo>
                <a:lnTo>
                  <a:pt x="482" y="44"/>
                </a:lnTo>
                <a:lnTo>
                  <a:pt x="473" y="52"/>
                </a:lnTo>
                <a:lnTo>
                  <a:pt x="462" y="59"/>
                </a:lnTo>
                <a:lnTo>
                  <a:pt x="452" y="68"/>
                </a:lnTo>
                <a:lnTo>
                  <a:pt x="443" y="76"/>
                </a:lnTo>
                <a:lnTo>
                  <a:pt x="429" y="91"/>
                </a:lnTo>
                <a:lnTo>
                  <a:pt x="416" y="107"/>
                </a:lnTo>
                <a:lnTo>
                  <a:pt x="405" y="124"/>
                </a:lnTo>
                <a:lnTo>
                  <a:pt x="396" y="141"/>
                </a:lnTo>
                <a:lnTo>
                  <a:pt x="387" y="160"/>
                </a:lnTo>
                <a:lnTo>
                  <a:pt x="380" y="178"/>
                </a:lnTo>
                <a:lnTo>
                  <a:pt x="374" y="196"/>
                </a:lnTo>
                <a:lnTo>
                  <a:pt x="370" y="215"/>
                </a:lnTo>
                <a:lnTo>
                  <a:pt x="368" y="235"/>
                </a:lnTo>
                <a:lnTo>
                  <a:pt x="366" y="254"/>
                </a:lnTo>
                <a:lnTo>
                  <a:pt x="367" y="274"/>
                </a:lnTo>
                <a:lnTo>
                  <a:pt x="368" y="293"/>
                </a:lnTo>
                <a:lnTo>
                  <a:pt x="371" y="313"/>
                </a:lnTo>
                <a:lnTo>
                  <a:pt x="376" y="332"/>
                </a:lnTo>
                <a:lnTo>
                  <a:pt x="382" y="351"/>
                </a:lnTo>
                <a:lnTo>
                  <a:pt x="390" y="369"/>
                </a:lnTo>
                <a:lnTo>
                  <a:pt x="27" y="732"/>
                </a:lnTo>
                <a:lnTo>
                  <a:pt x="21" y="738"/>
                </a:lnTo>
                <a:lnTo>
                  <a:pt x="16" y="746"/>
                </a:lnTo>
                <a:lnTo>
                  <a:pt x="11" y="753"/>
                </a:lnTo>
                <a:lnTo>
                  <a:pt x="7" y="762"/>
                </a:lnTo>
                <a:lnTo>
                  <a:pt x="4" y="769"/>
                </a:lnTo>
                <a:lnTo>
                  <a:pt x="2" y="778"/>
                </a:lnTo>
                <a:lnTo>
                  <a:pt x="1" y="787"/>
                </a:lnTo>
                <a:lnTo>
                  <a:pt x="0" y="796"/>
                </a:lnTo>
                <a:lnTo>
                  <a:pt x="1" y="805"/>
                </a:lnTo>
                <a:lnTo>
                  <a:pt x="2" y="813"/>
                </a:lnTo>
                <a:lnTo>
                  <a:pt x="4" y="822"/>
                </a:lnTo>
                <a:lnTo>
                  <a:pt x="7" y="830"/>
                </a:lnTo>
                <a:lnTo>
                  <a:pt x="11" y="838"/>
                </a:lnTo>
                <a:lnTo>
                  <a:pt x="15" y="845"/>
                </a:lnTo>
                <a:lnTo>
                  <a:pt x="20" y="853"/>
                </a:lnTo>
                <a:lnTo>
                  <a:pt x="27" y="860"/>
                </a:lnTo>
                <a:lnTo>
                  <a:pt x="33" y="866"/>
                </a:lnTo>
                <a:lnTo>
                  <a:pt x="41" y="871"/>
                </a:lnTo>
                <a:lnTo>
                  <a:pt x="48" y="875"/>
                </a:lnTo>
                <a:lnTo>
                  <a:pt x="55" y="879"/>
                </a:lnTo>
                <a:lnTo>
                  <a:pt x="64" y="882"/>
                </a:lnTo>
                <a:lnTo>
                  <a:pt x="73" y="884"/>
                </a:lnTo>
                <a:lnTo>
                  <a:pt x="81" y="885"/>
                </a:lnTo>
                <a:lnTo>
                  <a:pt x="91" y="886"/>
                </a:lnTo>
                <a:lnTo>
                  <a:pt x="99" y="885"/>
                </a:lnTo>
                <a:lnTo>
                  <a:pt x="108" y="884"/>
                </a:lnTo>
                <a:lnTo>
                  <a:pt x="116" y="882"/>
                </a:lnTo>
                <a:lnTo>
                  <a:pt x="125" y="879"/>
                </a:lnTo>
                <a:lnTo>
                  <a:pt x="133" y="875"/>
                </a:lnTo>
                <a:lnTo>
                  <a:pt x="140" y="871"/>
                </a:lnTo>
                <a:lnTo>
                  <a:pt x="148" y="866"/>
                </a:lnTo>
                <a:lnTo>
                  <a:pt x="154" y="860"/>
                </a:lnTo>
                <a:lnTo>
                  <a:pt x="517" y="497"/>
                </a:lnTo>
                <a:lnTo>
                  <a:pt x="530" y="502"/>
                </a:lnTo>
                <a:lnTo>
                  <a:pt x="543" y="507"/>
                </a:lnTo>
                <a:lnTo>
                  <a:pt x="556" y="512"/>
                </a:lnTo>
                <a:lnTo>
                  <a:pt x="570" y="515"/>
                </a:lnTo>
                <a:lnTo>
                  <a:pt x="584" y="517"/>
                </a:lnTo>
                <a:lnTo>
                  <a:pt x="598" y="519"/>
                </a:lnTo>
                <a:lnTo>
                  <a:pt x="612" y="520"/>
                </a:lnTo>
                <a:lnTo>
                  <a:pt x="626" y="520"/>
                </a:lnTo>
                <a:lnTo>
                  <a:pt x="626" y="520"/>
                </a:lnTo>
                <a:lnTo>
                  <a:pt x="626" y="520"/>
                </a:lnTo>
                <a:lnTo>
                  <a:pt x="639" y="520"/>
                </a:lnTo>
                <a:lnTo>
                  <a:pt x="651" y="519"/>
                </a:lnTo>
                <a:lnTo>
                  <a:pt x="664" y="518"/>
                </a:lnTo>
                <a:lnTo>
                  <a:pt x="677" y="516"/>
                </a:lnTo>
                <a:lnTo>
                  <a:pt x="689" y="513"/>
                </a:lnTo>
                <a:lnTo>
                  <a:pt x="702" y="509"/>
                </a:lnTo>
                <a:lnTo>
                  <a:pt x="714" y="505"/>
                </a:lnTo>
                <a:lnTo>
                  <a:pt x="725" y="501"/>
                </a:lnTo>
                <a:lnTo>
                  <a:pt x="737" y="496"/>
                </a:lnTo>
                <a:lnTo>
                  <a:pt x="748" y="490"/>
                </a:lnTo>
                <a:lnTo>
                  <a:pt x="758" y="484"/>
                </a:lnTo>
                <a:lnTo>
                  <a:pt x="769" y="477"/>
                </a:lnTo>
                <a:lnTo>
                  <a:pt x="780" y="470"/>
                </a:lnTo>
                <a:lnTo>
                  <a:pt x="791" y="462"/>
                </a:lnTo>
                <a:lnTo>
                  <a:pt x="800" y="454"/>
                </a:lnTo>
                <a:lnTo>
                  <a:pt x="810" y="444"/>
                </a:lnTo>
                <a:lnTo>
                  <a:pt x="824" y="429"/>
                </a:lnTo>
                <a:lnTo>
                  <a:pt x="837" y="413"/>
                </a:lnTo>
                <a:lnTo>
                  <a:pt x="848" y="396"/>
                </a:lnTo>
                <a:lnTo>
                  <a:pt x="858" y="378"/>
                </a:lnTo>
                <a:lnTo>
                  <a:pt x="867" y="360"/>
                </a:lnTo>
                <a:lnTo>
                  <a:pt x="873" y="340"/>
                </a:lnTo>
                <a:lnTo>
                  <a:pt x="878" y="321"/>
                </a:lnTo>
                <a:lnTo>
                  <a:pt x="883" y="301"/>
                </a:lnTo>
                <a:lnTo>
                  <a:pt x="885" y="282"/>
                </a:lnTo>
                <a:lnTo>
                  <a:pt x="886" y="261"/>
                </a:lnTo>
                <a:lnTo>
                  <a:pt x="885" y="241"/>
                </a:lnTo>
                <a:lnTo>
                  <a:pt x="883" y="221"/>
                </a:lnTo>
                <a:lnTo>
                  <a:pt x="878" y="200"/>
                </a:lnTo>
                <a:lnTo>
                  <a:pt x="873" y="181"/>
                </a:lnTo>
                <a:lnTo>
                  <a:pt x="865" y="162"/>
                </a:lnTo>
                <a:lnTo>
                  <a:pt x="857" y="1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58" name="Group 57" descr="Icon of money. ">
            <a:extLst>
              <a:ext uri="{FF2B5EF4-FFF2-40B4-BE49-F238E27FC236}">
                <a16:creationId xmlns:a16="http://schemas.microsoft.com/office/drawing/2014/main" id="{8FB81822-E09C-4A9F-BCD2-4BB20E38DA03}"/>
              </a:ext>
            </a:extLst>
          </p:cNvPr>
          <p:cNvGrpSpPr/>
          <p:nvPr/>
        </p:nvGrpSpPr>
        <p:grpSpPr>
          <a:xfrm>
            <a:off x="4524675" y="2039400"/>
            <a:ext cx="487550" cy="466210"/>
            <a:chOff x="3746500" y="1344613"/>
            <a:chExt cx="285750" cy="287338"/>
          </a:xfrm>
          <a:solidFill>
            <a:schemeClr val="bg1"/>
          </a:solidFill>
        </p:grpSpPr>
        <p:sp>
          <p:nvSpPr>
            <p:cNvPr id="59" name="Freeform 497">
              <a:extLst>
                <a:ext uri="{FF2B5EF4-FFF2-40B4-BE49-F238E27FC236}">
                  <a16:creationId xmlns:a16="http://schemas.microsoft.com/office/drawing/2014/main" id="{4325703C-49C2-4EC8-BBAF-CE488FCB0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500" y="1344613"/>
              <a:ext cx="285750" cy="182563"/>
            </a:xfrm>
            <a:custGeom>
              <a:avLst/>
              <a:gdLst>
                <a:gd name="T0" fmla="*/ 0 w 903"/>
                <a:gd name="T1" fmla="*/ 0 h 573"/>
                <a:gd name="T2" fmla="*/ 0 w 903"/>
                <a:gd name="T3" fmla="*/ 467 h 573"/>
                <a:gd name="T4" fmla="*/ 1 w 903"/>
                <a:gd name="T5" fmla="*/ 459 h 573"/>
                <a:gd name="T6" fmla="*/ 2 w 903"/>
                <a:gd name="T7" fmla="*/ 453 h 573"/>
                <a:gd name="T8" fmla="*/ 5 w 903"/>
                <a:gd name="T9" fmla="*/ 446 h 573"/>
                <a:gd name="T10" fmla="*/ 8 w 903"/>
                <a:gd name="T11" fmla="*/ 440 h 573"/>
                <a:gd name="T12" fmla="*/ 12 w 903"/>
                <a:gd name="T13" fmla="*/ 434 h 573"/>
                <a:gd name="T14" fmla="*/ 18 w 903"/>
                <a:gd name="T15" fmla="*/ 428 h 573"/>
                <a:gd name="T16" fmla="*/ 23 w 903"/>
                <a:gd name="T17" fmla="*/ 423 h 573"/>
                <a:gd name="T18" fmla="*/ 30 w 903"/>
                <a:gd name="T19" fmla="*/ 419 h 573"/>
                <a:gd name="T20" fmla="*/ 30 w 903"/>
                <a:gd name="T21" fmla="*/ 30 h 573"/>
                <a:gd name="T22" fmla="*/ 873 w 903"/>
                <a:gd name="T23" fmla="*/ 30 h 573"/>
                <a:gd name="T24" fmla="*/ 873 w 903"/>
                <a:gd name="T25" fmla="*/ 543 h 573"/>
                <a:gd name="T26" fmla="*/ 481 w 903"/>
                <a:gd name="T27" fmla="*/ 543 h 573"/>
                <a:gd name="T28" fmla="*/ 481 w 903"/>
                <a:gd name="T29" fmla="*/ 573 h 573"/>
                <a:gd name="T30" fmla="*/ 903 w 903"/>
                <a:gd name="T31" fmla="*/ 573 h 573"/>
                <a:gd name="T32" fmla="*/ 903 w 903"/>
                <a:gd name="T33" fmla="*/ 0 h 573"/>
                <a:gd name="T34" fmla="*/ 0 w 903"/>
                <a:gd name="T35" fmla="*/ 0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3" h="573">
                  <a:moveTo>
                    <a:pt x="0" y="0"/>
                  </a:moveTo>
                  <a:lnTo>
                    <a:pt x="0" y="467"/>
                  </a:lnTo>
                  <a:lnTo>
                    <a:pt x="1" y="459"/>
                  </a:lnTo>
                  <a:lnTo>
                    <a:pt x="2" y="453"/>
                  </a:lnTo>
                  <a:lnTo>
                    <a:pt x="5" y="446"/>
                  </a:lnTo>
                  <a:lnTo>
                    <a:pt x="8" y="440"/>
                  </a:lnTo>
                  <a:lnTo>
                    <a:pt x="12" y="434"/>
                  </a:lnTo>
                  <a:lnTo>
                    <a:pt x="18" y="428"/>
                  </a:lnTo>
                  <a:lnTo>
                    <a:pt x="23" y="423"/>
                  </a:lnTo>
                  <a:lnTo>
                    <a:pt x="30" y="419"/>
                  </a:lnTo>
                  <a:lnTo>
                    <a:pt x="30" y="30"/>
                  </a:lnTo>
                  <a:lnTo>
                    <a:pt x="873" y="30"/>
                  </a:lnTo>
                  <a:lnTo>
                    <a:pt x="873" y="543"/>
                  </a:lnTo>
                  <a:lnTo>
                    <a:pt x="481" y="543"/>
                  </a:lnTo>
                  <a:lnTo>
                    <a:pt x="481" y="573"/>
                  </a:lnTo>
                  <a:lnTo>
                    <a:pt x="903" y="573"/>
                  </a:lnTo>
                  <a:lnTo>
                    <a:pt x="90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Freeform 498">
              <a:extLst>
                <a:ext uri="{FF2B5EF4-FFF2-40B4-BE49-F238E27FC236}">
                  <a16:creationId xmlns:a16="http://schemas.microsoft.com/office/drawing/2014/main" id="{A721923B-8DD3-47E1-B174-6D9950E778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5075" y="1373188"/>
              <a:ext cx="228600" cy="125413"/>
            </a:xfrm>
            <a:custGeom>
              <a:avLst/>
              <a:gdLst>
                <a:gd name="T0" fmla="*/ 330 w 723"/>
                <a:gd name="T1" fmla="*/ 283 h 392"/>
                <a:gd name="T2" fmla="*/ 295 w 723"/>
                <a:gd name="T3" fmla="*/ 263 h 392"/>
                <a:gd name="T4" fmla="*/ 269 w 723"/>
                <a:gd name="T5" fmla="*/ 232 h 392"/>
                <a:gd name="T6" fmla="*/ 257 w 723"/>
                <a:gd name="T7" fmla="*/ 192 h 392"/>
                <a:gd name="T8" fmla="*/ 260 w 723"/>
                <a:gd name="T9" fmla="*/ 151 h 392"/>
                <a:gd name="T10" fmla="*/ 281 w 723"/>
                <a:gd name="T11" fmla="*/ 115 h 392"/>
                <a:gd name="T12" fmla="*/ 312 w 723"/>
                <a:gd name="T13" fmla="*/ 90 h 392"/>
                <a:gd name="T14" fmla="*/ 350 w 723"/>
                <a:gd name="T15" fmla="*/ 77 h 392"/>
                <a:gd name="T16" fmla="*/ 392 w 723"/>
                <a:gd name="T17" fmla="*/ 81 h 392"/>
                <a:gd name="T18" fmla="*/ 429 w 723"/>
                <a:gd name="T19" fmla="*/ 100 h 392"/>
                <a:gd name="T20" fmla="*/ 454 w 723"/>
                <a:gd name="T21" fmla="*/ 131 h 392"/>
                <a:gd name="T22" fmla="*/ 466 w 723"/>
                <a:gd name="T23" fmla="*/ 171 h 392"/>
                <a:gd name="T24" fmla="*/ 462 w 723"/>
                <a:gd name="T25" fmla="*/ 213 h 392"/>
                <a:gd name="T26" fmla="*/ 443 w 723"/>
                <a:gd name="T27" fmla="*/ 248 h 392"/>
                <a:gd name="T28" fmla="*/ 412 w 723"/>
                <a:gd name="T29" fmla="*/ 274 h 392"/>
                <a:gd name="T30" fmla="*/ 372 w 723"/>
                <a:gd name="T31" fmla="*/ 287 h 392"/>
                <a:gd name="T32" fmla="*/ 96 w 723"/>
                <a:gd name="T33" fmla="*/ 151 h 392"/>
                <a:gd name="T34" fmla="*/ 68 w 723"/>
                <a:gd name="T35" fmla="*/ 131 h 392"/>
                <a:gd name="T36" fmla="*/ 61 w 723"/>
                <a:gd name="T37" fmla="*/ 97 h 392"/>
                <a:gd name="T38" fmla="*/ 80 w 723"/>
                <a:gd name="T39" fmla="*/ 69 h 392"/>
                <a:gd name="T40" fmla="*/ 114 w 723"/>
                <a:gd name="T41" fmla="*/ 63 h 392"/>
                <a:gd name="T42" fmla="*/ 143 w 723"/>
                <a:gd name="T43" fmla="*/ 81 h 392"/>
                <a:gd name="T44" fmla="*/ 150 w 723"/>
                <a:gd name="T45" fmla="*/ 115 h 392"/>
                <a:gd name="T46" fmla="*/ 131 w 723"/>
                <a:gd name="T47" fmla="*/ 144 h 392"/>
                <a:gd name="T48" fmla="*/ 106 w 723"/>
                <a:gd name="T49" fmla="*/ 152 h 392"/>
                <a:gd name="T50" fmla="*/ 642 w 723"/>
                <a:gd name="T51" fmla="*/ 249 h 392"/>
                <a:gd name="T52" fmla="*/ 661 w 723"/>
                <a:gd name="T53" fmla="*/ 278 h 392"/>
                <a:gd name="T54" fmla="*/ 655 w 723"/>
                <a:gd name="T55" fmla="*/ 313 h 392"/>
                <a:gd name="T56" fmla="*/ 626 w 723"/>
                <a:gd name="T57" fmla="*/ 331 h 392"/>
                <a:gd name="T58" fmla="*/ 592 w 723"/>
                <a:gd name="T59" fmla="*/ 324 h 392"/>
                <a:gd name="T60" fmla="*/ 573 w 723"/>
                <a:gd name="T61" fmla="*/ 297 h 392"/>
                <a:gd name="T62" fmla="*/ 580 w 723"/>
                <a:gd name="T63" fmla="*/ 262 h 392"/>
                <a:gd name="T64" fmla="*/ 608 w 723"/>
                <a:gd name="T65" fmla="*/ 243 h 392"/>
                <a:gd name="T66" fmla="*/ 669 w 723"/>
                <a:gd name="T67" fmla="*/ 392 h 392"/>
                <a:gd name="T68" fmla="*/ 691 w 723"/>
                <a:gd name="T69" fmla="*/ 386 h 392"/>
                <a:gd name="T70" fmla="*/ 709 w 723"/>
                <a:gd name="T71" fmla="*/ 371 h 392"/>
                <a:gd name="T72" fmla="*/ 720 w 723"/>
                <a:gd name="T73" fmla="*/ 350 h 392"/>
                <a:gd name="T74" fmla="*/ 723 w 723"/>
                <a:gd name="T75" fmla="*/ 62 h 392"/>
                <a:gd name="T76" fmla="*/ 718 w 723"/>
                <a:gd name="T77" fmla="*/ 38 h 392"/>
                <a:gd name="T78" fmla="*/ 705 w 723"/>
                <a:gd name="T79" fmla="*/ 19 h 392"/>
                <a:gd name="T80" fmla="*/ 686 w 723"/>
                <a:gd name="T81" fmla="*/ 6 h 392"/>
                <a:gd name="T82" fmla="*/ 663 w 723"/>
                <a:gd name="T83" fmla="*/ 2 h 392"/>
                <a:gd name="T84" fmla="*/ 43 w 723"/>
                <a:gd name="T85" fmla="*/ 4 h 392"/>
                <a:gd name="T86" fmla="*/ 22 w 723"/>
                <a:gd name="T87" fmla="*/ 14 h 392"/>
                <a:gd name="T88" fmla="*/ 7 w 723"/>
                <a:gd name="T89" fmla="*/ 33 h 392"/>
                <a:gd name="T90" fmla="*/ 1 w 723"/>
                <a:gd name="T91" fmla="*/ 55 h 392"/>
                <a:gd name="T92" fmla="*/ 46 w 723"/>
                <a:gd name="T93" fmla="*/ 294 h 392"/>
                <a:gd name="T94" fmla="*/ 151 w 723"/>
                <a:gd name="T95" fmla="*/ 287 h 392"/>
                <a:gd name="T96" fmla="*/ 244 w 723"/>
                <a:gd name="T97" fmla="*/ 293 h 392"/>
                <a:gd name="T98" fmla="*/ 326 w 723"/>
                <a:gd name="T99" fmla="*/ 312 h 392"/>
                <a:gd name="T100" fmla="*/ 373 w 723"/>
                <a:gd name="T101" fmla="*/ 337 h 392"/>
                <a:gd name="T102" fmla="*/ 389 w 723"/>
                <a:gd name="T103" fmla="*/ 362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23" h="392">
                  <a:moveTo>
                    <a:pt x="361" y="287"/>
                  </a:moveTo>
                  <a:lnTo>
                    <a:pt x="350" y="287"/>
                  </a:lnTo>
                  <a:lnTo>
                    <a:pt x="341" y="285"/>
                  </a:lnTo>
                  <a:lnTo>
                    <a:pt x="330" y="283"/>
                  </a:lnTo>
                  <a:lnTo>
                    <a:pt x="320" y="278"/>
                  </a:lnTo>
                  <a:lnTo>
                    <a:pt x="312" y="274"/>
                  </a:lnTo>
                  <a:lnTo>
                    <a:pt x="302" y="269"/>
                  </a:lnTo>
                  <a:lnTo>
                    <a:pt x="295" y="263"/>
                  </a:lnTo>
                  <a:lnTo>
                    <a:pt x="287" y="256"/>
                  </a:lnTo>
                  <a:lnTo>
                    <a:pt x="281" y="248"/>
                  </a:lnTo>
                  <a:lnTo>
                    <a:pt x="274" y="241"/>
                  </a:lnTo>
                  <a:lnTo>
                    <a:pt x="269" y="232"/>
                  </a:lnTo>
                  <a:lnTo>
                    <a:pt x="265" y="223"/>
                  </a:lnTo>
                  <a:lnTo>
                    <a:pt x="260" y="213"/>
                  </a:lnTo>
                  <a:lnTo>
                    <a:pt x="258" y="203"/>
                  </a:lnTo>
                  <a:lnTo>
                    <a:pt x="257" y="192"/>
                  </a:lnTo>
                  <a:lnTo>
                    <a:pt x="256" y="182"/>
                  </a:lnTo>
                  <a:lnTo>
                    <a:pt x="257" y="171"/>
                  </a:lnTo>
                  <a:lnTo>
                    <a:pt x="258" y="160"/>
                  </a:lnTo>
                  <a:lnTo>
                    <a:pt x="260" y="151"/>
                  </a:lnTo>
                  <a:lnTo>
                    <a:pt x="265" y="141"/>
                  </a:lnTo>
                  <a:lnTo>
                    <a:pt x="269" y="131"/>
                  </a:lnTo>
                  <a:lnTo>
                    <a:pt x="274" y="123"/>
                  </a:lnTo>
                  <a:lnTo>
                    <a:pt x="281" y="115"/>
                  </a:lnTo>
                  <a:lnTo>
                    <a:pt x="287" y="108"/>
                  </a:lnTo>
                  <a:lnTo>
                    <a:pt x="295" y="100"/>
                  </a:lnTo>
                  <a:lnTo>
                    <a:pt x="302" y="95"/>
                  </a:lnTo>
                  <a:lnTo>
                    <a:pt x="312" y="90"/>
                  </a:lnTo>
                  <a:lnTo>
                    <a:pt x="320" y="84"/>
                  </a:lnTo>
                  <a:lnTo>
                    <a:pt x="330" y="81"/>
                  </a:lnTo>
                  <a:lnTo>
                    <a:pt x="341" y="79"/>
                  </a:lnTo>
                  <a:lnTo>
                    <a:pt x="350" y="77"/>
                  </a:lnTo>
                  <a:lnTo>
                    <a:pt x="361" y="77"/>
                  </a:lnTo>
                  <a:lnTo>
                    <a:pt x="372" y="77"/>
                  </a:lnTo>
                  <a:lnTo>
                    <a:pt x="383" y="79"/>
                  </a:lnTo>
                  <a:lnTo>
                    <a:pt x="392" y="81"/>
                  </a:lnTo>
                  <a:lnTo>
                    <a:pt x="403" y="84"/>
                  </a:lnTo>
                  <a:lnTo>
                    <a:pt x="412" y="90"/>
                  </a:lnTo>
                  <a:lnTo>
                    <a:pt x="420" y="95"/>
                  </a:lnTo>
                  <a:lnTo>
                    <a:pt x="429" y="100"/>
                  </a:lnTo>
                  <a:lnTo>
                    <a:pt x="436" y="108"/>
                  </a:lnTo>
                  <a:lnTo>
                    <a:pt x="443" y="115"/>
                  </a:lnTo>
                  <a:lnTo>
                    <a:pt x="449" y="123"/>
                  </a:lnTo>
                  <a:lnTo>
                    <a:pt x="454" y="131"/>
                  </a:lnTo>
                  <a:lnTo>
                    <a:pt x="459" y="141"/>
                  </a:lnTo>
                  <a:lnTo>
                    <a:pt x="462" y="151"/>
                  </a:lnTo>
                  <a:lnTo>
                    <a:pt x="465" y="160"/>
                  </a:lnTo>
                  <a:lnTo>
                    <a:pt x="466" y="171"/>
                  </a:lnTo>
                  <a:lnTo>
                    <a:pt x="467" y="182"/>
                  </a:lnTo>
                  <a:lnTo>
                    <a:pt x="466" y="192"/>
                  </a:lnTo>
                  <a:lnTo>
                    <a:pt x="465" y="203"/>
                  </a:lnTo>
                  <a:lnTo>
                    <a:pt x="462" y="213"/>
                  </a:lnTo>
                  <a:lnTo>
                    <a:pt x="459" y="223"/>
                  </a:lnTo>
                  <a:lnTo>
                    <a:pt x="454" y="232"/>
                  </a:lnTo>
                  <a:lnTo>
                    <a:pt x="449" y="241"/>
                  </a:lnTo>
                  <a:lnTo>
                    <a:pt x="443" y="248"/>
                  </a:lnTo>
                  <a:lnTo>
                    <a:pt x="436" y="256"/>
                  </a:lnTo>
                  <a:lnTo>
                    <a:pt x="429" y="263"/>
                  </a:lnTo>
                  <a:lnTo>
                    <a:pt x="420" y="269"/>
                  </a:lnTo>
                  <a:lnTo>
                    <a:pt x="412" y="274"/>
                  </a:lnTo>
                  <a:lnTo>
                    <a:pt x="403" y="278"/>
                  </a:lnTo>
                  <a:lnTo>
                    <a:pt x="392" y="283"/>
                  </a:lnTo>
                  <a:lnTo>
                    <a:pt x="383" y="285"/>
                  </a:lnTo>
                  <a:lnTo>
                    <a:pt x="372" y="287"/>
                  </a:lnTo>
                  <a:lnTo>
                    <a:pt x="361" y="287"/>
                  </a:lnTo>
                  <a:lnTo>
                    <a:pt x="361" y="287"/>
                  </a:lnTo>
                  <a:close/>
                  <a:moveTo>
                    <a:pt x="106" y="152"/>
                  </a:moveTo>
                  <a:lnTo>
                    <a:pt x="96" y="151"/>
                  </a:lnTo>
                  <a:lnTo>
                    <a:pt x="88" y="149"/>
                  </a:lnTo>
                  <a:lnTo>
                    <a:pt x="80" y="144"/>
                  </a:lnTo>
                  <a:lnTo>
                    <a:pt x="74" y="139"/>
                  </a:lnTo>
                  <a:lnTo>
                    <a:pt x="68" y="131"/>
                  </a:lnTo>
                  <a:lnTo>
                    <a:pt x="64" y="124"/>
                  </a:lnTo>
                  <a:lnTo>
                    <a:pt x="61" y="115"/>
                  </a:lnTo>
                  <a:lnTo>
                    <a:pt x="61" y="107"/>
                  </a:lnTo>
                  <a:lnTo>
                    <a:pt x="61" y="97"/>
                  </a:lnTo>
                  <a:lnTo>
                    <a:pt x="64" y="88"/>
                  </a:lnTo>
                  <a:lnTo>
                    <a:pt x="68" y="81"/>
                  </a:lnTo>
                  <a:lnTo>
                    <a:pt x="74" y="74"/>
                  </a:lnTo>
                  <a:lnTo>
                    <a:pt x="80" y="69"/>
                  </a:lnTo>
                  <a:lnTo>
                    <a:pt x="88" y="65"/>
                  </a:lnTo>
                  <a:lnTo>
                    <a:pt x="96" y="63"/>
                  </a:lnTo>
                  <a:lnTo>
                    <a:pt x="106" y="62"/>
                  </a:lnTo>
                  <a:lnTo>
                    <a:pt x="114" y="63"/>
                  </a:lnTo>
                  <a:lnTo>
                    <a:pt x="123" y="65"/>
                  </a:lnTo>
                  <a:lnTo>
                    <a:pt x="131" y="69"/>
                  </a:lnTo>
                  <a:lnTo>
                    <a:pt x="137" y="74"/>
                  </a:lnTo>
                  <a:lnTo>
                    <a:pt x="143" y="81"/>
                  </a:lnTo>
                  <a:lnTo>
                    <a:pt x="147" y="88"/>
                  </a:lnTo>
                  <a:lnTo>
                    <a:pt x="150" y="97"/>
                  </a:lnTo>
                  <a:lnTo>
                    <a:pt x="151" y="107"/>
                  </a:lnTo>
                  <a:lnTo>
                    <a:pt x="150" y="115"/>
                  </a:lnTo>
                  <a:lnTo>
                    <a:pt x="148" y="124"/>
                  </a:lnTo>
                  <a:lnTo>
                    <a:pt x="143" y="131"/>
                  </a:lnTo>
                  <a:lnTo>
                    <a:pt x="137" y="139"/>
                  </a:lnTo>
                  <a:lnTo>
                    <a:pt x="131" y="144"/>
                  </a:lnTo>
                  <a:lnTo>
                    <a:pt x="123" y="149"/>
                  </a:lnTo>
                  <a:lnTo>
                    <a:pt x="114" y="151"/>
                  </a:lnTo>
                  <a:lnTo>
                    <a:pt x="106" y="152"/>
                  </a:lnTo>
                  <a:lnTo>
                    <a:pt x="106" y="152"/>
                  </a:lnTo>
                  <a:close/>
                  <a:moveTo>
                    <a:pt x="617" y="242"/>
                  </a:moveTo>
                  <a:lnTo>
                    <a:pt x="626" y="243"/>
                  </a:lnTo>
                  <a:lnTo>
                    <a:pt x="635" y="245"/>
                  </a:lnTo>
                  <a:lnTo>
                    <a:pt x="642" y="249"/>
                  </a:lnTo>
                  <a:lnTo>
                    <a:pt x="650" y="255"/>
                  </a:lnTo>
                  <a:lnTo>
                    <a:pt x="655" y="262"/>
                  </a:lnTo>
                  <a:lnTo>
                    <a:pt x="659" y="270"/>
                  </a:lnTo>
                  <a:lnTo>
                    <a:pt x="661" y="278"/>
                  </a:lnTo>
                  <a:lnTo>
                    <a:pt x="663" y="287"/>
                  </a:lnTo>
                  <a:lnTo>
                    <a:pt x="661" y="297"/>
                  </a:lnTo>
                  <a:lnTo>
                    <a:pt x="659" y="305"/>
                  </a:lnTo>
                  <a:lnTo>
                    <a:pt x="655" y="313"/>
                  </a:lnTo>
                  <a:lnTo>
                    <a:pt x="650" y="319"/>
                  </a:lnTo>
                  <a:lnTo>
                    <a:pt x="642" y="324"/>
                  </a:lnTo>
                  <a:lnTo>
                    <a:pt x="635" y="329"/>
                  </a:lnTo>
                  <a:lnTo>
                    <a:pt x="626" y="331"/>
                  </a:lnTo>
                  <a:lnTo>
                    <a:pt x="617" y="332"/>
                  </a:lnTo>
                  <a:lnTo>
                    <a:pt x="608" y="331"/>
                  </a:lnTo>
                  <a:lnTo>
                    <a:pt x="600" y="329"/>
                  </a:lnTo>
                  <a:lnTo>
                    <a:pt x="592" y="324"/>
                  </a:lnTo>
                  <a:lnTo>
                    <a:pt x="585" y="319"/>
                  </a:lnTo>
                  <a:lnTo>
                    <a:pt x="580" y="313"/>
                  </a:lnTo>
                  <a:lnTo>
                    <a:pt x="576" y="305"/>
                  </a:lnTo>
                  <a:lnTo>
                    <a:pt x="573" y="297"/>
                  </a:lnTo>
                  <a:lnTo>
                    <a:pt x="572" y="287"/>
                  </a:lnTo>
                  <a:lnTo>
                    <a:pt x="573" y="278"/>
                  </a:lnTo>
                  <a:lnTo>
                    <a:pt x="576" y="270"/>
                  </a:lnTo>
                  <a:lnTo>
                    <a:pt x="580" y="262"/>
                  </a:lnTo>
                  <a:lnTo>
                    <a:pt x="585" y="255"/>
                  </a:lnTo>
                  <a:lnTo>
                    <a:pt x="592" y="249"/>
                  </a:lnTo>
                  <a:lnTo>
                    <a:pt x="600" y="245"/>
                  </a:lnTo>
                  <a:lnTo>
                    <a:pt x="608" y="243"/>
                  </a:lnTo>
                  <a:lnTo>
                    <a:pt x="617" y="242"/>
                  </a:lnTo>
                  <a:close/>
                  <a:moveTo>
                    <a:pt x="391" y="392"/>
                  </a:moveTo>
                  <a:lnTo>
                    <a:pt x="663" y="392"/>
                  </a:lnTo>
                  <a:lnTo>
                    <a:pt x="669" y="392"/>
                  </a:lnTo>
                  <a:lnTo>
                    <a:pt x="674" y="391"/>
                  </a:lnTo>
                  <a:lnTo>
                    <a:pt x="681" y="390"/>
                  </a:lnTo>
                  <a:lnTo>
                    <a:pt x="686" y="388"/>
                  </a:lnTo>
                  <a:lnTo>
                    <a:pt x="691" y="386"/>
                  </a:lnTo>
                  <a:lnTo>
                    <a:pt x="697" y="382"/>
                  </a:lnTo>
                  <a:lnTo>
                    <a:pt x="701" y="379"/>
                  </a:lnTo>
                  <a:lnTo>
                    <a:pt x="705" y="375"/>
                  </a:lnTo>
                  <a:lnTo>
                    <a:pt x="709" y="371"/>
                  </a:lnTo>
                  <a:lnTo>
                    <a:pt x="713" y="366"/>
                  </a:lnTo>
                  <a:lnTo>
                    <a:pt x="715" y="361"/>
                  </a:lnTo>
                  <a:lnTo>
                    <a:pt x="718" y="356"/>
                  </a:lnTo>
                  <a:lnTo>
                    <a:pt x="720" y="350"/>
                  </a:lnTo>
                  <a:lnTo>
                    <a:pt x="721" y="345"/>
                  </a:lnTo>
                  <a:lnTo>
                    <a:pt x="723" y="338"/>
                  </a:lnTo>
                  <a:lnTo>
                    <a:pt x="723" y="332"/>
                  </a:lnTo>
                  <a:lnTo>
                    <a:pt x="723" y="62"/>
                  </a:lnTo>
                  <a:lnTo>
                    <a:pt x="723" y="55"/>
                  </a:lnTo>
                  <a:lnTo>
                    <a:pt x="721" y="49"/>
                  </a:lnTo>
                  <a:lnTo>
                    <a:pt x="720" y="43"/>
                  </a:lnTo>
                  <a:lnTo>
                    <a:pt x="718" y="38"/>
                  </a:lnTo>
                  <a:lnTo>
                    <a:pt x="715" y="33"/>
                  </a:lnTo>
                  <a:lnTo>
                    <a:pt x="713" y="27"/>
                  </a:lnTo>
                  <a:lnTo>
                    <a:pt x="709" y="23"/>
                  </a:lnTo>
                  <a:lnTo>
                    <a:pt x="705" y="19"/>
                  </a:lnTo>
                  <a:lnTo>
                    <a:pt x="701" y="14"/>
                  </a:lnTo>
                  <a:lnTo>
                    <a:pt x="697" y="11"/>
                  </a:lnTo>
                  <a:lnTo>
                    <a:pt x="691" y="8"/>
                  </a:lnTo>
                  <a:lnTo>
                    <a:pt x="686" y="6"/>
                  </a:lnTo>
                  <a:lnTo>
                    <a:pt x="681" y="4"/>
                  </a:lnTo>
                  <a:lnTo>
                    <a:pt x="674" y="3"/>
                  </a:lnTo>
                  <a:lnTo>
                    <a:pt x="669" y="2"/>
                  </a:lnTo>
                  <a:lnTo>
                    <a:pt x="663" y="2"/>
                  </a:lnTo>
                  <a:lnTo>
                    <a:pt x="61" y="0"/>
                  </a:lnTo>
                  <a:lnTo>
                    <a:pt x="54" y="2"/>
                  </a:lnTo>
                  <a:lnTo>
                    <a:pt x="48" y="3"/>
                  </a:lnTo>
                  <a:lnTo>
                    <a:pt x="43" y="4"/>
                  </a:lnTo>
                  <a:lnTo>
                    <a:pt x="37" y="6"/>
                  </a:lnTo>
                  <a:lnTo>
                    <a:pt x="32" y="8"/>
                  </a:lnTo>
                  <a:lnTo>
                    <a:pt x="27" y="11"/>
                  </a:lnTo>
                  <a:lnTo>
                    <a:pt x="22" y="14"/>
                  </a:lnTo>
                  <a:lnTo>
                    <a:pt x="18" y="19"/>
                  </a:lnTo>
                  <a:lnTo>
                    <a:pt x="14" y="23"/>
                  </a:lnTo>
                  <a:lnTo>
                    <a:pt x="10" y="27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3" y="43"/>
                  </a:lnTo>
                  <a:lnTo>
                    <a:pt x="2" y="49"/>
                  </a:lnTo>
                  <a:lnTo>
                    <a:pt x="1" y="55"/>
                  </a:lnTo>
                  <a:lnTo>
                    <a:pt x="0" y="62"/>
                  </a:lnTo>
                  <a:lnTo>
                    <a:pt x="0" y="304"/>
                  </a:lnTo>
                  <a:lnTo>
                    <a:pt x="22" y="299"/>
                  </a:lnTo>
                  <a:lnTo>
                    <a:pt x="46" y="294"/>
                  </a:lnTo>
                  <a:lnTo>
                    <a:pt x="68" y="291"/>
                  </a:lnTo>
                  <a:lnTo>
                    <a:pt x="90" y="290"/>
                  </a:lnTo>
                  <a:lnTo>
                    <a:pt x="126" y="288"/>
                  </a:lnTo>
                  <a:lnTo>
                    <a:pt x="151" y="287"/>
                  </a:lnTo>
                  <a:lnTo>
                    <a:pt x="172" y="288"/>
                  </a:lnTo>
                  <a:lnTo>
                    <a:pt x="206" y="289"/>
                  </a:lnTo>
                  <a:lnTo>
                    <a:pt x="225" y="291"/>
                  </a:lnTo>
                  <a:lnTo>
                    <a:pt x="244" y="293"/>
                  </a:lnTo>
                  <a:lnTo>
                    <a:pt x="266" y="297"/>
                  </a:lnTo>
                  <a:lnTo>
                    <a:pt x="286" y="300"/>
                  </a:lnTo>
                  <a:lnTo>
                    <a:pt x="306" y="305"/>
                  </a:lnTo>
                  <a:lnTo>
                    <a:pt x="326" y="312"/>
                  </a:lnTo>
                  <a:lnTo>
                    <a:pt x="344" y="318"/>
                  </a:lnTo>
                  <a:lnTo>
                    <a:pt x="360" y="327"/>
                  </a:lnTo>
                  <a:lnTo>
                    <a:pt x="366" y="332"/>
                  </a:lnTo>
                  <a:lnTo>
                    <a:pt x="373" y="337"/>
                  </a:lnTo>
                  <a:lnTo>
                    <a:pt x="378" y="343"/>
                  </a:lnTo>
                  <a:lnTo>
                    <a:pt x="383" y="349"/>
                  </a:lnTo>
                  <a:lnTo>
                    <a:pt x="387" y="356"/>
                  </a:lnTo>
                  <a:lnTo>
                    <a:pt x="389" y="362"/>
                  </a:lnTo>
                  <a:lnTo>
                    <a:pt x="391" y="369"/>
                  </a:lnTo>
                  <a:lnTo>
                    <a:pt x="391" y="377"/>
                  </a:lnTo>
                  <a:lnTo>
                    <a:pt x="391" y="3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1" name="Freeform 499">
              <a:extLst>
                <a:ext uri="{FF2B5EF4-FFF2-40B4-BE49-F238E27FC236}">
                  <a16:creationId xmlns:a16="http://schemas.microsoft.com/office/drawing/2014/main" id="{A8E6691B-D48E-4F27-BFB8-39275098B1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98613"/>
              <a:ext cx="133350" cy="33338"/>
            </a:xfrm>
            <a:custGeom>
              <a:avLst/>
              <a:gdLst>
                <a:gd name="T0" fmla="*/ 0 w 421"/>
                <a:gd name="T1" fmla="*/ 44 h 104"/>
                <a:gd name="T2" fmla="*/ 2 w 421"/>
                <a:gd name="T3" fmla="*/ 52 h 104"/>
                <a:gd name="T4" fmla="*/ 5 w 421"/>
                <a:gd name="T5" fmla="*/ 56 h 104"/>
                <a:gd name="T6" fmla="*/ 6 w 421"/>
                <a:gd name="T7" fmla="*/ 59 h 104"/>
                <a:gd name="T8" fmla="*/ 11 w 421"/>
                <a:gd name="T9" fmla="*/ 65 h 104"/>
                <a:gd name="T10" fmla="*/ 13 w 421"/>
                <a:gd name="T11" fmla="*/ 65 h 104"/>
                <a:gd name="T12" fmla="*/ 31 w 421"/>
                <a:gd name="T13" fmla="*/ 76 h 104"/>
                <a:gd name="T14" fmla="*/ 32 w 421"/>
                <a:gd name="T15" fmla="*/ 77 h 104"/>
                <a:gd name="T16" fmla="*/ 41 w 421"/>
                <a:gd name="T17" fmla="*/ 80 h 104"/>
                <a:gd name="T18" fmla="*/ 45 w 421"/>
                <a:gd name="T19" fmla="*/ 81 h 104"/>
                <a:gd name="T20" fmla="*/ 53 w 421"/>
                <a:gd name="T21" fmla="*/ 84 h 104"/>
                <a:gd name="T22" fmla="*/ 61 w 421"/>
                <a:gd name="T23" fmla="*/ 86 h 104"/>
                <a:gd name="T24" fmla="*/ 66 w 421"/>
                <a:gd name="T25" fmla="*/ 87 h 104"/>
                <a:gd name="T26" fmla="*/ 98 w 421"/>
                <a:gd name="T27" fmla="*/ 95 h 104"/>
                <a:gd name="T28" fmla="*/ 133 w 421"/>
                <a:gd name="T29" fmla="*/ 99 h 104"/>
                <a:gd name="T30" fmla="*/ 197 w 421"/>
                <a:gd name="T31" fmla="*/ 104 h 104"/>
                <a:gd name="T32" fmla="*/ 211 w 421"/>
                <a:gd name="T33" fmla="*/ 104 h 104"/>
                <a:gd name="T34" fmla="*/ 225 w 421"/>
                <a:gd name="T35" fmla="*/ 104 h 104"/>
                <a:gd name="T36" fmla="*/ 289 w 421"/>
                <a:gd name="T37" fmla="*/ 99 h 104"/>
                <a:gd name="T38" fmla="*/ 322 w 421"/>
                <a:gd name="T39" fmla="*/ 95 h 104"/>
                <a:gd name="T40" fmla="*/ 356 w 421"/>
                <a:gd name="T41" fmla="*/ 87 h 104"/>
                <a:gd name="T42" fmla="*/ 360 w 421"/>
                <a:gd name="T43" fmla="*/ 86 h 104"/>
                <a:gd name="T44" fmla="*/ 368 w 421"/>
                <a:gd name="T45" fmla="*/ 84 h 104"/>
                <a:gd name="T46" fmla="*/ 376 w 421"/>
                <a:gd name="T47" fmla="*/ 81 h 104"/>
                <a:gd name="T48" fmla="*/ 379 w 421"/>
                <a:gd name="T49" fmla="*/ 80 h 104"/>
                <a:gd name="T50" fmla="*/ 390 w 421"/>
                <a:gd name="T51" fmla="*/ 77 h 104"/>
                <a:gd name="T52" fmla="*/ 391 w 421"/>
                <a:gd name="T53" fmla="*/ 76 h 104"/>
                <a:gd name="T54" fmla="*/ 409 w 421"/>
                <a:gd name="T55" fmla="*/ 65 h 104"/>
                <a:gd name="T56" fmla="*/ 409 w 421"/>
                <a:gd name="T57" fmla="*/ 65 h 104"/>
                <a:gd name="T58" fmla="*/ 416 w 421"/>
                <a:gd name="T59" fmla="*/ 59 h 104"/>
                <a:gd name="T60" fmla="*/ 417 w 421"/>
                <a:gd name="T61" fmla="*/ 56 h 104"/>
                <a:gd name="T62" fmla="*/ 420 w 421"/>
                <a:gd name="T63" fmla="*/ 52 h 104"/>
                <a:gd name="T64" fmla="*/ 421 w 421"/>
                <a:gd name="T65" fmla="*/ 44 h 104"/>
                <a:gd name="T66" fmla="*/ 410 w 421"/>
                <a:gd name="T67" fmla="*/ 4 h 104"/>
                <a:gd name="T68" fmla="*/ 386 w 421"/>
                <a:gd name="T69" fmla="*/ 10 h 104"/>
                <a:gd name="T70" fmla="*/ 344 w 421"/>
                <a:gd name="T71" fmla="*/ 19 h 104"/>
                <a:gd name="T72" fmla="*/ 284 w 421"/>
                <a:gd name="T73" fmla="*/ 25 h 104"/>
                <a:gd name="T74" fmla="*/ 231 w 421"/>
                <a:gd name="T75" fmla="*/ 28 h 104"/>
                <a:gd name="T76" fmla="*/ 191 w 421"/>
                <a:gd name="T77" fmla="*/ 28 h 104"/>
                <a:gd name="T78" fmla="*/ 138 w 421"/>
                <a:gd name="T79" fmla="*/ 25 h 104"/>
                <a:gd name="T80" fmla="*/ 78 w 421"/>
                <a:gd name="T81" fmla="*/ 19 h 104"/>
                <a:gd name="T82" fmla="*/ 35 w 421"/>
                <a:gd name="T83" fmla="*/ 10 h 104"/>
                <a:gd name="T84" fmla="*/ 10 w 421"/>
                <a:gd name="T85" fmla="*/ 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21" h="104">
                  <a:moveTo>
                    <a:pt x="0" y="0"/>
                  </a:moveTo>
                  <a:lnTo>
                    <a:pt x="0" y="44"/>
                  </a:lnTo>
                  <a:lnTo>
                    <a:pt x="1" y="48"/>
                  </a:lnTo>
                  <a:lnTo>
                    <a:pt x="2" y="52"/>
                  </a:lnTo>
                  <a:lnTo>
                    <a:pt x="3" y="54"/>
                  </a:lnTo>
                  <a:lnTo>
                    <a:pt x="5" y="56"/>
                  </a:lnTo>
                  <a:lnTo>
                    <a:pt x="5" y="57"/>
                  </a:lnTo>
                  <a:lnTo>
                    <a:pt x="6" y="59"/>
                  </a:lnTo>
                  <a:lnTo>
                    <a:pt x="8" y="62"/>
                  </a:lnTo>
                  <a:lnTo>
                    <a:pt x="11" y="65"/>
                  </a:lnTo>
                  <a:lnTo>
                    <a:pt x="11" y="65"/>
                  </a:lnTo>
                  <a:lnTo>
                    <a:pt x="13" y="65"/>
                  </a:lnTo>
                  <a:lnTo>
                    <a:pt x="20" y="70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32" y="77"/>
                  </a:lnTo>
                  <a:lnTo>
                    <a:pt x="36" y="79"/>
                  </a:lnTo>
                  <a:lnTo>
                    <a:pt x="41" y="80"/>
                  </a:lnTo>
                  <a:lnTo>
                    <a:pt x="44" y="81"/>
                  </a:lnTo>
                  <a:lnTo>
                    <a:pt x="45" y="81"/>
                  </a:lnTo>
                  <a:lnTo>
                    <a:pt x="49" y="83"/>
                  </a:lnTo>
                  <a:lnTo>
                    <a:pt x="53" y="84"/>
                  </a:lnTo>
                  <a:lnTo>
                    <a:pt x="58" y="85"/>
                  </a:lnTo>
                  <a:lnTo>
                    <a:pt x="61" y="86"/>
                  </a:lnTo>
                  <a:lnTo>
                    <a:pt x="64" y="87"/>
                  </a:lnTo>
                  <a:lnTo>
                    <a:pt x="66" y="87"/>
                  </a:lnTo>
                  <a:lnTo>
                    <a:pt x="82" y="92"/>
                  </a:lnTo>
                  <a:lnTo>
                    <a:pt x="98" y="95"/>
                  </a:lnTo>
                  <a:lnTo>
                    <a:pt x="115" y="97"/>
                  </a:lnTo>
                  <a:lnTo>
                    <a:pt x="133" y="99"/>
                  </a:lnTo>
                  <a:lnTo>
                    <a:pt x="166" y="102"/>
                  </a:lnTo>
                  <a:lnTo>
                    <a:pt x="197" y="104"/>
                  </a:lnTo>
                  <a:lnTo>
                    <a:pt x="203" y="104"/>
                  </a:lnTo>
                  <a:lnTo>
                    <a:pt x="211" y="104"/>
                  </a:lnTo>
                  <a:lnTo>
                    <a:pt x="217" y="104"/>
                  </a:lnTo>
                  <a:lnTo>
                    <a:pt x="225" y="104"/>
                  </a:lnTo>
                  <a:lnTo>
                    <a:pt x="255" y="102"/>
                  </a:lnTo>
                  <a:lnTo>
                    <a:pt x="289" y="99"/>
                  </a:lnTo>
                  <a:lnTo>
                    <a:pt x="306" y="97"/>
                  </a:lnTo>
                  <a:lnTo>
                    <a:pt x="322" y="95"/>
                  </a:lnTo>
                  <a:lnTo>
                    <a:pt x="340" y="92"/>
                  </a:lnTo>
                  <a:lnTo>
                    <a:pt x="356" y="87"/>
                  </a:lnTo>
                  <a:lnTo>
                    <a:pt x="358" y="87"/>
                  </a:lnTo>
                  <a:lnTo>
                    <a:pt x="360" y="86"/>
                  </a:lnTo>
                  <a:lnTo>
                    <a:pt x="364" y="85"/>
                  </a:lnTo>
                  <a:lnTo>
                    <a:pt x="368" y="84"/>
                  </a:lnTo>
                  <a:lnTo>
                    <a:pt x="372" y="83"/>
                  </a:lnTo>
                  <a:lnTo>
                    <a:pt x="376" y="81"/>
                  </a:lnTo>
                  <a:lnTo>
                    <a:pt x="378" y="81"/>
                  </a:lnTo>
                  <a:lnTo>
                    <a:pt x="379" y="80"/>
                  </a:lnTo>
                  <a:lnTo>
                    <a:pt x="385" y="79"/>
                  </a:lnTo>
                  <a:lnTo>
                    <a:pt x="390" y="77"/>
                  </a:lnTo>
                  <a:lnTo>
                    <a:pt x="390" y="76"/>
                  </a:lnTo>
                  <a:lnTo>
                    <a:pt x="391" y="76"/>
                  </a:lnTo>
                  <a:lnTo>
                    <a:pt x="401" y="70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13" y="62"/>
                  </a:lnTo>
                  <a:lnTo>
                    <a:pt x="416" y="59"/>
                  </a:lnTo>
                  <a:lnTo>
                    <a:pt x="417" y="57"/>
                  </a:lnTo>
                  <a:lnTo>
                    <a:pt x="417" y="56"/>
                  </a:lnTo>
                  <a:lnTo>
                    <a:pt x="419" y="54"/>
                  </a:lnTo>
                  <a:lnTo>
                    <a:pt x="420" y="52"/>
                  </a:lnTo>
                  <a:lnTo>
                    <a:pt x="421" y="48"/>
                  </a:lnTo>
                  <a:lnTo>
                    <a:pt x="421" y="44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7"/>
                  </a:lnTo>
                  <a:lnTo>
                    <a:pt x="386" y="10"/>
                  </a:lnTo>
                  <a:lnTo>
                    <a:pt x="373" y="13"/>
                  </a:lnTo>
                  <a:lnTo>
                    <a:pt x="344" y="19"/>
                  </a:lnTo>
                  <a:lnTo>
                    <a:pt x="314" y="23"/>
                  </a:lnTo>
                  <a:lnTo>
                    <a:pt x="284" y="25"/>
                  </a:lnTo>
                  <a:lnTo>
                    <a:pt x="256" y="27"/>
                  </a:lnTo>
                  <a:lnTo>
                    <a:pt x="231" y="28"/>
                  </a:lnTo>
                  <a:lnTo>
                    <a:pt x="211" y="28"/>
                  </a:lnTo>
                  <a:lnTo>
                    <a:pt x="191" y="28"/>
                  </a:lnTo>
                  <a:lnTo>
                    <a:pt x="166" y="27"/>
                  </a:lnTo>
                  <a:lnTo>
                    <a:pt x="138" y="25"/>
                  </a:lnTo>
                  <a:lnTo>
                    <a:pt x="108" y="23"/>
                  </a:lnTo>
                  <a:lnTo>
                    <a:pt x="78" y="19"/>
                  </a:lnTo>
                  <a:lnTo>
                    <a:pt x="49" y="13"/>
                  </a:lnTo>
                  <a:lnTo>
                    <a:pt x="35" y="10"/>
                  </a:lnTo>
                  <a:lnTo>
                    <a:pt x="22" y="7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2" name="Freeform 500">
              <a:extLst>
                <a:ext uri="{FF2B5EF4-FFF2-40B4-BE49-F238E27FC236}">
                  <a16:creationId xmlns:a16="http://schemas.microsoft.com/office/drawing/2014/main" id="{5839F0C0-A423-4156-855A-E09BBC0F1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474788"/>
              <a:ext cx="133350" cy="28575"/>
            </a:xfrm>
            <a:custGeom>
              <a:avLst/>
              <a:gdLst>
                <a:gd name="T0" fmla="*/ 420 w 420"/>
                <a:gd name="T1" fmla="*/ 58 h 90"/>
                <a:gd name="T2" fmla="*/ 419 w 420"/>
                <a:gd name="T3" fmla="*/ 55 h 90"/>
                <a:gd name="T4" fmla="*/ 418 w 420"/>
                <a:gd name="T5" fmla="*/ 50 h 90"/>
                <a:gd name="T6" fmla="*/ 416 w 420"/>
                <a:gd name="T7" fmla="*/ 47 h 90"/>
                <a:gd name="T8" fmla="*/ 413 w 420"/>
                <a:gd name="T9" fmla="*/ 44 h 90"/>
                <a:gd name="T10" fmla="*/ 406 w 420"/>
                <a:gd name="T11" fmla="*/ 37 h 90"/>
                <a:gd name="T12" fmla="*/ 397 w 420"/>
                <a:gd name="T13" fmla="*/ 32 h 90"/>
                <a:gd name="T14" fmla="*/ 386 w 420"/>
                <a:gd name="T15" fmla="*/ 27 h 90"/>
                <a:gd name="T16" fmla="*/ 374 w 420"/>
                <a:gd name="T17" fmla="*/ 22 h 90"/>
                <a:gd name="T18" fmla="*/ 360 w 420"/>
                <a:gd name="T19" fmla="*/ 18 h 90"/>
                <a:gd name="T20" fmla="*/ 345 w 420"/>
                <a:gd name="T21" fmla="*/ 14 h 90"/>
                <a:gd name="T22" fmla="*/ 313 w 420"/>
                <a:gd name="T23" fmla="*/ 9 h 90"/>
                <a:gd name="T24" fmla="*/ 277 w 420"/>
                <a:gd name="T25" fmla="*/ 3 h 90"/>
                <a:gd name="T26" fmla="*/ 243 w 420"/>
                <a:gd name="T27" fmla="*/ 1 h 90"/>
                <a:gd name="T28" fmla="*/ 210 w 420"/>
                <a:gd name="T29" fmla="*/ 0 h 90"/>
                <a:gd name="T30" fmla="*/ 172 w 420"/>
                <a:gd name="T31" fmla="*/ 1 h 90"/>
                <a:gd name="T32" fmla="*/ 133 w 420"/>
                <a:gd name="T33" fmla="*/ 4 h 90"/>
                <a:gd name="T34" fmla="*/ 113 w 420"/>
                <a:gd name="T35" fmla="*/ 7 h 90"/>
                <a:gd name="T36" fmla="*/ 94 w 420"/>
                <a:gd name="T37" fmla="*/ 11 h 90"/>
                <a:gd name="T38" fmla="*/ 76 w 420"/>
                <a:gd name="T39" fmla="*/ 14 h 90"/>
                <a:gd name="T40" fmla="*/ 59 w 420"/>
                <a:gd name="T41" fmla="*/ 18 h 90"/>
                <a:gd name="T42" fmla="*/ 59 w 420"/>
                <a:gd name="T43" fmla="*/ 18 h 90"/>
                <a:gd name="T44" fmla="*/ 55 w 420"/>
                <a:gd name="T45" fmla="*/ 19 h 90"/>
                <a:gd name="T46" fmla="*/ 52 w 420"/>
                <a:gd name="T47" fmla="*/ 20 h 90"/>
                <a:gd name="T48" fmla="*/ 48 w 420"/>
                <a:gd name="T49" fmla="*/ 21 h 90"/>
                <a:gd name="T50" fmla="*/ 44 w 420"/>
                <a:gd name="T51" fmla="*/ 22 h 90"/>
                <a:gd name="T52" fmla="*/ 43 w 420"/>
                <a:gd name="T53" fmla="*/ 24 h 90"/>
                <a:gd name="T54" fmla="*/ 40 w 420"/>
                <a:gd name="T55" fmla="*/ 24 h 90"/>
                <a:gd name="T56" fmla="*/ 35 w 420"/>
                <a:gd name="T57" fmla="*/ 26 h 90"/>
                <a:gd name="T58" fmla="*/ 31 w 420"/>
                <a:gd name="T59" fmla="*/ 28 h 90"/>
                <a:gd name="T60" fmla="*/ 30 w 420"/>
                <a:gd name="T61" fmla="*/ 28 h 90"/>
                <a:gd name="T62" fmla="*/ 30 w 420"/>
                <a:gd name="T63" fmla="*/ 28 h 90"/>
                <a:gd name="T64" fmla="*/ 19 w 420"/>
                <a:gd name="T65" fmla="*/ 33 h 90"/>
                <a:gd name="T66" fmla="*/ 12 w 420"/>
                <a:gd name="T67" fmla="*/ 40 h 90"/>
                <a:gd name="T68" fmla="*/ 10 w 420"/>
                <a:gd name="T69" fmla="*/ 40 h 90"/>
                <a:gd name="T70" fmla="*/ 10 w 420"/>
                <a:gd name="T71" fmla="*/ 40 h 90"/>
                <a:gd name="T72" fmla="*/ 7 w 420"/>
                <a:gd name="T73" fmla="*/ 43 h 90"/>
                <a:gd name="T74" fmla="*/ 5 w 420"/>
                <a:gd name="T75" fmla="*/ 46 h 90"/>
                <a:gd name="T76" fmla="*/ 4 w 420"/>
                <a:gd name="T77" fmla="*/ 47 h 90"/>
                <a:gd name="T78" fmla="*/ 4 w 420"/>
                <a:gd name="T79" fmla="*/ 48 h 90"/>
                <a:gd name="T80" fmla="*/ 2 w 420"/>
                <a:gd name="T81" fmla="*/ 50 h 90"/>
                <a:gd name="T82" fmla="*/ 1 w 420"/>
                <a:gd name="T83" fmla="*/ 52 h 90"/>
                <a:gd name="T84" fmla="*/ 0 w 420"/>
                <a:gd name="T85" fmla="*/ 56 h 90"/>
                <a:gd name="T86" fmla="*/ 0 w 420"/>
                <a:gd name="T87" fmla="*/ 58 h 90"/>
                <a:gd name="T88" fmla="*/ 8 w 420"/>
                <a:gd name="T89" fmla="*/ 63 h 90"/>
                <a:gd name="T90" fmla="*/ 22 w 420"/>
                <a:gd name="T91" fmla="*/ 68 h 90"/>
                <a:gd name="T92" fmla="*/ 43 w 420"/>
                <a:gd name="T93" fmla="*/ 74 h 90"/>
                <a:gd name="T94" fmla="*/ 67 w 420"/>
                <a:gd name="T95" fmla="*/ 78 h 90"/>
                <a:gd name="T96" fmla="*/ 96 w 420"/>
                <a:gd name="T97" fmla="*/ 84 h 90"/>
                <a:gd name="T98" fmla="*/ 131 w 420"/>
                <a:gd name="T99" fmla="*/ 87 h 90"/>
                <a:gd name="T100" fmla="*/ 168 w 420"/>
                <a:gd name="T101" fmla="*/ 90 h 90"/>
                <a:gd name="T102" fmla="*/ 210 w 420"/>
                <a:gd name="T103" fmla="*/ 90 h 90"/>
                <a:gd name="T104" fmla="*/ 251 w 420"/>
                <a:gd name="T105" fmla="*/ 90 h 90"/>
                <a:gd name="T106" fmla="*/ 289 w 420"/>
                <a:gd name="T107" fmla="*/ 87 h 90"/>
                <a:gd name="T108" fmla="*/ 323 w 420"/>
                <a:gd name="T109" fmla="*/ 84 h 90"/>
                <a:gd name="T110" fmla="*/ 353 w 420"/>
                <a:gd name="T111" fmla="*/ 78 h 90"/>
                <a:gd name="T112" fmla="*/ 377 w 420"/>
                <a:gd name="T113" fmla="*/ 74 h 90"/>
                <a:gd name="T114" fmla="*/ 398 w 420"/>
                <a:gd name="T115" fmla="*/ 68 h 90"/>
                <a:gd name="T116" fmla="*/ 412 w 420"/>
                <a:gd name="T117" fmla="*/ 62 h 90"/>
                <a:gd name="T118" fmla="*/ 420 w 420"/>
                <a:gd name="T119" fmla="*/ 5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20" h="90">
                  <a:moveTo>
                    <a:pt x="420" y="58"/>
                  </a:moveTo>
                  <a:lnTo>
                    <a:pt x="419" y="55"/>
                  </a:lnTo>
                  <a:lnTo>
                    <a:pt x="418" y="50"/>
                  </a:lnTo>
                  <a:lnTo>
                    <a:pt x="416" y="47"/>
                  </a:lnTo>
                  <a:lnTo>
                    <a:pt x="413" y="44"/>
                  </a:lnTo>
                  <a:lnTo>
                    <a:pt x="406" y="37"/>
                  </a:lnTo>
                  <a:lnTo>
                    <a:pt x="397" y="32"/>
                  </a:lnTo>
                  <a:lnTo>
                    <a:pt x="386" y="27"/>
                  </a:lnTo>
                  <a:lnTo>
                    <a:pt x="374" y="22"/>
                  </a:lnTo>
                  <a:lnTo>
                    <a:pt x="360" y="18"/>
                  </a:lnTo>
                  <a:lnTo>
                    <a:pt x="345" y="14"/>
                  </a:lnTo>
                  <a:lnTo>
                    <a:pt x="313" y="9"/>
                  </a:lnTo>
                  <a:lnTo>
                    <a:pt x="277" y="3"/>
                  </a:lnTo>
                  <a:lnTo>
                    <a:pt x="243" y="1"/>
                  </a:lnTo>
                  <a:lnTo>
                    <a:pt x="210" y="0"/>
                  </a:lnTo>
                  <a:lnTo>
                    <a:pt x="172" y="1"/>
                  </a:lnTo>
                  <a:lnTo>
                    <a:pt x="133" y="4"/>
                  </a:lnTo>
                  <a:lnTo>
                    <a:pt x="113" y="7"/>
                  </a:lnTo>
                  <a:lnTo>
                    <a:pt x="94" y="11"/>
                  </a:lnTo>
                  <a:lnTo>
                    <a:pt x="76" y="14"/>
                  </a:lnTo>
                  <a:lnTo>
                    <a:pt x="59" y="18"/>
                  </a:lnTo>
                  <a:lnTo>
                    <a:pt x="59" y="18"/>
                  </a:lnTo>
                  <a:lnTo>
                    <a:pt x="55" y="19"/>
                  </a:lnTo>
                  <a:lnTo>
                    <a:pt x="52" y="20"/>
                  </a:lnTo>
                  <a:lnTo>
                    <a:pt x="48" y="21"/>
                  </a:lnTo>
                  <a:lnTo>
                    <a:pt x="44" y="22"/>
                  </a:lnTo>
                  <a:lnTo>
                    <a:pt x="43" y="24"/>
                  </a:lnTo>
                  <a:lnTo>
                    <a:pt x="40" y="24"/>
                  </a:lnTo>
                  <a:lnTo>
                    <a:pt x="35" y="26"/>
                  </a:lnTo>
                  <a:lnTo>
                    <a:pt x="31" y="28"/>
                  </a:lnTo>
                  <a:lnTo>
                    <a:pt x="30" y="28"/>
                  </a:lnTo>
                  <a:lnTo>
                    <a:pt x="30" y="28"/>
                  </a:lnTo>
                  <a:lnTo>
                    <a:pt x="19" y="33"/>
                  </a:lnTo>
                  <a:lnTo>
                    <a:pt x="12" y="40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7" y="43"/>
                  </a:lnTo>
                  <a:lnTo>
                    <a:pt x="5" y="46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2" y="50"/>
                  </a:lnTo>
                  <a:lnTo>
                    <a:pt x="1" y="52"/>
                  </a:lnTo>
                  <a:lnTo>
                    <a:pt x="0" y="56"/>
                  </a:lnTo>
                  <a:lnTo>
                    <a:pt x="0" y="58"/>
                  </a:lnTo>
                  <a:lnTo>
                    <a:pt x="8" y="63"/>
                  </a:lnTo>
                  <a:lnTo>
                    <a:pt x="22" y="68"/>
                  </a:lnTo>
                  <a:lnTo>
                    <a:pt x="43" y="74"/>
                  </a:lnTo>
                  <a:lnTo>
                    <a:pt x="67" y="78"/>
                  </a:lnTo>
                  <a:lnTo>
                    <a:pt x="96" y="84"/>
                  </a:lnTo>
                  <a:lnTo>
                    <a:pt x="131" y="87"/>
                  </a:lnTo>
                  <a:lnTo>
                    <a:pt x="168" y="90"/>
                  </a:lnTo>
                  <a:lnTo>
                    <a:pt x="210" y="90"/>
                  </a:lnTo>
                  <a:lnTo>
                    <a:pt x="251" y="90"/>
                  </a:lnTo>
                  <a:lnTo>
                    <a:pt x="289" y="87"/>
                  </a:lnTo>
                  <a:lnTo>
                    <a:pt x="323" y="84"/>
                  </a:lnTo>
                  <a:lnTo>
                    <a:pt x="353" y="78"/>
                  </a:lnTo>
                  <a:lnTo>
                    <a:pt x="377" y="74"/>
                  </a:lnTo>
                  <a:lnTo>
                    <a:pt x="398" y="68"/>
                  </a:lnTo>
                  <a:lnTo>
                    <a:pt x="412" y="62"/>
                  </a:lnTo>
                  <a:lnTo>
                    <a:pt x="420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3" name="Freeform 501">
              <a:extLst>
                <a:ext uri="{FF2B5EF4-FFF2-40B4-BE49-F238E27FC236}">
                  <a16:creationId xmlns:a16="http://schemas.microsoft.com/office/drawing/2014/main" id="{DBE218E2-EA47-43F9-AF50-BC58701E5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03363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7 h 75"/>
                <a:gd name="T10" fmla="*/ 67 w 421"/>
                <a:gd name="T11" fmla="*/ 62 h 75"/>
                <a:gd name="T12" fmla="*/ 97 w 421"/>
                <a:gd name="T13" fmla="*/ 68 h 75"/>
                <a:gd name="T14" fmla="*/ 130 w 421"/>
                <a:gd name="T15" fmla="*/ 71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1 h 75"/>
                <a:gd name="T24" fmla="*/ 325 w 421"/>
                <a:gd name="T25" fmla="*/ 68 h 75"/>
                <a:gd name="T26" fmla="*/ 355 w 421"/>
                <a:gd name="T27" fmla="*/ 62 h 75"/>
                <a:gd name="T28" fmla="*/ 379 w 421"/>
                <a:gd name="T29" fmla="*/ 57 h 75"/>
                <a:gd name="T30" fmla="*/ 399 w 421"/>
                <a:gd name="T31" fmla="*/ 52 h 75"/>
                <a:gd name="T32" fmla="*/ 414 w 421"/>
                <a:gd name="T33" fmla="*/ 46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8 h 75"/>
                <a:gd name="T42" fmla="*/ 386 w 421"/>
                <a:gd name="T43" fmla="*/ 12 h 75"/>
                <a:gd name="T44" fmla="*/ 373 w 421"/>
                <a:gd name="T45" fmla="*/ 14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8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8 h 75"/>
                <a:gd name="T74" fmla="*/ 10 w 421"/>
                <a:gd name="T75" fmla="*/ 4 h 75"/>
                <a:gd name="T76" fmla="*/ 0 w 421"/>
                <a:gd name="T77" fmla="*/ 0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7"/>
                  </a:lnTo>
                  <a:lnTo>
                    <a:pt x="67" y="62"/>
                  </a:lnTo>
                  <a:lnTo>
                    <a:pt x="97" y="68"/>
                  </a:lnTo>
                  <a:lnTo>
                    <a:pt x="130" y="71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1"/>
                  </a:lnTo>
                  <a:lnTo>
                    <a:pt x="325" y="68"/>
                  </a:lnTo>
                  <a:lnTo>
                    <a:pt x="355" y="62"/>
                  </a:lnTo>
                  <a:lnTo>
                    <a:pt x="379" y="57"/>
                  </a:lnTo>
                  <a:lnTo>
                    <a:pt x="399" y="52"/>
                  </a:lnTo>
                  <a:lnTo>
                    <a:pt x="414" y="46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8"/>
                  </a:lnTo>
                  <a:lnTo>
                    <a:pt x="386" y="12"/>
                  </a:lnTo>
                  <a:lnTo>
                    <a:pt x="373" y="14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8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8"/>
                  </a:lnTo>
                  <a:lnTo>
                    <a:pt x="1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4" name="Freeform 502">
              <a:extLst>
                <a:ext uri="{FF2B5EF4-FFF2-40B4-BE49-F238E27FC236}">
                  <a16:creationId xmlns:a16="http://schemas.microsoft.com/office/drawing/2014/main" id="{FB53FF3C-7C81-42D7-820B-328F83511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74800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8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8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1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8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8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5" name="Freeform 503">
              <a:extLst>
                <a:ext uri="{FF2B5EF4-FFF2-40B4-BE49-F238E27FC236}">
                  <a16:creationId xmlns:a16="http://schemas.microsoft.com/office/drawing/2014/main" id="{B2AFC166-3690-491C-BE8E-D33917F47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50988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7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7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6" name="Freeform 504">
              <a:extLst>
                <a:ext uri="{FF2B5EF4-FFF2-40B4-BE49-F238E27FC236}">
                  <a16:creationId xmlns:a16="http://schemas.microsoft.com/office/drawing/2014/main" id="{9740A41F-89FD-44D8-9D1F-332E7D538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27175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8 h 75"/>
                <a:gd name="T10" fmla="*/ 67 w 421"/>
                <a:gd name="T11" fmla="*/ 63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3 h 75"/>
                <a:gd name="T28" fmla="*/ 379 w 421"/>
                <a:gd name="T29" fmla="*/ 58 h 75"/>
                <a:gd name="T30" fmla="*/ 399 w 421"/>
                <a:gd name="T31" fmla="*/ 52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4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8"/>
                  </a:lnTo>
                  <a:lnTo>
                    <a:pt x="67" y="63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3"/>
                  </a:lnTo>
                  <a:lnTo>
                    <a:pt x="379" y="58"/>
                  </a:lnTo>
                  <a:lnTo>
                    <a:pt x="399" y="52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67" name="Group 66" descr="Icon of abacus. ">
            <a:extLst>
              <a:ext uri="{FF2B5EF4-FFF2-40B4-BE49-F238E27FC236}">
                <a16:creationId xmlns:a16="http://schemas.microsoft.com/office/drawing/2014/main" id="{201B668C-AA5F-454E-8E64-CEA32A839FB8}"/>
              </a:ext>
            </a:extLst>
          </p:cNvPr>
          <p:cNvGrpSpPr/>
          <p:nvPr/>
        </p:nvGrpSpPr>
        <p:grpSpPr>
          <a:xfrm>
            <a:off x="7319723" y="2069072"/>
            <a:ext cx="509806" cy="382447"/>
            <a:chOff x="877888" y="771525"/>
            <a:chExt cx="287338" cy="287338"/>
          </a:xfrm>
          <a:solidFill>
            <a:schemeClr val="bg1"/>
          </a:solidFill>
        </p:grpSpPr>
        <p:sp>
          <p:nvSpPr>
            <p:cNvPr id="68" name="Freeform 324">
              <a:extLst>
                <a:ext uri="{FF2B5EF4-FFF2-40B4-BE49-F238E27FC236}">
                  <a16:creationId xmlns:a16="http://schemas.microsoft.com/office/drawing/2014/main" id="{EEBBB4D9-8AD5-4868-B9F5-568F0C326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888" y="771525"/>
              <a:ext cx="61913" cy="287338"/>
            </a:xfrm>
            <a:custGeom>
              <a:avLst/>
              <a:gdLst>
                <a:gd name="T0" fmla="*/ 0 w 196"/>
                <a:gd name="T1" fmla="*/ 888 h 903"/>
                <a:gd name="T2" fmla="*/ 1 w 196"/>
                <a:gd name="T3" fmla="*/ 895 h 903"/>
                <a:gd name="T4" fmla="*/ 4 w 196"/>
                <a:gd name="T5" fmla="*/ 899 h 903"/>
                <a:gd name="T6" fmla="*/ 10 w 196"/>
                <a:gd name="T7" fmla="*/ 902 h 903"/>
                <a:gd name="T8" fmla="*/ 15 w 196"/>
                <a:gd name="T9" fmla="*/ 903 h 903"/>
                <a:gd name="T10" fmla="*/ 196 w 196"/>
                <a:gd name="T11" fmla="*/ 798 h 903"/>
                <a:gd name="T12" fmla="*/ 160 w 196"/>
                <a:gd name="T13" fmla="*/ 797 h 903"/>
                <a:gd name="T14" fmla="*/ 149 w 196"/>
                <a:gd name="T15" fmla="*/ 793 h 903"/>
                <a:gd name="T16" fmla="*/ 141 w 196"/>
                <a:gd name="T17" fmla="*/ 785 h 903"/>
                <a:gd name="T18" fmla="*/ 136 w 196"/>
                <a:gd name="T19" fmla="*/ 774 h 903"/>
                <a:gd name="T20" fmla="*/ 136 w 196"/>
                <a:gd name="T21" fmla="*/ 738 h 903"/>
                <a:gd name="T22" fmla="*/ 138 w 196"/>
                <a:gd name="T23" fmla="*/ 726 h 903"/>
                <a:gd name="T24" fmla="*/ 145 w 196"/>
                <a:gd name="T25" fmla="*/ 717 h 903"/>
                <a:gd name="T26" fmla="*/ 155 w 196"/>
                <a:gd name="T27" fmla="*/ 710 h 903"/>
                <a:gd name="T28" fmla="*/ 166 w 196"/>
                <a:gd name="T29" fmla="*/ 708 h 903"/>
                <a:gd name="T30" fmla="*/ 196 w 196"/>
                <a:gd name="T31" fmla="*/ 346 h 903"/>
                <a:gd name="T32" fmla="*/ 160 w 196"/>
                <a:gd name="T33" fmla="*/ 345 h 903"/>
                <a:gd name="T34" fmla="*/ 149 w 196"/>
                <a:gd name="T35" fmla="*/ 341 h 903"/>
                <a:gd name="T36" fmla="*/ 141 w 196"/>
                <a:gd name="T37" fmla="*/ 333 h 903"/>
                <a:gd name="T38" fmla="*/ 136 w 196"/>
                <a:gd name="T39" fmla="*/ 322 h 903"/>
                <a:gd name="T40" fmla="*/ 136 w 196"/>
                <a:gd name="T41" fmla="*/ 286 h 903"/>
                <a:gd name="T42" fmla="*/ 138 w 196"/>
                <a:gd name="T43" fmla="*/ 275 h 903"/>
                <a:gd name="T44" fmla="*/ 145 w 196"/>
                <a:gd name="T45" fmla="*/ 265 h 903"/>
                <a:gd name="T46" fmla="*/ 155 w 196"/>
                <a:gd name="T47" fmla="*/ 259 h 903"/>
                <a:gd name="T48" fmla="*/ 166 w 196"/>
                <a:gd name="T49" fmla="*/ 256 h 903"/>
                <a:gd name="T50" fmla="*/ 196 w 196"/>
                <a:gd name="T51" fmla="*/ 196 h 903"/>
                <a:gd name="T52" fmla="*/ 160 w 196"/>
                <a:gd name="T53" fmla="*/ 195 h 903"/>
                <a:gd name="T54" fmla="*/ 149 w 196"/>
                <a:gd name="T55" fmla="*/ 191 h 903"/>
                <a:gd name="T56" fmla="*/ 141 w 196"/>
                <a:gd name="T57" fmla="*/ 182 h 903"/>
                <a:gd name="T58" fmla="*/ 136 w 196"/>
                <a:gd name="T59" fmla="*/ 172 h 903"/>
                <a:gd name="T60" fmla="*/ 136 w 196"/>
                <a:gd name="T61" fmla="*/ 135 h 903"/>
                <a:gd name="T62" fmla="*/ 138 w 196"/>
                <a:gd name="T63" fmla="*/ 123 h 903"/>
                <a:gd name="T64" fmla="*/ 145 w 196"/>
                <a:gd name="T65" fmla="*/ 115 h 903"/>
                <a:gd name="T66" fmla="*/ 155 w 196"/>
                <a:gd name="T67" fmla="*/ 108 h 903"/>
                <a:gd name="T68" fmla="*/ 166 w 196"/>
                <a:gd name="T69" fmla="*/ 105 h 903"/>
                <a:gd name="T70" fmla="*/ 196 w 196"/>
                <a:gd name="T71" fmla="*/ 0 h 903"/>
                <a:gd name="T72" fmla="*/ 12 w 196"/>
                <a:gd name="T73" fmla="*/ 0 h 903"/>
                <a:gd name="T74" fmla="*/ 7 w 196"/>
                <a:gd name="T75" fmla="*/ 2 h 903"/>
                <a:gd name="T76" fmla="*/ 3 w 196"/>
                <a:gd name="T77" fmla="*/ 6 h 903"/>
                <a:gd name="T78" fmla="*/ 1 w 196"/>
                <a:gd name="T79" fmla="*/ 12 h 903"/>
                <a:gd name="T80" fmla="*/ 0 w 196"/>
                <a:gd name="T81" fmla="*/ 15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6" h="903">
                  <a:moveTo>
                    <a:pt x="0" y="15"/>
                  </a:moveTo>
                  <a:lnTo>
                    <a:pt x="0" y="888"/>
                  </a:lnTo>
                  <a:lnTo>
                    <a:pt x="1" y="891"/>
                  </a:lnTo>
                  <a:lnTo>
                    <a:pt x="1" y="895"/>
                  </a:lnTo>
                  <a:lnTo>
                    <a:pt x="3" y="897"/>
                  </a:lnTo>
                  <a:lnTo>
                    <a:pt x="4" y="899"/>
                  </a:lnTo>
                  <a:lnTo>
                    <a:pt x="7" y="901"/>
                  </a:lnTo>
                  <a:lnTo>
                    <a:pt x="10" y="902"/>
                  </a:lnTo>
                  <a:lnTo>
                    <a:pt x="12" y="903"/>
                  </a:lnTo>
                  <a:lnTo>
                    <a:pt x="15" y="903"/>
                  </a:lnTo>
                  <a:lnTo>
                    <a:pt x="196" y="903"/>
                  </a:lnTo>
                  <a:lnTo>
                    <a:pt x="196" y="798"/>
                  </a:lnTo>
                  <a:lnTo>
                    <a:pt x="166" y="798"/>
                  </a:lnTo>
                  <a:lnTo>
                    <a:pt x="160" y="797"/>
                  </a:lnTo>
                  <a:lnTo>
                    <a:pt x="155" y="796"/>
                  </a:lnTo>
                  <a:lnTo>
                    <a:pt x="149" y="793"/>
                  </a:lnTo>
                  <a:lnTo>
                    <a:pt x="145" y="789"/>
                  </a:lnTo>
                  <a:lnTo>
                    <a:pt x="141" y="785"/>
                  </a:lnTo>
                  <a:lnTo>
                    <a:pt x="138" y="780"/>
                  </a:lnTo>
                  <a:lnTo>
                    <a:pt x="136" y="774"/>
                  </a:lnTo>
                  <a:lnTo>
                    <a:pt x="136" y="768"/>
                  </a:lnTo>
                  <a:lnTo>
                    <a:pt x="136" y="738"/>
                  </a:lnTo>
                  <a:lnTo>
                    <a:pt x="136" y="732"/>
                  </a:lnTo>
                  <a:lnTo>
                    <a:pt x="138" y="726"/>
                  </a:lnTo>
                  <a:lnTo>
                    <a:pt x="141" y="721"/>
                  </a:lnTo>
                  <a:lnTo>
                    <a:pt x="145" y="717"/>
                  </a:lnTo>
                  <a:lnTo>
                    <a:pt x="149" y="713"/>
                  </a:lnTo>
                  <a:lnTo>
                    <a:pt x="155" y="710"/>
                  </a:lnTo>
                  <a:lnTo>
                    <a:pt x="160" y="708"/>
                  </a:lnTo>
                  <a:lnTo>
                    <a:pt x="166" y="708"/>
                  </a:lnTo>
                  <a:lnTo>
                    <a:pt x="196" y="708"/>
                  </a:lnTo>
                  <a:lnTo>
                    <a:pt x="196" y="346"/>
                  </a:lnTo>
                  <a:lnTo>
                    <a:pt x="166" y="346"/>
                  </a:lnTo>
                  <a:lnTo>
                    <a:pt x="160" y="345"/>
                  </a:lnTo>
                  <a:lnTo>
                    <a:pt x="155" y="344"/>
                  </a:lnTo>
                  <a:lnTo>
                    <a:pt x="149" y="341"/>
                  </a:lnTo>
                  <a:lnTo>
                    <a:pt x="145" y="338"/>
                  </a:lnTo>
                  <a:lnTo>
                    <a:pt x="141" y="333"/>
                  </a:lnTo>
                  <a:lnTo>
                    <a:pt x="138" y="328"/>
                  </a:lnTo>
                  <a:lnTo>
                    <a:pt x="136" y="322"/>
                  </a:lnTo>
                  <a:lnTo>
                    <a:pt x="136" y="316"/>
                  </a:lnTo>
                  <a:lnTo>
                    <a:pt x="136" y="286"/>
                  </a:lnTo>
                  <a:lnTo>
                    <a:pt x="136" y="280"/>
                  </a:lnTo>
                  <a:lnTo>
                    <a:pt x="138" y="275"/>
                  </a:lnTo>
                  <a:lnTo>
                    <a:pt x="141" y="269"/>
                  </a:lnTo>
                  <a:lnTo>
                    <a:pt x="145" y="265"/>
                  </a:lnTo>
                  <a:lnTo>
                    <a:pt x="149" y="261"/>
                  </a:lnTo>
                  <a:lnTo>
                    <a:pt x="155" y="259"/>
                  </a:lnTo>
                  <a:lnTo>
                    <a:pt x="160" y="256"/>
                  </a:lnTo>
                  <a:lnTo>
                    <a:pt x="166" y="256"/>
                  </a:lnTo>
                  <a:lnTo>
                    <a:pt x="196" y="256"/>
                  </a:lnTo>
                  <a:lnTo>
                    <a:pt x="196" y="196"/>
                  </a:lnTo>
                  <a:lnTo>
                    <a:pt x="166" y="196"/>
                  </a:lnTo>
                  <a:lnTo>
                    <a:pt x="160" y="195"/>
                  </a:lnTo>
                  <a:lnTo>
                    <a:pt x="155" y="193"/>
                  </a:lnTo>
                  <a:lnTo>
                    <a:pt x="149" y="191"/>
                  </a:lnTo>
                  <a:lnTo>
                    <a:pt x="145" y="187"/>
                  </a:lnTo>
                  <a:lnTo>
                    <a:pt x="141" y="182"/>
                  </a:lnTo>
                  <a:lnTo>
                    <a:pt x="138" y="177"/>
                  </a:lnTo>
                  <a:lnTo>
                    <a:pt x="136" y="172"/>
                  </a:lnTo>
                  <a:lnTo>
                    <a:pt x="136" y="165"/>
                  </a:lnTo>
                  <a:lnTo>
                    <a:pt x="136" y="135"/>
                  </a:lnTo>
                  <a:lnTo>
                    <a:pt x="136" y="130"/>
                  </a:lnTo>
                  <a:lnTo>
                    <a:pt x="138" y="123"/>
                  </a:lnTo>
                  <a:lnTo>
                    <a:pt x="141" y="119"/>
                  </a:lnTo>
                  <a:lnTo>
                    <a:pt x="145" y="115"/>
                  </a:lnTo>
                  <a:lnTo>
                    <a:pt x="149" y="110"/>
                  </a:lnTo>
                  <a:lnTo>
                    <a:pt x="155" y="108"/>
                  </a:lnTo>
                  <a:lnTo>
                    <a:pt x="160" y="106"/>
                  </a:lnTo>
                  <a:lnTo>
                    <a:pt x="166" y="105"/>
                  </a:lnTo>
                  <a:lnTo>
                    <a:pt x="196" y="105"/>
                  </a:lnTo>
                  <a:lnTo>
                    <a:pt x="196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9" name="Freeform 325">
              <a:extLst>
                <a:ext uri="{FF2B5EF4-FFF2-40B4-BE49-F238E27FC236}">
                  <a16:creationId xmlns:a16="http://schemas.microsoft.com/office/drawing/2014/main" id="{4E9C428E-133B-4690-9ED6-8917E4F1E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113" y="771525"/>
              <a:ext cx="66675" cy="287338"/>
            </a:xfrm>
            <a:custGeom>
              <a:avLst/>
              <a:gdLst>
                <a:gd name="T0" fmla="*/ 30 w 211"/>
                <a:gd name="T1" fmla="*/ 105 h 903"/>
                <a:gd name="T2" fmla="*/ 41 w 211"/>
                <a:gd name="T3" fmla="*/ 107 h 903"/>
                <a:gd name="T4" fmla="*/ 51 w 211"/>
                <a:gd name="T5" fmla="*/ 115 h 903"/>
                <a:gd name="T6" fmla="*/ 58 w 211"/>
                <a:gd name="T7" fmla="*/ 123 h 903"/>
                <a:gd name="T8" fmla="*/ 60 w 211"/>
                <a:gd name="T9" fmla="*/ 135 h 903"/>
                <a:gd name="T10" fmla="*/ 60 w 211"/>
                <a:gd name="T11" fmla="*/ 172 h 903"/>
                <a:gd name="T12" fmla="*/ 55 w 211"/>
                <a:gd name="T13" fmla="*/ 182 h 903"/>
                <a:gd name="T14" fmla="*/ 47 w 211"/>
                <a:gd name="T15" fmla="*/ 191 h 903"/>
                <a:gd name="T16" fmla="*/ 36 w 211"/>
                <a:gd name="T17" fmla="*/ 195 h 903"/>
                <a:gd name="T18" fmla="*/ 0 w 211"/>
                <a:gd name="T19" fmla="*/ 196 h 903"/>
                <a:gd name="T20" fmla="*/ 30 w 211"/>
                <a:gd name="T21" fmla="*/ 557 h 903"/>
                <a:gd name="T22" fmla="*/ 41 w 211"/>
                <a:gd name="T23" fmla="*/ 560 h 903"/>
                <a:gd name="T24" fmla="*/ 51 w 211"/>
                <a:gd name="T25" fmla="*/ 566 h 903"/>
                <a:gd name="T26" fmla="*/ 58 w 211"/>
                <a:gd name="T27" fmla="*/ 576 h 903"/>
                <a:gd name="T28" fmla="*/ 60 w 211"/>
                <a:gd name="T29" fmla="*/ 587 h 903"/>
                <a:gd name="T30" fmla="*/ 60 w 211"/>
                <a:gd name="T31" fmla="*/ 623 h 903"/>
                <a:gd name="T32" fmla="*/ 55 w 211"/>
                <a:gd name="T33" fmla="*/ 634 h 903"/>
                <a:gd name="T34" fmla="*/ 47 w 211"/>
                <a:gd name="T35" fmla="*/ 643 h 903"/>
                <a:gd name="T36" fmla="*/ 36 w 211"/>
                <a:gd name="T37" fmla="*/ 647 h 903"/>
                <a:gd name="T38" fmla="*/ 0 w 211"/>
                <a:gd name="T39" fmla="*/ 648 h 903"/>
                <a:gd name="T40" fmla="*/ 30 w 211"/>
                <a:gd name="T41" fmla="*/ 708 h 903"/>
                <a:gd name="T42" fmla="*/ 41 w 211"/>
                <a:gd name="T43" fmla="*/ 710 h 903"/>
                <a:gd name="T44" fmla="*/ 51 w 211"/>
                <a:gd name="T45" fmla="*/ 717 h 903"/>
                <a:gd name="T46" fmla="*/ 58 w 211"/>
                <a:gd name="T47" fmla="*/ 726 h 903"/>
                <a:gd name="T48" fmla="*/ 60 w 211"/>
                <a:gd name="T49" fmla="*/ 738 h 903"/>
                <a:gd name="T50" fmla="*/ 60 w 211"/>
                <a:gd name="T51" fmla="*/ 773 h 903"/>
                <a:gd name="T52" fmla="*/ 55 w 211"/>
                <a:gd name="T53" fmla="*/ 785 h 903"/>
                <a:gd name="T54" fmla="*/ 47 w 211"/>
                <a:gd name="T55" fmla="*/ 793 h 903"/>
                <a:gd name="T56" fmla="*/ 36 w 211"/>
                <a:gd name="T57" fmla="*/ 797 h 903"/>
                <a:gd name="T58" fmla="*/ 0 w 211"/>
                <a:gd name="T59" fmla="*/ 798 h 903"/>
                <a:gd name="T60" fmla="*/ 211 w 211"/>
                <a:gd name="T61" fmla="*/ 903 h 903"/>
                <a:gd name="T62" fmla="*/ 181 w 211"/>
                <a:gd name="T63" fmla="*/ 497 h 903"/>
                <a:gd name="T64" fmla="*/ 169 w 211"/>
                <a:gd name="T65" fmla="*/ 495 h 903"/>
                <a:gd name="T66" fmla="*/ 159 w 211"/>
                <a:gd name="T67" fmla="*/ 488 h 903"/>
                <a:gd name="T68" fmla="*/ 153 w 211"/>
                <a:gd name="T69" fmla="*/ 478 h 903"/>
                <a:gd name="T70" fmla="*/ 151 w 211"/>
                <a:gd name="T71" fmla="*/ 467 h 903"/>
                <a:gd name="T72" fmla="*/ 151 w 211"/>
                <a:gd name="T73" fmla="*/ 430 h 903"/>
                <a:gd name="T74" fmla="*/ 155 w 211"/>
                <a:gd name="T75" fmla="*/ 419 h 903"/>
                <a:gd name="T76" fmla="*/ 164 w 211"/>
                <a:gd name="T77" fmla="*/ 412 h 903"/>
                <a:gd name="T78" fmla="*/ 174 w 211"/>
                <a:gd name="T79" fmla="*/ 408 h 903"/>
                <a:gd name="T80" fmla="*/ 211 w 211"/>
                <a:gd name="T81" fmla="*/ 407 h 903"/>
                <a:gd name="T82" fmla="*/ 181 w 211"/>
                <a:gd name="T83" fmla="*/ 346 h 903"/>
                <a:gd name="T84" fmla="*/ 169 w 211"/>
                <a:gd name="T85" fmla="*/ 344 h 903"/>
                <a:gd name="T86" fmla="*/ 159 w 211"/>
                <a:gd name="T87" fmla="*/ 338 h 903"/>
                <a:gd name="T88" fmla="*/ 153 w 211"/>
                <a:gd name="T89" fmla="*/ 328 h 903"/>
                <a:gd name="T90" fmla="*/ 151 w 211"/>
                <a:gd name="T91" fmla="*/ 316 h 903"/>
                <a:gd name="T92" fmla="*/ 151 w 211"/>
                <a:gd name="T93" fmla="*/ 280 h 903"/>
                <a:gd name="T94" fmla="*/ 155 w 211"/>
                <a:gd name="T95" fmla="*/ 269 h 903"/>
                <a:gd name="T96" fmla="*/ 164 w 211"/>
                <a:gd name="T97" fmla="*/ 261 h 903"/>
                <a:gd name="T98" fmla="*/ 174 w 211"/>
                <a:gd name="T99" fmla="*/ 256 h 903"/>
                <a:gd name="T100" fmla="*/ 211 w 211"/>
                <a:gd name="T101" fmla="*/ 256 h 903"/>
                <a:gd name="T102" fmla="*/ 181 w 211"/>
                <a:gd name="T103" fmla="*/ 196 h 903"/>
                <a:gd name="T104" fmla="*/ 169 w 211"/>
                <a:gd name="T105" fmla="*/ 193 h 903"/>
                <a:gd name="T106" fmla="*/ 159 w 211"/>
                <a:gd name="T107" fmla="*/ 187 h 903"/>
                <a:gd name="T108" fmla="*/ 153 w 211"/>
                <a:gd name="T109" fmla="*/ 177 h 903"/>
                <a:gd name="T110" fmla="*/ 151 w 211"/>
                <a:gd name="T111" fmla="*/ 165 h 903"/>
                <a:gd name="T112" fmla="*/ 151 w 211"/>
                <a:gd name="T113" fmla="*/ 130 h 903"/>
                <a:gd name="T114" fmla="*/ 155 w 211"/>
                <a:gd name="T115" fmla="*/ 119 h 903"/>
                <a:gd name="T116" fmla="*/ 164 w 211"/>
                <a:gd name="T117" fmla="*/ 110 h 903"/>
                <a:gd name="T118" fmla="*/ 174 w 211"/>
                <a:gd name="T119" fmla="*/ 106 h 903"/>
                <a:gd name="T120" fmla="*/ 211 w 211"/>
                <a:gd name="T121" fmla="*/ 105 h 903"/>
                <a:gd name="T122" fmla="*/ 0 w 211"/>
                <a:gd name="T1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903">
                  <a:moveTo>
                    <a:pt x="0" y="105"/>
                  </a:moveTo>
                  <a:lnTo>
                    <a:pt x="30" y="105"/>
                  </a:lnTo>
                  <a:lnTo>
                    <a:pt x="36" y="106"/>
                  </a:lnTo>
                  <a:lnTo>
                    <a:pt x="41" y="107"/>
                  </a:lnTo>
                  <a:lnTo>
                    <a:pt x="47" y="110"/>
                  </a:lnTo>
                  <a:lnTo>
                    <a:pt x="51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60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60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1" y="187"/>
                  </a:lnTo>
                  <a:lnTo>
                    <a:pt x="47" y="191"/>
                  </a:lnTo>
                  <a:lnTo>
                    <a:pt x="41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557"/>
                  </a:lnTo>
                  <a:lnTo>
                    <a:pt x="30" y="557"/>
                  </a:lnTo>
                  <a:lnTo>
                    <a:pt x="36" y="558"/>
                  </a:lnTo>
                  <a:lnTo>
                    <a:pt x="41" y="560"/>
                  </a:lnTo>
                  <a:lnTo>
                    <a:pt x="47" y="562"/>
                  </a:lnTo>
                  <a:lnTo>
                    <a:pt x="51" y="566"/>
                  </a:lnTo>
                  <a:lnTo>
                    <a:pt x="55" y="571"/>
                  </a:lnTo>
                  <a:lnTo>
                    <a:pt x="58" y="576"/>
                  </a:lnTo>
                  <a:lnTo>
                    <a:pt x="60" y="581"/>
                  </a:lnTo>
                  <a:lnTo>
                    <a:pt x="60" y="587"/>
                  </a:lnTo>
                  <a:lnTo>
                    <a:pt x="60" y="618"/>
                  </a:lnTo>
                  <a:lnTo>
                    <a:pt x="60" y="623"/>
                  </a:lnTo>
                  <a:lnTo>
                    <a:pt x="58" y="629"/>
                  </a:lnTo>
                  <a:lnTo>
                    <a:pt x="55" y="634"/>
                  </a:lnTo>
                  <a:lnTo>
                    <a:pt x="51" y="638"/>
                  </a:lnTo>
                  <a:lnTo>
                    <a:pt x="47" y="643"/>
                  </a:lnTo>
                  <a:lnTo>
                    <a:pt x="41" y="645"/>
                  </a:lnTo>
                  <a:lnTo>
                    <a:pt x="36" y="647"/>
                  </a:lnTo>
                  <a:lnTo>
                    <a:pt x="30" y="648"/>
                  </a:lnTo>
                  <a:lnTo>
                    <a:pt x="0" y="648"/>
                  </a:lnTo>
                  <a:lnTo>
                    <a:pt x="0" y="708"/>
                  </a:lnTo>
                  <a:lnTo>
                    <a:pt x="30" y="708"/>
                  </a:lnTo>
                  <a:lnTo>
                    <a:pt x="36" y="708"/>
                  </a:lnTo>
                  <a:lnTo>
                    <a:pt x="41" y="710"/>
                  </a:lnTo>
                  <a:lnTo>
                    <a:pt x="47" y="712"/>
                  </a:lnTo>
                  <a:lnTo>
                    <a:pt x="51" y="717"/>
                  </a:lnTo>
                  <a:lnTo>
                    <a:pt x="55" y="721"/>
                  </a:lnTo>
                  <a:lnTo>
                    <a:pt x="58" y="726"/>
                  </a:lnTo>
                  <a:lnTo>
                    <a:pt x="60" y="732"/>
                  </a:lnTo>
                  <a:lnTo>
                    <a:pt x="60" y="738"/>
                  </a:lnTo>
                  <a:lnTo>
                    <a:pt x="60" y="768"/>
                  </a:lnTo>
                  <a:lnTo>
                    <a:pt x="60" y="773"/>
                  </a:lnTo>
                  <a:lnTo>
                    <a:pt x="58" y="780"/>
                  </a:lnTo>
                  <a:lnTo>
                    <a:pt x="55" y="785"/>
                  </a:lnTo>
                  <a:lnTo>
                    <a:pt x="51" y="789"/>
                  </a:lnTo>
                  <a:lnTo>
                    <a:pt x="47" y="793"/>
                  </a:lnTo>
                  <a:lnTo>
                    <a:pt x="41" y="796"/>
                  </a:lnTo>
                  <a:lnTo>
                    <a:pt x="36" y="797"/>
                  </a:lnTo>
                  <a:lnTo>
                    <a:pt x="30" y="798"/>
                  </a:lnTo>
                  <a:lnTo>
                    <a:pt x="0" y="798"/>
                  </a:lnTo>
                  <a:lnTo>
                    <a:pt x="0" y="903"/>
                  </a:lnTo>
                  <a:lnTo>
                    <a:pt x="211" y="903"/>
                  </a:lnTo>
                  <a:lnTo>
                    <a:pt x="211" y="497"/>
                  </a:lnTo>
                  <a:lnTo>
                    <a:pt x="181" y="497"/>
                  </a:lnTo>
                  <a:lnTo>
                    <a:pt x="174" y="497"/>
                  </a:lnTo>
                  <a:lnTo>
                    <a:pt x="169" y="495"/>
                  </a:lnTo>
                  <a:lnTo>
                    <a:pt x="164" y="491"/>
                  </a:lnTo>
                  <a:lnTo>
                    <a:pt x="159" y="488"/>
                  </a:lnTo>
                  <a:lnTo>
                    <a:pt x="155" y="484"/>
                  </a:lnTo>
                  <a:lnTo>
                    <a:pt x="153" y="478"/>
                  </a:lnTo>
                  <a:lnTo>
                    <a:pt x="151" y="473"/>
                  </a:lnTo>
                  <a:lnTo>
                    <a:pt x="151" y="467"/>
                  </a:lnTo>
                  <a:lnTo>
                    <a:pt x="151" y="437"/>
                  </a:lnTo>
                  <a:lnTo>
                    <a:pt x="151" y="430"/>
                  </a:lnTo>
                  <a:lnTo>
                    <a:pt x="153" y="425"/>
                  </a:lnTo>
                  <a:lnTo>
                    <a:pt x="155" y="419"/>
                  </a:lnTo>
                  <a:lnTo>
                    <a:pt x="159" y="415"/>
                  </a:lnTo>
                  <a:lnTo>
                    <a:pt x="164" y="412"/>
                  </a:lnTo>
                  <a:lnTo>
                    <a:pt x="169" y="409"/>
                  </a:lnTo>
                  <a:lnTo>
                    <a:pt x="174" y="408"/>
                  </a:lnTo>
                  <a:lnTo>
                    <a:pt x="181" y="407"/>
                  </a:lnTo>
                  <a:lnTo>
                    <a:pt x="211" y="407"/>
                  </a:lnTo>
                  <a:lnTo>
                    <a:pt x="211" y="346"/>
                  </a:lnTo>
                  <a:lnTo>
                    <a:pt x="181" y="346"/>
                  </a:lnTo>
                  <a:lnTo>
                    <a:pt x="174" y="345"/>
                  </a:lnTo>
                  <a:lnTo>
                    <a:pt x="169" y="344"/>
                  </a:lnTo>
                  <a:lnTo>
                    <a:pt x="164" y="341"/>
                  </a:lnTo>
                  <a:lnTo>
                    <a:pt x="159" y="338"/>
                  </a:lnTo>
                  <a:lnTo>
                    <a:pt x="155" y="333"/>
                  </a:lnTo>
                  <a:lnTo>
                    <a:pt x="153" y="328"/>
                  </a:lnTo>
                  <a:lnTo>
                    <a:pt x="151" y="322"/>
                  </a:lnTo>
                  <a:lnTo>
                    <a:pt x="151" y="316"/>
                  </a:lnTo>
                  <a:lnTo>
                    <a:pt x="151" y="286"/>
                  </a:lnTo>
                  <a:lnTo>
                    <a:pt x="151" y="280"/>
                  </a:lnTo>
                  <a:lnTo>
                    <a:pt x="153" y="275"/>
                  </a:lnTo>
                  <a:lnTo>
                    <a:pt x="155" y="269"/>
                  </a:lnTo>
                  <a:lnTo>
                    <a:pt x="159" y="265"/>
                  </a:lnTo>
                  <a:lnTo>
                    <a:pt x="164" y="261"/>
                  </a:lnTo>
                  <a:lnTo>
                    <a:pt x="169" y="259"/>
                  </a:lnTo>
                  <a:lnTo>
                    <a:pt x="174" y="256"/>
                  </a:lnTo>
                  <a:lnTo>
                    <a:pt x="181" y="256"/>
                  </a:lnTo>
                  <a:lnTo>
                    <a:pt x="211" y="256"/>
                  </a:lnTo>
                  <a:lnTo>
                    <a:pt x="211" y="196"/>
                  </a:lnTo>
                  <a:lnTo>
                    <a:pt x="181" y="196"/>
                  </a:lnTo>
                  <a:lnTo>
                    <a:pt x="174" y="195"/>
                  </a:lnTo>
                  <a:lnTo>
                    <a:pt x="169" y="193"/>
                  </a:lnTo>
                  <a:lnTo>
                    <a:pt x="164" y="191"/>
                  </a:lnTo>
                  <a:lnTo>
                    <a:pt x="159" y="187"/>
                  </a:lnTo>
                  <a:lnTo>
                    <a:pt x="155" y="182"/>
                  </a:lnTo>
                  <a:lnTo>
                    <a:pt x="153" y="177"/>
                  </a:lnTo>
                  <a:lnTo>
                    <a:pt x="151" y="172"/>
                  </a:lnTo>
                  <a:lnTo>
                    <a:pt x="151" y="165"/>
                  </a:lnTo>
                  <a:lnTo>
                    <a:pt x="151" y="135"/>
                  </a:lnTo>
                  <a:lnTo>
                    <a:pt x="151" y="130"/>
                  </a:lnTo>
                  <a:lnTo>
                    <a:pt x="153" y="123"/>
                  </a:lnTo>
                  <a:lnTo>
                    <a:pt x="155" y="119"/>
                  </a:lnTo>
                  <a:lnTo>
                    <a:pt x="159" y="115"/>
                  </a:lnTo>
                  <a:lnTo>
                    <a:pt x="164" y="110"/>
                  </a:lnTo>
                  <a:lnTo>
                    <a:pt x="169" y="108"/>
                  </a:lnTo>
                  <a:lnTo>
                    <a:pt x="174" y="106"/>
                  </a:lnTo>
                  <a:lnTo>
                    <a:pt x="181" y="105"/>
                  </a:lnTo>
                  <a:lnTo>
                    <a:pt x="211" y="105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0" name="Freeform 326">
              <a:extLst>
                <a:ext uri="{FF2B5EF4-FFF2-40B4-BE49-F238E27FC236}">
                  <a16:creationId xmlns:a16="http://schemas.microsoft.com/office/drawing/2014/main" id="{505F0C26-0335-4A1D-AA0D-8C830A4F0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325" y="771525"/>
              <a:ext cx="68263" cy="287338"/>
            </a:xfrm>
            <a:custGeom>
              <a:avLst/>
              <a:gdLst>
                <a:gd name="T0" fmla="*/ 30 w 211"/>
                <a:gd name="T1" fmla="*/ 105 h 903"/>
                <a:gd name="T2" fmla="*/ 42 w 211"/>
                <a:gd name="T3" fmla="*/ 107 h 903"/>
                <a:gd name="T4" fmla="*/ 52 w 211"/>
                <a:gd name="T5" fmla="*/ 115 h 903"/>
                <a:gd name="T6" fmla="*/ 58 w 211"/>
                <a:gd name="T7" fmla="*/ 123 h 903"/>
                <a:gd name="T8" fmla="*/ 60 w 211"/>
                <a:gd name="T9" fmla="*/ 135 h 903"/>
                <a:gd name="T10" fmla="*/ 59 w 211"/>
                <a:gd name="T11" fmla="*/ 172 h 903"/>
                <a:gd name="T12" fmla="*/ 55 w 211"/>
                <a:gd name="T13" fmla="*/ 182 h 903"/>
                <a:gd name="T14" fmla="*/ 47 w 211"/>
                <a:gd name="T15" fmla="*/ 191 h 903"/>
                <a:gd name="T16" fmla="*/ 36 w 211"/>
                <a:gd name="T17" fmla="*/ 195 h 903"/>
                <a:gd name="T18" fmla="*/ 0 w 211"/>
                <a:gd name="T19" fmla="*/ 196 h 903"/>
                <a:gd name="T20" fmla="*/ 30 w 211"/>
                <a:gd name="T21" fmla="*/ 256 h 903"/>
                <a:gd name="T22" fmla="*/ 42 w 211"/>
                <a:gd name="T23" fmla="*/ 259 h 903"/>
                <a:gd name="T24" fmla="*/ 52 w 211"/>
                <a:gd name="T25" fmla="*/ 265 h 903"/>
                <a:gd name="T26" fmla="*/ 58 w 211"/>
                <a:gd name="T27" fmla="*/ 275 h 903"/>
                <a:gd name="T28" fmla="*/ 60 w 211"/>
                <a:gd name="T29" fmla="*/ 286 h 903"/>
                <a:gd name="T30" fmla="*/ 59 w 211"/>
                <a:gd name="T31" fmla="*/ 322 h 903"/>
                <a:gd name="T32" fmla="*/ 55 w 211"/>
                <a:gd name="T33" fmla="*/ 333 h 903"/>
                <a:gd name="T34" fmla="*/ 47 w 211"/>
                <a:gd name="T35" fmla="*/ 341 h 903"/>
                <a:gd name="T36" fmla="*/ 36 w 211"/>
                <a:gd name="T37" fmla="*/ 345 h 903"/>
                <a:gd name="T38" fmla="*/ 0 w 211"/>
                <a:gd name="T39" fmla="*/ 346 h 903"/>
                <a:gd name="T40" fmla="*/ 30 w 211"/>
                <a:gd name="T41" fmla="*/ 708 h 903"/>
                <a:gd name="T42" fmla="*/ 42 w 211"/>
                <a:gd name="T43" fmla="*/ 710 h 903"/>
                <a:gd name="T44" fmla="*/ 52 w 211"/>
                <a:gd name="T45" fmla="*/ 717 h 903"/>
                <a:gd name="T46" fmla="*/ 58 w 211"/>
                <a:gd name="T47" fmla="*/ 726 h 903"/>
                <a:gd name="T48" fmla="*/ 60 w 211"/>
                <a:gd name="T49" fmla="*/ 738 h 903"/>
                <a:gd name="T50" fmla="*/ 59 w 211"/>
                <a:gd name="T51" fmla="*/ 773 h 903"/>
                <a:gd name="T52" fmla="*/ 55 w 211"/>
                <a:gd name="T53" fmla="*/ 785 h 903"/>
                <a:gd name="T54" fmla="*/ 47 w 211"/>
                <a:gd name="T55" fmla="*/ 793 h 903"/>
                <a:gd name="T56" fmla="*/ 36 w 211"/>
                <a:gd name="T57" fmla="*/ 797 h 903"/>
                <a:gd name="T58" fmla="*/ 0 w 211"/>
                <a:gd name="T59" fmla="*/ 798 h 903"/>
                <a:gd name="T60" fmla="*/ 211 w 211"/>
                <a:gd name="T61" fmla="*/ 903 h 903"/>
                <a:gd name="T62" fmla="*/ 181 w 211"/>
                <a:gd name="T63" fmla="*/ 798 h 903"/>
                <a:gd name="T64" fmla="*/ 169 w 211"/>
                <a:gd name="T65" fmla="*/ 796 h 903"/>
                <a:gd name="T66" fmla="*/ 159 w 211"/>
                <a:gd name="T67" fmla="*/ 789 h 903"/>
                <a:gd name="T68" fmla="*/ 153 w 211"/>
                <a:gd name="T69" fmla="*/ 780 h 903"/>
                <a:gd name="T70" fmla="*/ 151 w 211"/>
                <a:gd name="T71" fmla="*/ 768 h 903"/>
                <a:gd name="T72" fmla="*/ 152 w 211"/>
                <a:gd name="T73" fmla="*/ 732 h 903"/>
                <a:gd name="T74" fmla="*/ 156 w 211"/>
                <a:gd name="T75" fmla="*/ 721 h 903"/>
                <a:gd name="T76" fmla="*/ 164 w 211"/>
                <a:gd name="T77" fmla="*/ 713 h 903"/>
                <a:gd name="T78" fmla="*/ 175 w 211"/>
                <a:gd name="T79" fmla="*/ 708 h 903"/>
                <a:gd name="T80" fmla="*/ 211 w 211"/>
                <a:gd name="T81" fmla="*/ 708 h 903"/>
                <a:gd name="T82" fmla="*/ 181 w 211"/>
                <a:gd name="T83" fmla="*/ 648 h 903"/>
                <a:gd name="T84" fmla="*/ 169 w 211"/>
                <a:gd name="T85" fmla="*/ 645 h 903"/>
                <a:gd name="T86" fmla="*/ 159 w 211"/>
                <a:gd name="T87" fmla="*/ 638 h 903"/>
                <a:gd name="T88" fmla="*/ 153 w 211"/>
                <a:gd name="T89" fmla="*/ 629 h 903"/>
                <a:gd name="T90" fmla="*/ 151 w 211"/>
                <a:gd name="T91" fmla="*/ 618 h 903"/>
                <a:gd name="T92" fmla="*/ 152 w 211"/>
                <a:gd name="T93" fmla="*/ 581 h 903"/>
                <a:gd name="T94" fmla="*/ 156 w 211"/>
                <a:gd name="T95" fmla="*/ 571 h 903"/>
                <a:gd name="T96" fmla="*/ 164 w 211"/>
                <a:gd name="T97" fmla="*/ 562 h 903"/>
                <a:gd name="T98" fmla="*/ 175 w 211"/>
                <a:gd name="T99" fmla="*/ 558 h 903"/>
                <a:gd name="T100" fmla="*/ 211 w 211"/>
                <a:gd name="T101" fmla="*/ 557 h 903"/>
                <a:gd name="T102" fmla="*/ 181 w 211"/>
                <a:gd name="T103" fmla="*/ 196 h 903"/>
                <a:gd name="T104" fmla="*/ 169 w 211"/>
                <a:gd name="T105" fmla="*/ 193 h 903"/>
                <a:gd name="T106" fmla="*/ 159 w 211"/>
                <a:gd name="T107" fmla="*/ 187 h 903"/>
                <a:gd name="T108" fmla="*/ 153 w 211"/>
                <a:gd name="T109" fmla="*/ 177 h 903"/>
                <a:gd name="T110" fmla="*/ 151 w 211"/>
                <a:gd name="T111" fmla="*/ 165 h 903"/>
                <a:gd name="T112" fmla="*/ 152 w 211"/>
                <a:gd name="T113" fmla="*/ 130 h 903"/>
                <a:gd name="T114" fmla="*/ 156 w 211"/>
                <a:gd name="T115" fmla="*/ 119 h 903"/>
                <a:gd name="T116" fmla="*/ 164 w 211"/>
                <a:gd name="T117" fmla="*/ 110 h 903"/>
                <a:gd name="T118" fmla="*/ 175 w 211"/>
                <a:gd name="T119" fmla="*/ 106 h 903"/>
                <a:gd name="T120" fmla="*/ 211 w 211"/>
                <a:gd name="T121" fmla="*/ 105 h 903"/>
                <a:gd name="T122" fmla="*/ 0 w 211"/>
                <a:gd name="T1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903">
                  <a:moveTo>
                    <a:pt x="0" y="105"/>
                  </a:moveTo>
                  <a:lnTo>
                    <a:pt x="30" y="105"/>
                  </a:lnTo>
                  <a:lnTo>
                    <a:pt x="36" y="106"/>
                  </a:lnTo>
                  <a:lnTo>
                    <a:pt x="42" y="107"/>
                  </a:lnTo>
                  <a:lnTo>
                    <a:pt x="47" y="110"/>
                  </a:lnTo>
                  <a:lnTo>
                    <a:pt x="52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59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59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2" y="187"/>
                  </a:lnTo>
                  <a:lnTo>
                    <a:pt x="47" y="191"/>
                  </a:lnTo>
                  <a:lnTo>
                    <a:pt x="42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256"/>
                  </a:lnTo>
                  <a:lnTo>
                    <a:pt x="30" y="256"/>
                  </a:lnTo>
                  <a:lnTo>
                    <a:pt x="36" y="256"/>
                  </a:lnTo>
                  <a:lnTo>
                    <a:pt x="42" y="259"/>
                  </a:lnTo>
                  <a:lnTo>
                    <a:pt x="47" y="261"/>
                  </a:lnTo>
                  <a:lnTo>
                    <a:pt x="52" y="265"/>
                  </a:lnTo>
                  <a:lnTo>
                    <a:pt x="55" y="269"/>
                  </a:lnTo>
                  <a:lnTo>
                    <a:pt x="58" y="275"/>
                  </a:lnTo>
                  <a:lnTo>
                    <a:pt x="59" y="280"/>
                  </a:lnTo>
                  <a:lnTo>
                    <a:pt x="60" y="286"/>
                  </a:lnTo>
                  <a:lnTo>
                    <a:pt x="60" y="316"/>
                  </a:lnTo>
                  <a:lnTo>
                    <a:pt x="59" y="322"/>
                  </a:lnTo>
                  <a:lnTo>
                    <a:pt x="58" y="328"/>
                  </a:lnTo>
                  <a:lnTo>
                    <a:pt x="55" y="333"/>
                  </a:lnTo>
                  <a:lnTo>
                    <a:pt x="52" y="338"/>
                  </a:lnTo>
                  <a:lnTo>
                    <a:pt x="47" y="341"/>
                  </a:lnTo>
                  <a:lnTo>
                    <a:pt x="42" y="344"/>
                  </a:lnTo>
                  <a:lnTo>
                    <a:pt x="36" y="345"/>
                  </a:lnTo>
                  <a:lnTo>
                    <a:pt x="30" y="346"/>
                  </a:lnTo>
                  <a:lnTo>
                    <a:pt x="0" y="346"/>
                  </a:lnTo>
                  <a:lnTo>
                    <a:pt x="0" y="708"/>
                  </a:lnTo>
                  <a:lnTo>
                    <a:pt x="30" y="708"/>
                  </a:lnTo>
                  <a:lnTo>
                    <a:pt x="36" y="708"/>
                  </a:lnTo>
                  <a:lnTo>
                    <a:pt x="42" y="710"/>
                  </a:lnTo>
                  <a:lnTo>
                    <a:pt x="47" y="712"/>
                  </a:lnTo>
                  <a:lnTo>
                    <a:pt x="52" y="717"/>
                  </a:lnTo>
                  <a:lnTo>
                    <a:pt x="55" y="721"/>
                  </a:lnTo>
                  <a:lnTo>
                    <a:pt x="58" y="726"/>
                  </a:lnTo>
                  <a:lnTo>
                    <a:pt x="59" y="732"/>
                  </a:lnTo>
                  <a:lnTo>
                    <a:pt x="60" y="738"/>
                  </a:lnTo>
                  <a:lnTo>
                    <a:pt x="60" y="768"/>
                  </a:lnTo>
                  <a:lnTo>
                    <a:pt x="59" y="773"/>
                  </a:lnTo>
                  <a:lnTo>
                    <a:pt x="58" y="780"/>
                  </a:lnTo>
                  <a:lnTo>
                    <a:pt x="55" y="785"/>
                  </a:lnTo>
                  <a:lnTo>
                    <a:pt x="52" y="789"/>
                  </a:lnTo>
                  <a:lnTo>
                    <a:pt x="47" y="793"/>
                  </a:lnTo>
                  <a:lnTo>
                    <a:pt x="42" y="796"/>
                  </a:lnTo>
                  <a:lnTo>
                    <a:pt x="36" y="797"/>
                  </a:lnTo>
                  <a:lnTo>
                    <a:pt x="30" y="798"/>
                  </a:lnTo>
                  <a:lnTo>
                    <a:pt x="0" y="798"/>
                  </a:lnTo>
                  <a:lnTo>
                    <a:pt x="0" y="903"/>
                  </a:lnTo>
                  <a:lnTo>
                    <a:pt x="211" y="903"/>
                  </a:lnTo>
                  <a:lnTo>
                    <a:pt x="211" y="798"/>
                  </a:lnTo>
                  <a:lnTo>
                    <a:pt x="181" y="798"/>
                  </a:lnTo>
                  <a:lnTo>
                    <a:pt x="175" y="797"/>
                  </a:lnTo>
                  <a:lnTo>
                    <a:pt x="169" y="796"/>
                  </a:lnTo>
                  <a:lnTo>
                    <a:pt x="164" y="793"/>
                  </a:lnTo>
                  <a:lnTo>
                    <a:pt x="159" y="789"/>
                  </a:lnTo>
                  <a:lnTo>
                    <a:pt x="156" y="785"/>
                  </a:lnTo>
                  <a:lnTo>
                    <a:pt x="153" y="780"/>
                  </a:lnTo>
                  <a:lnTo>
                    <a:pt x="152" y="774"/>
                  </a:lnTo>
                  <a:lnTo>
                    <a:pt x="151" y="768"/>
                  </a:lnTo>
                  <a:lnTo>
                    <a:pt x="151" y="738"/>
                  </a:lnTo>
                  <a:lnTo>
                    <a:pt x="152" y="732"/>
                  </a:lnTo>
                  <a:lnTo>
                    <a:pt x="153" y="726"/>
                  </a:lnTo>
                  <a:lnTo>
                    <a:pt x="156" y="721"/>
                  </a:lnTo>
                  <a:lnTo>
                    <a:pt x="159" y="717"/>
                  </a:lnTo>
                  <a:lnTo>
                    <a:pt x="164" y="713"/>
                  </a:lnTo>
                  <a:lnTo>
                    <a:pt x="169" y="710"/>
                  </a:lnTo>
                  <a:lnTo>
                    <a:pt x="175" y="708"/>
                  </a:lnTo>
                  <a:lnTo>
                    <a:pt x="181" y="708"/>
                  </a:lnTo>
                  <a:lnTo>
                    <a:pt x="211" y="708"/>
                  </a:lnTo>
                  <a:lnTo>
                    <a:pt x="211" y="648"/>
                  </a:lnTo>
                  <a:lnTo>
                    <a:pt x="181" y="648"/>
                  </a:lnTo>
                  <a:lnTo>
                    <a:pt x="175" y="647"/>
                  </a:lnTo>
                  <a:lnTo>
                    <a:pt x="169" y="645"/>
                  </a:lnTo>
                  <a:lnTo>
                    <a:pt x="164" y="643"/>
                  </a:lnTo>
                  <a:lnTo>
                    <a:pt x="159" y="638"/>
                  </a:lnTo>
                  <a:lnTo>
                    <a:pt x="156" y="634"/>
                  </a:lnTo>
                  <a:lnTo>
                    <a:pt x="153" y="629"/>
                  </a:lnTo>
                  <a:lnTo>
                    <a:pt x="152" y="623"/>
                  </a:lnTo>
                  <a:lnTo>
                    <a:pt x="151" y="618"/>
                  </a:lnTo>
                  <a:lnTo>
                    <a:pt x="151" y="587"/>
                  </a:lnTo>
                  <a:lnTo>
                    <a:pt x="152" y="581"/>
                  </a:lnTo>
                  <a:lnTo>
                    <a:pt x="153" y="576"/>
                  </a:lnTo>
                  <a:lnTo>
                    <a:pt x="156" y="571"/>
                  </a:lnTo>
                  <a:lnTo>
                    <a:pt x="159" y="566"/>
                  </a:lnTo>
                  <a:lnTo>
                    <a:pt x="164" y="562"/>
                  </a:lnTo>
                  <a:lnTo>
                    <a:pt x="169" y="560"/>
                  </a:lnTo>
                  <a:lnTo>
                    <a:pt x="175" y="558"/>
                  </a:lnTo>
                  <a:lnTo>
                    <a:pt x="181" y="557"/>
                  </a:lnTo>
                  <a:lnTo>
                    <a:pt x="211" y="557"/>
                  </a:lnTo>
                  <a:lnTo>
                    <a:pt x="211" y="196"/>
                  </a:lnTo>
                  <a:lnTo>
                    <a:pt x="181" y="196"/>
                  </a:lnTo>
                  <a:lnTo>
                    <a:pt x="175" y="195"/>
                  </a:lnTo>
                  <a:lnTo>
                    <a:pt x="169" y="193"/>
                  </a:lnTo>
                  <a:lnTo>
                    <a:pt x="164" y="191"/>
                  </a:lnTo>
                  <a:lnTo>
                    <a:pt x="159" y="187"/>
                  </a:lnTo>
                  <a:lnTo>
                    <a:pt x="156" y="182"/>
                  </a:lnTo>
                  <a:lnTo>
                    <a:pt x="153" y="177"/>
                  </a:lnTo>
                  <a:lnTo>
                    <a:pt x="152" y="172"/>
                  </a:lnTo>
                  <a:lnTo>
                    <a:pt x="151" y="165"/>
                  </a:lnTo>
                  <a:lnTo>
                    <a:pt x="151" y="135"/>
                  </a:lnTo>
                  <a:lnTo>
                    <a:pt x="152" y="130"/>
                  </a:lnTo>
                  <a:lnTo>
                    <a:pt x="153" y="123"/>
                  </a:lnTo>
                  <a:lnTo>
                    <a:pt x="156" y="119"/>
                  </a:lnTo>
                  <a:lnTo>
                    <a:pt x="159" y="115"/>
                  </a:lnTo>
                  <a:lnTo>
                    <a:pt x="164" y="110"/>
                  </a:lnTo>
                  <a:lnTo>
                    <a:pt x="169" y="108"/>
                  </a:lnTo>
                  <a:lnTo>
                    <a:pt x="175" y="106"/>
                  </a:lnTo>
                  <a:lnTo>
                    <a:pt x="181" y="105"/>
                  </a:lnTo>
                  <a:lnTo>
                    <a:pt x="211" y="105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1" name="Freeform 327">
              <a:extLst>
                <a:ext uri="{FF2B5EF4-FFF2-40B4-BE49-F238E27FC236}">
                  <a16:creationId xmlns:a16="http://schemas.microsoft.com/office/drawing/2014/main" id="{EE66CB30-F704-45C9-BA83-17BA7DC13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313" y="771525"/>
              <a:ext cx="61913" cy="287338"/>
            </a:xfrm>
            <a:custGeom>
              <a:avLst/>
              <a:gdLst>
                <a:gd name="T0" fmla="*/ 0 w 195"/>
                <a:gd name="T1" fmla="*/ 0 h 903"/>
                <a:gd name="T2" fmla="*/ 30 w 195"/>
                <a:gd name="T3" fmla="*/ 105 h 903"/>
                <a:gd name="T4" fmla="*/ 42 w 195"/>
                <a:gd name="T5" fmla="*/ 107 h 903"/>
                <a:gd name="T6" fmla="*/ 51 w 195"/>
                <a:gd name="T7" fmla="*/ 115 h 903"/>
                <a:gd name="T8" fmla="*/ 58 w 195"/>
                <a:gd name="T9" fmla="*/ 123 h 903"/>
                <a:gd name="T10" fmla="*/ 60 w 195"/>
                <a:gd name="T11" fmla="*/ 135 h 903"/>
                <a:gd name="T12" fmla="*/ 59 w 195"/>
                <a:gd name="T13" fmla="*/ 172 h 903"/>
                <a:gd name="T14" fmla="*/ 55 w 195"/>
                <a:gd name="T15" fmla="*/ 182 h 903"/>
                <a:gd name="T16" fmla="*/ 47 w 195"/>
                <a:gd name="T17" fmla="*/ 191 h 903"/>
                <a:gd name="T18" fmla="*/ 36 w 195"/>
                <a:gd name="T19" fmla="*/ 195 h 903"/>
                <a:gd name="T20" fmla="*/ 0 w 195"/>
                <a:gd name="T21" fmla="*/ 196 h 903"/>
                <a:gd name="T22" fmla="*/ 30 w 195"/>
                <a:gd name="T23" fmla="*/ 256 h 903"/>
                <a:gd name="T24" fmla="*/ 42 w 195"/>
                <a:gd name="T25" fmla="*/ 259 h 903"/>
                <a:gd name="T26" fmla="*/ 51 w 195"/>
                <a:gd name="T27" fmla="*/ 265 h 903"/>
                <a:gd name="T28" fmla="*/ 58 w 195"/>
                <a:gd name="T29" fmla="*/ 275 h 903"/>
                <a:gd name="T30" fmla="*/ 60 w 195"/>
                <a:gd name="T31" fmla="*/ 286 h 903"/>
                <a:gd name="T32" fmla="*/ 59 w 195"/>
                <a:gd name="T33" fmla="*/ 322 h 903"/>
                <a:gd name="T34" fmla="*/ 55 w 195"/>
                <a:gd name="T35" fmla="*/ 333 h 903"/>
                <a:gd name="T36" fmla="*/ 47 w 195"/>
                <a:gd name="T37" fmla="*/ 341 h 903"/>
                <a:gd name="T38" fmla="*/ 36 w 195"/>
                <a:gd name="T39" fmla="*/ 345 h 903"/>
                <a:gd name="T40" fmla="*/ 0 w 195"/>
                <a:gd name="T41" fmla="*/ 346 h 903"/>
                <a:gd name="T42" fmla="*/ 30 w 195"/>
                <a:gd name="T43" fmla="*/ 407 h 903"/>
                <a:gd name="T44" fmla="*/ 42 w 195"/>
                <a:gd name="T45" fmla="*/ 409 h 903"/>
                <a:gd name="T46" fmla="*/ 51 w 195"/>
                <a:gd name="T47" fmla="*/ 415 h 903"/>
                <a:gd name="T48" fmla="*/ 58 w 195"/>
                <a:gd name="T49" fmla="*/ 425 h 903"/>
                <a:gd name="T50" fmla="*/ 60 w 195"/>
                <a:gd name="T51" fmla="*/ 437 h 903"/>
                <a:gd name="T52" fmla="*/ 59 w 195"/>
                <a:gd name="T53" fmla="*/ 473 h 903"/>
                <a:gd name="T54" fmla="*/ 55 w 195"/>
                <a:gd name="T55" fmla="*/ 484 h 903"/>
                <a:gd name="T56" fmla="*/ 47 w 195"/>
                <a:gd name="T57" fmla="*/ 491 h 903"/>
                <a:gd name="T58" fmla="*/ 36 w 195"/>
                <a:gd name="T59" fmla="*/ 497 h 903"/>
                <a:gd name="T60" fmla="*/ 0 w 195"/>
                <a:gd name="T61" fmla="*/ 497 h 903"/>
                <a:gd name="T62" fmla="*/ 180 w 195"/>
                <a:gd name="T63" fmla="*/ 903 h 903"/>
                <a:gd name="T64" fmla="*/ 187 w 195"/>
                <a:gd name="T65" fmla="*/ 902 h 903"/>
                <a:gd name="T66" fmla="*/ 191 w 195"/>
                <a:gd name="T67" fmla="*/ 899 h 903"/>
                <a:gd name="T68" fmla="*/ 194 w 195"/>
                <a:gd name="T69" fmla="*/ 895 h 903"/>
                <a:gd name="T70" fmla="*/ 195 w 195"/>
                <a:gd name="T71" fmla="*/ 888 h 903"/>
                <a:gd name="T72" fmla="*/ 195 w 195"/>
                <a:gd name="T73" fmla="*/ 12 h 903"/>
                <a:gd name="T74" fmla="*/ 193 w 195"/>
                <a:gd name="T75" fmla="*/ 6 h 903"/>
                <a:gd name="T76" fmla="*/ 189 w 195"/>
                <a:gd name="T77" fmla="*/ 2 h 903"/>
                <a:gd name="T78" fmla="*/ 183 w 195"/>
                <a:gd name="T79" fmla="*/ 0 h 903"/>
                <a:gd name="T80" fmla="*/ 180 w 195"/>
                <a:gd name="T81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5" h="903">
                  <a:moveTo>
                    <a:pt x="180" y="0"/>
                  </a:moveTo>
                  <a:lnTo>
                    <a:pt x="0" y="0"/>
                  </a:lnTo>
                  <a:lnTo>
                    <a:pt x="0" y="105"/>
                  </a:lnTo>
                  <a:lnTo>
                    <a:pt x="30" y="105"/>
                  </a:lnTo>
                  <a:lnTo>
                    <a:pt x="36" y="106"/>
                  </a:lnTo>
                  <a:lnTo>
                    <a:pt x="42" y="107"/>
                  </a:lnTo>
                  <a:lnTo>
                    <a:pt x="47" y="110"/>
                  </a:lnTo>
                  <a:lnTo>
                    <a:pt x="51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59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59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1" y="187"/>
                  </a:lnTo>
                  <a:lnTo>
                    <a:pt x="47" y="191"/>
                  </a:lnTo>
                  <a:lnTo>
                    <a:pt x="42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256"/>
                  </a:lnTo>
                  <a:lnTo>
                    <a:pt x="30" y="256"/>
                  </a:lnTo>
                  <a:lnTo>
                    <a:pt x="36" y="256"/>
                  </a:lnTo>
                  <a:lnTo>
                    <a:pt x="42" y="259"/>
                  </a:lnTo>
                  <a:lnTo>
                    <a:pt x="47" y="261"/>
                  </a:lnTo>
                  <a:lnTo>
                    <a:pt x="51" y="265"/>
                  </a:lnTo>
                  <a:lnTo>
                    <a:pt x="55" y="269"/>
                  </a:lnTo>
                  <a:lnTo>
                    <a:pt x="58" y="275"/>
                  </a:lnTo>
                  <a:lnTo>
                    <a:pt x="59" y="280"/>
                  </a:lnTo>
                  <a:lnTo>
                    <a:pt x="60" y="286"/>
                  </a:lnTo>
                  <a:lnTo>
                    <a:pt x="60" y="316"/>
                  </a:lnTo>
                  <a:lnTo>
                    <a:pt x="59" y="322"/>
                  </a:lnTo>
                  <a:lnTo>
                    <a:pt x="58" y="328"/>
                  </a:lnTo>
                  <a:lnTo>
                    <a:pt x="55" y="333"/>
                  </a:lnTo>
                  <a:lnTo>
                    <a:pt x="51" y="338"/>
                  </a:lnTo>
                  <a:lnTo>
                    <a:pt x="47" y="341"/>
                  </a:lnTo>
                  <a:lnTo>
                    <a:pt x="42" y="344"/>
                  </a:lnTo>
                  <a:lnTo>
                    <a:pt x="36" y="345"/>
                  </a:lnTo>
                  <a:lnTo>
                    <a:pt x="30" y="346"/>
                  </a:lnTo>
                  <a:lnTo>
                    <a:pt x="0" y="346"/>
                  </a:lnTo>
                  <a:lnTo>
                    <a:pt x="0" y="407"/>
                  </a:lnTo>
                  <a:lnTo>
                    <a:pt x="30" y="407"/>
                  </a:lnTo>
                  <a:lnTo>
                    <a:pt x="36" y="408"/>
                  </a:lnTo>
                  <a:lnTo>
                    <a:pt x="42" y="409"/>
                  </a:lnTo>
                  <a:lnTo>
                    <a:pt x="47" y="412"/>
                  </a:lnTo>
                  <a:lnTo>
                    <a:pt x="51" y="415"/>
                  </a:lnTo>
                  <a:lnTo>
                    <a:pt x="55" y="419"/>
                  </a:lnTo>
                  <a:lnTo>
                    <a:pt x="58" y="425"/>
                  </a:lnTo>
                  <a:lnTo>
                    <a:pt x="59" y="430"/>
                  </a:lnTo>
                  <a:lnTo>
                    <a:pt x="60" y="437"/>
                  </a:lnTo>
                  <a:lnTo>
                    <a:pt x="60" y="467"/>
                  </a:lnTo>
                  <a:lnTo>
                    <a:pt x="59" y="473"/>
                  </a:lnTo>
                  <a:lnTo>
                    <a:pt x="58" y="478"/>
                  </a:lnTo>
                  <a:lnTo>
                    <a:pt x="55" y="484"/>
                  </a:lnTo>
                  <a:lnTo>
                    <a:pt x="51" y="488"/>
                  </a:lnTo>
                  <a:lnTo>
                    <a:pt x="47" y="491"/>
                  </a:lnTo>
                  <a:lnTo>
                    <a:pt x="42" y="495"/>
                  </a:lnTo>
                  <a:lnTo>
                    <a:pt x="36" y="497"/>
                  </a:lnTo>
                  <a:lnTo>
                    <a:pt x="30" y="497"/>
                  </a:lnTo>
                  <a:lnTo>
                    <a:pt x="0" y="497"/>
                  </a:lnTo>
                  <a:lnTo>
                    <a:pt x="0" y="903"/>
                  </a:lnTo>
                  <a:lnTo>
                    <a:pt x="180" y="903"/>
                  </a:lnTo>
                  <a:lnTo>
                    <a:pt x="183" y="903"/>
                  </a:lnTo>
                  <a:lnTo>
                    <a:pt x="187" y="902"/>
                  </a:lnTo>
                  <a:lnTo>
                    <a:pt x="189" y="901"/>
                  </a:lnTo>
                  <a:lnTo>
                    <a:pt x="191" y="899"/>
                  </a:lnTo>
                  <a:lnTo>
                    <a:pt x="193" y="897"/>
                  </a:lnTo>
                  <a:lnTo>
                    <a:pt x="194" y="895"/>
                  </a:lnTo>
                  <a:lnTo>
                    <a:pt x="195" y="891"/>
                  </a:lnTo>
                  <a:lnTo>
                    <a:pt x="195" y="888"/>
                  </a:lnTo>
                  <a:lnTo>
                    <a:pt x="195" y="15"/>
                  </a:lnTo>
                  <a:lnTo>
                    <a:pt x="195" y="12"/>
                  </a:lnTo>
                  <a:lnTo>
                    <a:pt x="194" y="10"/>
                  </a:lnTo>
                  <a:lnTo>
                    <a:pt x="193" y="6"/>
                  </a:lnTo>
                  <a:lnTo>
                    <a:pt x="191" y="4"/>
                  </a:lnTo>
                  <a:lnTo>
                    <a:pt x="189" y="2"/>
                  </a:lnTo>
                  <a:lnTo>
                    <a:pt x="187" y="1"/>
                  </a:lnTo>
                  <a:lnTo>
                    <a:pt x="183" y="0"/>
                  </a:lnTo>
                  <a:lnTo>
                    <a:pt x="180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72" name="Freeform 2319" descr="Icon of leaf. ">
            <a:extLst>
              <a:ext uri="{FF2B5EF4-FFF2-40B4-BE49-F238E27FC236}">
                <a16:creationId xmlns:a16="http://schemas.microsoft.com/office/drawing/2014/main" id="{4C935A16-4F4C-4B17-B911-F1D554A088A8}"/>
              </a:ext>
            </a:extLst>
          </p:cNvPr>
          <p:cNvSpPr>
            <a:spLocks noEditPoints="1"/>
          </p:cNvSpPr>
          <p:nvPr/>
        </p:nvSpPr>
        <p:spPr bwMode="auto">
          <a:xfrm>
            <a:off x="10120358" y="1987271"/>
            <a:ext cx="438785" cy="367656"/>
          </a:xfrm>
          <a:custGeom>
            <a:avLst/>
            <a:gdLst>
              <a:gd name="T0" fmla="*/ 550 w 868"/>
              <a:gd name="T1" fmla="*/ 453 h 868"/>
              <a:gd name="T2" fmla="*/ 561 w 868"/>
              <a:gd name="T3" fmla="*/ 457 h 868"/>
              <a:gd name="T4" fmla="*/ 565 w 868"/>
              <a:gd name="T5" fmla="*/ 468 h 868"/>
              <a:gd name="T6" fmla="*/ 561 w 868"/>
              <a:gd name="T7" fmla="*/ 479 h 868"/>
              <a:gd name="T8" fmla="*/ 550 w 868"/>
              <a:gd name="T9" fmla="*/ 483 h 868"/>
              <a:gd name="T10" fmla="*/ 432 w 868"/>
              <a:gd name="T11" fmla="*/ 604 h 868"/>
              <a:gd name="T12" fmla="*/ 442 w 868"/>
              <a:gd name="T13" fmla="*/ 611 h 868"/>
              <a:gd name="T14" fmla="*/ 444 w 868"/>
              <a:gd name="T15" fmla="*/ 622 h 868"/>
              <a:gd name="T16" fmla="*/ 437 w 868"/>
              <a:gd name="T17" fmla="*/ 632 h 868"/>
              <a:gd name="T18" fmla="*/ 254 w 868"/>
              <a:gd name="T19" fmla="*/ 634 h 868"/>
              <a:gd name="T20" fmla="*/ 233 w 868"/>
              <a:gd name="T21" fmla="*/ 438 h 868"/>
              <a:gd name="T22" fmla="*/ 237 w 868"/>
              <a:gd name="T23" fmla="*/ 427 h 868"/>
              <a:gd name="T24" fmla="*/ 248 w 868"/>
              <a:gd name="T25" fmla="*/ 423 h 868"/>
              <a:gd name="T26" fmla="*/ 258 w 868"/>
              <a:gd name="T27" fmla="*/ 427 h 868"/>
              <a:gd name="T28" fmla="*/ 263 w 868"/>
              <a:gd name="T29" fmla="*/ 438 h 868"/>
              <a:gd name="T30" fmla="*/ 384 w 868"/>
              <a:gd name="T31" fmla="*/ 315 h 868"/>
              <a:gd name="T32" fmla="*/ 390 w 868"/>
              <a:gd name="T33" fmla="*/ 305 h 868"/>
              <a:gd name="T34" fmla="*/ 402 w 868"/>
              <a:gd name="T35" fmla="*/ 303 h 868"/>
              <a:gd name="T36" fmla="*/ 412 w 868"/>
              <a:gd name="T37" fmla="*/ 309 h 868"/>
              <a:gd name="T38" fmla="*/ 414 w 868"/>
              <a:gd name="T39" fmla="*/ 431 h 868"/>
              <a:gd name="T40" fmla="*/ 536 w 868"/>
              <a:gd name="T41" fmla="*/ 251 h 868"/>
              <a:gd name="T42" fmla="*/ 544 w 868"/>
              <a:gd name="T43" fmla="*/ 243 h 868"/>
              <a:gd name="T44" fmla="*/ 555 w 868"/>
              <a:gd name="T45" fmla="*/ 243 h 868"/>
              <a:gd name="T46" fmla="*/ 564 w 868"/>
              <a:gd name="T47" fmla="*/ 251 h 868"/>
              <a:gd name="T48" fmla="*/ 610 w 868"/>
              <a:gd name="T49" fmla="*/ 302 h 868"/>
              <a:gd name="T50" fmla="*/ 621 w 868"/>
              <a:gd name="T51" fmla="*/ 307 h 868"/>
              <a:gd name="T52" fmla="*/ 625 w 868"/>
              <a:gd name="T53" fmla="*/ 317 h 868"/>
              <a:gd name="T54" fmla="*/ 621 w 868"/>
              <a:gd name="T55" fmla="*/ 328 h 868"/>
              <a:gd name="T56" fmla="*/ 610 w 868"/>
              <a:gd name="T57" fmla="*/ 332 h 868"/>
              <a:gd name="T58" fmla="*/ 854 w 868"/>
              <a:gd name="T59" fmla="*/ 0 h 868"/>
              <a:gd name="T60" fmla="*/ 789 w 868"/>
              <a:gd name="T61" fmla="*/ 9 h 868"/>
              <a:gd name="T62" fmla="*/ 611 w 868"/>
              <a:gd name="T63" fmla="*/ 45 h 868"/>
              <a:gd name="T64" fmla="*/ 472 w 868"/>
              <a:gd name="T65" fmla="*/ 86 h 868"/>
              <a:gd name="T66" fmla="*/ 319 w 868"/>
              <a:gd name="T67" fmla="*/ 147 h 868"/>
              <a:gd name="T68" fmla="*/ 200 w 868"/>
              <a:gd name="T69" fmla="*/ 219 h 868"/>
              <a:gd name="T70" fmla="*/ 114 w 868"/>
              <a:gd name="T71" fmla="*/ 301 h 868"/>
              <a:gd name="T72" fmla="*/ 63 w 868"/>
              <a:gd name="T73" fmla="*/ 386 h 868"/>
              <a:gd name="T74" fmla="*/ 46 w 868"/>
              <a:gd name="T75" fmla="*/ 463 h 868"/>
              <a:gd name="T76" fmla="*/ 49 w 868"/>
              <a:gd name="T77" fmla="*/ 544 h 868"/>
              <a:gd name="T78" fmla="*/ 74 w 868"/>
              <a:gd name="T79" fmla="*/ 630 h 868"/>
              <a:gd name="T80" fmla="*/ 4 w 868"/>
              <a:gd name="T81" fmla="*/ 799 h 868"/>
              <a:gd name="T82" fmla="*/ 0 w 868"/>
              <a:gd name="T83" fmla="*/ 809 h 868"/>
              <a:gd name="T84" fmla="*/ 4 w 868"/>
              <a:gd name="T85" fmla="*/ 820 h 868"/>
              <a:gd name="T86" fmla="*/ 55 w 868"/>
              <a:gd name="T87" fmla="*/ 868 h 868"/>
              <a:gd name="T88" fmla="*/ 66 w 868"/>
              <a:gd name="T89" fmla="*/ 866 h 868"/>
              <a:gd name="T90" fmla="*/ 224 w 868"/>
              <a:gd name="T91" fmla="*/ 786 h 868"/>
              <a:gd name="T92" fmla="*/ 326 w 868"/>
              <a:gd name="T93" fmla="*/ 816 h 868"/>
              <a:gd name="T94" fmla="*/ 405 w 868"/>
              <a:gd name="T95" fmla="*/ 819 h 868"/>
              <a:gd name="T96" fmla="*/ 464 w 868"/>
              <a:gd name="T97" fmla="*/ 806 h 868"/>
              <a:gd name="T98" fmla="*/ 521 w 868"/>
              <a:gd name="T99" fmla="*/ 779 h 868"/>
              <a:gd name="T100" fmla="*/ 575 w 868"/>
              <a:gd name="T101" fmla="*/ 740 h 868"/>
              <a:gd name="T102" fmla="*/ 625 w 868"/>
              <a:gd name="T103" fmla="*/ 690 h 868"/>
              <a:gd name="T104" fmla="*/ 672 w 868"/>
              <a:gd name="T105" fmla="*/ 627 h 868"/>
              <a:gd name="T106" fmla="*/ 715 w 868"/>
              <a:gd name="T107" fmla="*/ 550 h 868"/>
              <a:gd name="T108" fmla="*/ 773 w 868"/>
              <a:gd name="T109" fmla="*/ 415 h 868"/>
              <a:gd name="T110" fmla="*/ 818 w 868"/>
              <a:gd name="T111" fmla="*/ 271 h 868"/>
              <a:gd name="T112" fmla="*/ 862 w 868"/>
              <a:gd name="T113" fmla="*/ 53 h 868"/>
              <a:gd name="T114" fmla="*/ 866 w 868"/>
              <a:gd name="T115" fmla="*/ 10 h 8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868" h="868">
                <a:moveTo>
                  <a:pt x="610" y="332"/>
                </a:moveTo>
                <a:lnTo>
                  <a:pt x="557" y="332"/>
                </a:lnTo>
                <a:lnTo>
                  <a:pt x="435" y="453"/>
                </a:lnTo>
                <a:lnTo>
                  <a:pt x="550" y="453"/>
                </a:lnTo>
                <a:lnTo>
                  <a:pt x="553" y="453"/>
                </a:lnTo>
                <a:lnTo>
                  <a:pt x="555" y="454"/>
                </a:lnTo>
                <a:lnTo>
                  <a:pt x="559" y="456"/>
                </a:lnTo>
                <a:lnTo>
                  <a:pt x="561" y="457"/>
                </a:lnTo>
                <a:lnTo>
                  <a:pt x="563" y="460"/>
                </a:lnTo>
                <a:lnTo>
                  <a:pt x="564" y="463"/>
                </a:lnTo>
                <a:lnTo>
                  <a:pt x="565" y="466"/>
                </a:lnTo>
                <a:lnTo>
                  <a:pt x="565" y="468"/>
                </a:lnTo>
                <a:lnTo>
                  <a:pt x="565" y="471"/>
                </a:lnTo>
                <a:lnTo>
                  <a:pt x="564" y="474"/>
                </a:lnTo>
                <a:lnTo>
                  <a:pt x="563" y="476"/>
                </a:lnTo>
                <a:lnTo>
                  <a:pt x="561" y="479"/>
                </a:lnTo>
                <a:lnTo>
                  <a:pt x="559" y="481"/>
                </a:lnTo>
                <a:lnTo>
                  <a:pt x="555" y="482"/>
                </a:lnTo>
                <a:lnTo>
                  <a:pt x="553" y="483"/>
                </a:lnTo>
                <a:lnTo>
                  <a:pt x="550" y="483"/>
                </a:lnTo>
                <a:lnTo>
                  <a:pt x="405" y="483"/>
                </a:lnTo>
                <a:lnTo>
                  <a:pt x="284" y="604"/>
                </a:lnTo>
                <a:lnTo>
                  <a:pt x="429" y="604"/>
                </a:lnTo>
                <a:lnTo>
                  <a:pt x="432" y="604"/>
                </a:lnTo>
                <a:lnTo>
                  <a:pt x="435" y="605"/>
                </a:lnTo>
                <a:lnTo>
                  <a:pt x="437" y="607"/>
                </a:lnTo>
                <a:lnTo>
                  <a:pt x="440" y="608"/>
                </a:lnTo>
                <a:lnTo>
                  <a:pt x="442" y="611"/>
                </a:lnTo>
                <a:lnTo>
                  <a:pt x="443" y="614"/>
                </a:lnTo>
                <a:lnTo>
                  <a:pt x="444" y="616"/>
                </a:lnTo>
                <a:lnTo>
                  <a:pt x="444" y="619"/>
                </a:lnTo>
                <a:lnTo>
                  <a:pt x="444" y="622"/>
                </a:lnTo>
                <a:lnTo>
                  <a:pt x="443" y="626"/>
                </a:lnTo>
                <a:lnTo>
                  <a:pt x="442" y="628"/>
                </a:lnTo>
                <a:lnTo>
                  <a:pt x="440" y="630"/>
                </a:lnTo>
                <a:lnTo>
                  <a:pt x="437" y="632"/>
                </a:lnTo>
                <a:lnTo>
                  <a:pt x="435" y="633"/>
                </a:lnTo>
                <a:lnTo>
                  <a:pt x="432" y="634"/>
                </a:lnTo>
                <a:lnTo>
                  <a:pt x="429" y="634"/>
                </a:lnTo>
                <a:lnTo>
                  <a:pt x="254" y="634"/>
                </a:lnTo>
                <a:lnTo>
                  <a:pt x="58" y="830"/>
                </a:lnTo>
                <a:lnTo>
                  <a:pt x="36" y="809"/>
                </a:lnTo>
                <a:lnTo>
                  <a:pt x="233" y="613"/>
                </a:lnTo>
                <a:lnTo>
                  <a:pt x="233" y="438"/>
                </a:lnTo>
                <a:lnTo>
                  <a:pt x="233" y="435"/>
                </a:lnTo>
                <a:lnTo>
                  <a:pt x="234" y="433"/>
                </a:lnTo>
                <a:lnTo>
                  <a:pt x="236" y="429"/>
                </a:lnTo>
                <a:lnTo>
                  <a:pt x="237" y="427"/>
                </a:lnTo>
                <a:lnTo>
                  <a:pt x="239" y="426"/>
                </a:lnTo>
                <a:lnTo>
                  <a:pt x="242" y="424"/>
                </a:lnTo>
                <a:lnTo>
                  <a:pt x="244" y="423"/>
                </a:lnTo>
                <a:lnTo>
                  <a:pt x="248" y="423"/>
                </a:lnTo>
                <a:lnTo>
                  <a:pt x="251" y="423"/>
                </a:lnTo>
                <a:lnTo>
                  <a:pt x="254" y="424"/>
                </a:lnTo>
                <a:lnTo>
                  <a:pt x="256" y="426"/>
                </a:lnTo>
                <a:lnTo>
                  <a:pt x="258" y="427"/>
                </a:lnTo>
                <a:lnTo>
                  <a:pt x="261" y="429"/>
                </a:lnTo>
                <a:lnTo>
                  <a:pt x="262" y="433"/>
                </a:lnTo>
                <a:lnTo>
                  <a:pt x="263" y="435"/>
                </a:lnTo>
                <a:lnTo>
                  <a:pt x="263" y="438"/>
                </a:lnTo>
                <a:lnTo>
                  <a:pt x="263" y="583"/>
                </a:lnTo>
                <a:lnTo>
                  <a:pt x="384" y="463"/>
                </a:lnTo>
                <a:lnTo>
                  <a:pt x="384" y="317"/>
                </a:lnTo>
                <a:lnTo>
                  <a:pt x="384" y="315"/>
                </a:lnTo>
                <a:lnTo>
                  <a:pt x="385" y="311"/>
                </a:lnTo>
                <a:lnTo>
                  <a:pt x="386" y="309"/>
                </a:lnTo>
                <a:lnTo>
                  <a:pt x="388" y="307"/>
                </a:lnTo>
                <a:lnTo>
                  <a:pt x="390" y="305"/>
                </a:lnTo>
                <a:lnTo>
                  <a:pt x="393" y="303"/>
                </a:lnTo>
                <a:lnTo>
                  <a:pt x="396" y="303"/>
                </a:lnTo>
                <a:lnTo>
                  <a:pt x="399" y="302"/>
                </a:lnTo>
                <a:lnTo>
                  <a:pt x="402" y="303"/>
                </a:lnTo>
                <a:lnTo>
                  <a:pt x="405" y="303"/>
                </a:lnTo>
                <a:lnTo>
                  <a:pt x="407" y="305"/>
                </a:lnTo>
                <a:lnTo>
                  <a:pt x="410" y="307"/>
                </a:lnTo>
                <a:lnTo>
                  <a:pt x="412" y="309"/>
                </a:lnTo>
                <a:lnTo>
                  <a:pt x="413" y="311"/>
                </a:lnTo>
                <a:lnTo>
                  <a:pt x="414" y="315"/>
                </a:lnTo>
                <a:lnTo>
                  <a:pt x="414" y="317"/>
                </a:lnTo>
                <a:lnTo>
                  <a:pt x="414" y="431"/>
                </a:lnTo>
                <a:lnTo>
                  <a:pt x="535" y="311"/>
                </a:lnTo>
                <a:lnTo>
                  <a:pt x="535" y="257"/>
                </a:lnTo>
                <a:lnTo>
                  <a:pt x="535" y="253"/>
                </a:lnTo>
                <a:lnTo>
                  <a:pt x="536" y="251"/>
                </a:lnTo>
                <a:lnTo>
                  <a:pt x="537" y="248"/>
                </a:lnTo>
                <a:lnTo>
                  <a:pt x="539" y="246"/>
                </a:lnTo>
                <a:lnTo>
                  <a:pt x="542" y="245"/>
                </a:lnTo>
                <a:lnTo>
                  <a:pt x="544" y="243"/>
                </a:lnTo>
                <a:lnTo>
                  <a:pt x="547" y="242"/>
                </a:lnTo>
                <a:lnTo>
                  <a:pt x="550" y="242"/>
                </a:lnTo>
                <a:lnTo>
                  <a:pt x="553" y="242"/>
                </a:lnTo>
                <a:lnTo>
                  <a:pt x="555" y="243"/>
                </a:lnTo>
                <a:lnTo>
                  <a:pt x="559" y="245"/>
                </a:lnTo>
                <a:lnTo>
                  <a:pt x="561" y="246"/>
                </a:lnTo>
                <a:lnTo>
                  <a:pt x="563" y="248"/>
                </a:lnTo>
                <a:lnTo>
                  <a:pt x="564" y="251"/>
                </a:lnTo>
                <a:lnTo>
                  <a:pt x="565" y="253"/>
                </a:lnTo>
                <a:lnTo>
                  <a:pt x="565" y="257"/>
                </a:lnTo>
                <a:lnTo>
                  <a:pt x="565" y="302"/>
                </a:lnTo>
                <a:lnTo>
                  <a:pt x="610" y="302"/>
                </a:lnTo>
                <a:lnTo>
                  <a:pt x="613" y="303"/>
                </a:lnTo>
                <a:lnTo>
                  <a:pt x="617" y="303"/>
                </a:lnTo>
                <a:lnTo>
                  <a:pt x="619" y="305"/>
                </a:lnTo>
                <a:lnTo>
                  <a:pt x="621" y="307"/>
                </a:lnTo>
                <a:lnTo>
                  <a:pt x="623" y="309"/>
                </a:lnTo>
                <a:lnTo>
                  <a:pt x="624" y="311"/>
                </a:lnTo>
                <a:lnTo>
                  <a:pt x="625" y="315"/>
                </a:lnTo>
                <a:lnTo>
                  <a:pt x="625" y="317"/>
                </a:lnTo>
                <a:lnTo>
                  <a:pt x="625" y="320"/>
                </a:lnTo>
                <a:lnTo>
                  <a:pt x="624" y="323"/>
                </a:lnTo>
                <a:lnTo>
                  <a:pt x="623" y="326"/>
                </a:lnTo>
                <a:lnTo>
                  <a:pt x="621" y="328"/>
                </a:lnTo>
                <a:lnTo>
                  <a:pt x="619" y="330"/>
                </a:lnTo>
                <a:lnTo>
                  <a:pt x="617" y="331"/>
                </a:lnTo>
                <a:lnTo>
                  <a:pt x="613" y="332"/>
                </a:lnTo>
                <a:lnTo>
                  <a:pt x="610" y="332"/>
                </a:lnTo>
                <a:close/>
                <a:moveTo>
                  <a:pt x="863" y="5"/>
                </a:moveTo>
                <a:lnTo>
                  <a:pt x="860" y="3"/>
                </a:lnTo>
                <a:lnTo>
                  <a:pt x="857" y="1"/>
                </a:lnTo>
                <a:lnTo>
                  <a:pt x="854" y="0"/>
                </a:lnTo>
                <a:lnTo>
                  <a:pt x="850" y="0"/>
                </a:lnTo>
                <a:lnTo>
                  <a:pt x="843" y="1"/>
                </a:lnTo>
                <a:lnTo>
                  <a:pt x="821" y="5"/>
                </a:lnTo>
                <a:lnTo>
                  <a:pt x="789" y="9"/>
                </a:lnTo>
                <a:lnTo>
                  <a:pt x="747" y="16"/>
                </a:lnTo>
                <a:lnTo>
                  <a:pt x="697" y="26"/>
                </a:lnTo>
                <a:lnTo>
                  <a:pt x="641" y="38"/>
                </a:lnTo>
                <a:lnTo>
                  <a:pt x="611" y="45"/>
                </a:lnTo>
                <a:lnTo>
                  <a:pt x="580" y="54"/>
                </a:lnTo>
                <a:lnTo>
                  <a:pt x="548" y="63"/>
                </a:lnTo>
                <a:lnTo>
                  <a:pt x="516" y="72"/>
                </a:lnTo>
                <a:lnTo>
                  <a:pt x="472" y="86"/>
                </a:lnTo>
                <a:lnTo>
                  <a:pt x="431" y="100"/>
                </a:lnTo>
                <a:lnTo>
                  <a:pt x="391" y="115"/>
                </a:lnTo>
                <a:lnTo>
                  <a:pt x="355" y="131"/>
                </a:lnTo>
                <a:lnTo>
                  <a:pt x="319" y="147"/>
                </a:lnTo>
                <a:lnTo>
                  <a:pt x="286" y="164"/>
                </a:lnTo>
                <a:lnTo>
                  <a:pt x="256" y="182"/>
                </a:lnTo>
                <a:lnTo>
                  <a:pt x="227" y="200"/>
                </a:lnTo>
                <a:lnTo>
                  <a:pt x="200" y="219"/>
                </a:lnTo>
                <a:lnTo>
                  <a:pt x="176" y="238"/>
                </a:lnTo>
                <a:lnTo>
                  <a:pt x="153" y="259"/>
                </a:lnTo>
                <a:lnTo>
                  <a:pt x="133" y="279"/>
                </a:lnTo>
                <a:lnTo>
                  <a:pt x="114" y="301"/>
                </a:lnTo>
                <a:lnTo>
                  <a:pt x="97" y="323"/>
                </a:lnTo>
                <a:lnTo>
                  <a:pt x="84" y="346"/>
                </a:lnTo>
                <a:lnTo>
                  <a:pt x="72" y="368"/>
                </a:lnTo>
                <a:lnTo>
                  <a:pt x="63" y="386"/>
                </a:lnTo>
                <a:lnTo>
                  <a:pt x="57" y="406"/>
                </a:lnTo>
                <a:lnTo>
                  <a:pt x="51" y="424"/>
                </a:lnTo>
                <a:lnTo>
                  <a:pt x="48" y="443"/>
                </a:lnTo>
                <a:lnTo>
                  <a:pt x="46" y="463"/>
                </a:lnTo>
                <a:lnTo>
                  <a:pt x="44" y="483"/>
                </a:lnTo>
                <a:lnTo>
                  <a:pt x="45" y="503"/>
                </a:lnTo>
                <a:lnTo>
                  <a:pt x="46" y="524"/>
                </a:lnTo>
                <a:lnTo>
                  <a:pt x="49" y="544"/>
                </a:lnTo>
                <a:lnTo>
                  <a:pt x="54" y="564"/>
                </a:lnTo>
                <a:lnTo>
                  <a:pt x="59" y="586"/>
                </a:lnTo>
                <a:lnTo>
                  <a:pt x="65" y="607"/>
                </a:lnTo>
                <a:lnTo>
                  <a:pt x="74" y="630"/>
                </a:lnTo>
                <a:lnTo>
                  <a:pt x="84" y="651"/>
                </a:lnTo>
                <a:lnTo>
                  <a:pt x="94" y="674"/>
                </a:lnTo>
                <a:lnTo>
                  <a:pt x="107" y="696"/>
                </a:lnTo>
                <a:lnTo>
                  <a:pt x="4" y="799"/>
                </a:lnTo>
                <a:lnTo>
                  <a:pt x="2" y="801"/>
                </a:lnTo>
                <a:lnTo>
                  <a:pt x="1" y="804"/>
                </a:lnTo>
                <a:lnTo>
                  <a:pt x="0" y="807"/>
                </a:lnTo>
                <a:lnTo>
                  <a:pt x="0" y="809"/>
                </a:lnTo>
                <a:lnTo>
                  <a:pt x="0" y="812"/>
                </a:lnTo>
                <a:lnTo>
                  <a:pt x="1" y="815"/>
                </a:lnTo>
                <a:lnTo>
                  <a:pt x="2" y="817"/>
                </a:lnTo>
                <a:lnTo>
                  <a:pt x="4" y="820"/>
                </a:lnTo>
                <a:lnTo>
                  <a:pt x="47" y="864"/>
                </a:lnTo>
                <a:lnTo>
                  <a:pt x="49" y="866"/>
                </a:lnTo>
                <a:lnTo>
                  <a:pt x="52" y="867"/>
                </a:lnTo>
                <a:lnTo>
                  <a:pt x="55" y="868"/>
                </a:lnTo>
                <a:lnTo>
                  <a:pt x="58" y="868"/>
                </a:lnTo>
                <a:lnTo>
                  <a:pt x="61" y="868"/>
                </a:lnTo>
                <a:lnTo>
                  <a:pt x="63" y="867"/>
                </a:lnTo>
                <a:lnTo>
                  <a:pt x="66" y="866"/>
                </a:lnTo>
                <a:lnTo>
                  <a:pt x="69" y="864"/>
                </a:lnTo>
                <a:lnTo>
                  <a:pt x="171" y="760"/>
                </a:lnTo>
                <a:lnTo>
                  <a:pt x="198" y="773"/>
                </a:lnTo>
                <a:lnTo>
                  <a:pt x="224" y="786"/>
                </a:lnTo>
                <a:lnTo>
                  <a:pt x="250" y="796"/>
                </a:lnTo>
                <a:lnTo>
                  <a:pt x="276" y="805"/>
                </a:lnTo>
                <a:lnTo>
                  <a:pt x="301" y="811"/>
                </a:lnTo>
                <a:lnTo>
                  <a:pt x="326" y="816"/>
                </a:lnTo>
                <a:lnTo>
                  <a:pt x="350" y="819"/>
                </a:lnTo>
                <a:lnTo>
                  <a:pt x="374" y="820"/>
                </a:lnTo>
                <a:lnTo>
                  <a:pt x="389" y="820"/>
                </a:lnTo>
                <a:lnTo>
                  <a:pt x="405" y="819"/>
                </a:lnTo>
                <a:lnTo>
                  <a:pt x="420" y="816"/>
                </a:lnTo>
                <a:lnTo>
                  <a:pt x="435" y="813"/>
                </a:lnTo>
                <a:lnTo>
                  <a:pt x="450" y="810"/>
                </a:lnTo>
                <a:lnTo>
                  <a:pt x="464" y="806"/>
                </a:lnTo>
                <a:lnTo>
                  <a:pt x="479" y="800"/>
                </a:lnTo>
                <a:lnTo>
                  <a:pt x="493" y="794"/>
                </a:lnTo>
                <a:lnTo>
                  <a:pt x="507" y="787"/>
                </a:lnTo>
                <a:lnTo>
                  <a:pt x="521" y="779"/>
                </a:lnTo>
                <a:lnTo>
                  <a:pt x="535" y="770"/>
                </a:lnTo>
                <a:lnTo>
                  <a:pt x="549" y="762"/>
                </a:lnTo>
                <a:lnTo>
                  <a:pt x="562" y="751"/>
                </a:lnTo>
                <a:lnTo>
                  <a:pt x="575" y="740"/>
                </a:lnTo>
                <a:lnTo>
                  <a:pt x="588" y="730"/>
                </a:lnTo>
                <a:lnTo>
                  <a:pt x="600" y="717"/>
                </a:lnTo>
                <a:lnTo>
                  <a:pt x="613" y="704"/>
                </a:lnTo>
                <a:lnTo>
                  <a:pt x="625" y="690"/>
                </a:lnTo>
                <a:lnTo>
                  <a:pt x="638" y="675"/>
                </a:lnTo>
                <a:lnTo>
                  <a:pt x="650" y="660"/>
                </a:lnTo>
                <a:lnTo>
                  <a:pt x="661" y="643"/>
                </a:lnTo>
                <a:lnTo>
                  <a:pt x="672" y="627"/>
                </a:lnTo>
                <a:lnTo>
                  <a:pt x="683" y="608"/>
                </a:lnTo>
                <a:lnTo>
                  <a:pt x="695" y="590"/>
                </a:lnTo>
                <a:lnTo>
                  <a:pt x="706" y="571"/>
                </a:lnTo>
                <a:lnTo>
                  <a:pt x="715" y="550"/>
                </a:lnTo>
                <a:lnTo>
                  <a:pt x="726" y="530"/>
                </a:lnTo>
                <a:lnTo>
                  <a:pt x="736" y="509"/>
                </a:lnTo>
                <a:lnTo>
                  <a:pt x="755" y="464"/>
                </a:lnTo>
                <a:lnTo>
                  <a:pt x="773" y="415"/>
                </a:lnTo>
                <a:lnTo>
                  <a:pt x="786" y="379"/>
                </a:lnTo>
                <a:lnTo>
                  <a:pt x="798" y="341"/>
                </a:lnTo>
                <a:lnTo>
                  <a:pt x="809" y="306"/>
                </a:lnTo>
                <a:lnTo>
                  <a:pt x="818" y="271"/>
                </a:lnTo>
                <a:lnTo>
                  <a:pt x="834" y="204"/>
                </a:lnTo>
                <a:lnTo>
                  <a:pt x="847" y="143"/>
                </a:lnTo>
                <a:lnTo>
                  <a:pt x="856" y="93"/>
                </a:lnTo>
                <a:lnTo>
                  <a:pt x="862" y="53"/>
                </a:lnTo>
                <a:lnTo>
                  <a:pt x="865" y="26"/>
                </a:lnTo>
                <a:lnTo>
                  <a:pt x="868" y="16"/>
                </a:lnTo>
                <a:lnTo>
                  <a:pt x="868" y="13"/>
                </a:lnTo>
                <a:lnTo>
                  <a:pt x="866" y="10"/>
                </a:lnTo>
                <a:lnTo>
                  <a:pt x="865" y="7"/>
                </a:lnTo>
                <a:lnTo>
                  <a:pt x="863" y="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82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 animBg="1"/>
      <p:bldP spid="4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76457" y="522898"/>
            <a:ext cx="461554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Initiating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137299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9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160891" y="3879035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73444" y="301390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4607766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Circle: Hollow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205197" y="2247144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3" name="Group 112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11161423" y="1980414"/>
            <a:ext cx="378221" cy="380335"/>
            <a:chOff x="3171788" y="779462"/>
            <a:chExt cx="284163" cy="285751"/>
          </a:xfrm>
          <a:solidFill>
            <a:schemeClr val="accent3">
              <a:lumMod val="75000"/>
            </a:schemeClr>
          </a:solidFill>
        </p:grpSpPr>
        <p:sp>
          <p:nvSpPr>
            <p:cNvPr id="114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6" name="Group 115" descr="Icon of books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9785614" y="4484741"/>
            <a:ext cx="344413" cy="382447"/>
            <a:chOff x="2608263" y="1920875"/>
            <a:chExt cx="258763" cy="287338"/>
          </a:xfrm>
          <a:solidFill>
            <a:schemeClr val="accent4">
              <a:lumMod val="75000"/>
            </a:schemeClr>
          </a:solidFill>
        </p:grpSpPr>
        <p:sp>
          <p:nvSpPr>
            <p:cNvPr id="117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Freeform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Freeform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8" name="Freeform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9" name="Freeform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1" name="Freeform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2" name="Freeform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3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11180206" y="3620670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11159311" y="5214528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35" name="Group 134" descr="Icon of computer monitors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9810903" y="2852850"/>
            <a:ext cx="382447" cy="382446"/>
            <a:chOff x="879475" y="5100638"/>
            <a:chExt cx="287338" cy="287337"/>
          </a:xfrm>
          <a:solidFill>
            <a:schemeClr val="accent4">
              <a:lumMod val="75000"/>
            </a:schemeClr>
          </a:solidFill>
        </p:grpSpPr>
        <p:sp>
          <p:nvSpPr>
            <p:cNvPr id="136" name="Freeform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7" name="Freeform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8" name="Freeform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9" name="Freeform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0" name="Freeform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922345" y="1119755"/>
            <a:ext cx="8009946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400" b="1" dirty="0">
              <a:latin typeface="+mj-lt"/>
            </a:endParaRPr>
          </a:p>
          <a:p>
            <a:pPr algn="just"/>
            <a:endParaRPr lang="en-US" sz="2400" b="1" dirty="0">
              <a:latin typeface="+mj-lt"/>
            </a:endParaRPr>
          </a:p>
          <a:p>
            <a:r>
              <a:rPr lang="en-US" sz="2800" b="1" dirty="0">
                <a:latin typeface="+mj-lt"/>
              </a:rPr>
              <a:t>Title : DeltaCode</a:t>
            </a:r>
          </a:p>
          <a:p>
            <a:pPr algn="just"/>
            <a:endParaRPr lang="en-US" sz="2400" b="1" dirty="0">
              <a:latin typeface="+mj-lt"/>
            </a:endParaRPr>
          </a:p>
          <a:p>
            <a:pPr algn="just"/>
            <a:endParaRPr lang="en-US" sz="2400" b="1" dirty="0">
              <a:latin typeface="+mj-lt"/>
            </a:endParaRPr>
          </a:p>
          <a:p>
            <a:pPr algn="just"/>
            <a:endParaRPr lang="en-US" sz="2400" b="1" dirty="0">
              <a:latin typeface="+mj-lt"/>
            </a:endParaRPr>
          </a:p>
          <a:p>
            <a:pPr algn="just"/>
            <a:r>
              <a:rPr lang="en-US" sz="4400" b="1" dirty="0">
                <a:latin typeface="+mj-lt"/>
              </a:rPr>
              <a:t>Scope Document </a:t>
            </a:r>
          </a:p>
          <a:p>
            <a:pPr algn="just"/>
            <a:endParaRPr lang="en-US" sz="2400" b="1" dirty="0">
              <a:latin typeface="+mj-lt"/>
            </a:endParaRPr>
          </a:p>
          <a:p>
            <a:pPr algn="just"/>
            <a:r>
              <a:rPr lang="en-US" sz="2400" b="1" dirty="0">
                <a:latin typeface="+mj-lt"/>
              </a:rPr>
              <a:t> </a:t>
            </a:r>
          </a:p>
          <a:p>
            <a:pPr algn="just"/>
            <a:endParaRPr lang="en-US" sz="2400" dirty="0">
              <a:latin typeface="+mj-lt"/>
            </a:endParaRP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611189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70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76457" y="522898"/>
            <a:ext cx="461554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Initiating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137299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9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160891" y="3879035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73444" y="301390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4607766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Circle: Hollow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205197" y="2247144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3" name="Group 112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11161423" y="1980414"/>
            <a:ext cx="378221" cy="380335"/>
            <a:chOff x="3171788" y="779462"/>
            <a:chExt cx="284163" cy="285751"/>
          </a:xfrm>
          <a:solidFill>
            <a:schemeClr val="accent3">
              <a:lumMod val="75000"/>
            </a:schemeClr>
          </a:solidFill>
        </p:grpSpPr>
        <p:sp>
          <p:nvSpPr>
            <p:cNvPr id="114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6" name="Group 115" descr="Icon of books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9785614" y="4484741"/>
            <a:ext cx="344413" cy="382447"/>
            <a:chOff x="2608263" y="1920875"/>
            <a:chExt cx="258763" cy="287338"/>
          </a:xfrm>
          <a:solidFill>
            <a:schemeClr val="accent4">
              <a:lumMod val="75000"/>
            </a:schemeClr>
          </a:solidFill>
        </p:grpSpPr>
        <p:sp>
          <p:nvSpPr>
            <p:cNvPr id="117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Freeform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Freeform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8" name="Freeform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9" name="Freeform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1" name="Freeform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2" name="Freeform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3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11180206" y="3620670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11159311" y="5214528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35" name="Group 134" descr="Icon of computer monitors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9810903" y="2852850"/>
            <a:ext cx="382447" cy="382446"/>
            <a:chOff x="879475" y="5100638"/>
            <a:chExt cx="287338" cy="287337"/>
          </a:xfrm>
          <a:solidFill>
            <a:schemeClr val="accent4">
              <a:lumMod val="75000"/>
            </a:schemeClr>
          </a:solidFill>
        </p:grpSpPr>
        <p:sp>
          <p:nvSpPr>
            <p:cNvPr id="136" name="Freeform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7" name="Freeform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8" name="Freeform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9" name="Freeform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0" name="Freeform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1790765" y="1739988"/>
            <a:ext cx="5391176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b="1" dirty="0">
                <a:latin typeface="+mj-lt"/>
              </a:rPr>
              <a:t>Scope Document</a:t>
            </a:r>
          </a:p>
          <a:p>
            <a:pPr algn="just"/>
            <a:r>
              <a:rPr lang="en-US" sz="4400" b="1" dirty="0">
                <a:latin typeface="+mj-lt"/>
              </a:rPr>
              <a:t> </a:t>
            </a:r>
          </a:p>
          <a:p>
            <a:pPr algn="just"/>
            <a:r>
              <a:rPr lang="en-US" sz="2400" b="1" dirty="0">
                <a:latin typeface="+mj-lt"/>
              </a:rPr>
              <a:t>         </a:t>
            </a:r>
            <a:r>
              <a:rPr lang="en-US" sz="2800" b="1" dirty="0">
                <a:latin typeface="+mj-lt"/>
              </a:rPr>
              <a:t>Major Stake Holders </a:t>
            </a:r>
          </a:p>
          <a:p>
            <a:pPr algn="just"/>
            <a:endParaRPr lang="en-US" sz="2400" b="1" dirty="0">
              <a:latin typeface="+mj-lt"/>
            </a:endParaRPr>
          </a:p>
          <a:p>
            <a:pPr algn="just"/>
            <a:endParaRPr lang="en-US" sz="2400" b="1" dirty="0">
              <a:latin typeface="+mj-lt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Zed Developers</a:t>
            </a:r>
          </a:p>
          <a:p>
            <a:pPr algn="ctr"/>
            <a:endParaRPr lang="en-US" sz="2400" b="1" dirty="0">
              <a:latin typeface="+mj-lt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Acceleron Corps</a:t>
            </a:r>
          </a:p>
          <a:p>
            <a:pPr algn="just"/>
            <a:endParaRPr lang="en-US" sz="2400" b="1" dirty="0">
              <a:latin typeface="+mj-lt"/>
            </a:endParaRPr>
          </a:p>
          <a:p>
            <a:pPr algn="just"/>
            <a:r>
              <a:rPr lang="en-US" sz="2400" b="1" dirty="0">
                <a:latin typeface="+mj-lt"/>
              </a:rPr>
              <a:t>		</a:t>
            </a:r>
          </a:p>
          <a:p>
            <a:pPr algn="just"/>
            <a:endParaRPr lang="en-US" sz="2400" b="1" dirty="0">
              <a:latin typeface="+mj-lt"/>
            </a:endParaRPr>
          </a:p>
          <a:p>
            <a:pPr algn="just"/>
            <a:endParaRPr lang="en-US" sz="2400" b="1" dirty="0">
              <a:latin typeface="+mj-lt"/>
            </a:endParaRP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611189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911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76457" y="522898"/>
            <a:ext cx="461554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Initiating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137299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9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160891" y="3879035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73444" y="301390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4607766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Circle: Hollow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205197" y="2247144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3" name="Group 112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11161423" y="1980414"/>
            <a:ext cx="378221" cy="380335"/>
            <a:chOff x="3171788" y="779462"/>
            <a:chExt cx="284163" cy="285751"/>
          </a:xfrm>
          <a:solidFill>
            <a:schemeClr val="accent3">
              <a:lumMod val="75000"/>
            </a:schemeClr>
          </a:solidFill>
        </p:grpSpPr>
        <p:sp>
          <p:nvSpPr>
            <p:cNvPr id="114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6" name="Group 115" descr="Icon of books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9785614" y="4484741"/>
            <a:ext cx="344413" cy="382447"/>
            <a:chOff x="2608263" y="1920875"/>
            <a:chExt cx="258763" cy="287338"/>
          </a:xfrm>
          <a:solidFill>
            <a:schemeClr val="accent4">
              <a:lumMod val="75000"/>
            </a:schemeClr>
          </a:solidFill>
        </p:grpSpPr>
        <p:sp>
          <p:nvSpPr>
            <p:cNvPr id="117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Freeform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Freeform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8" name="Freeform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9" name="Freeform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1" name="Freeform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2" name="Freeform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3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11180206" y="3620670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11159311" y="5214528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35" name="Group 134" descr="Icon of computer monitors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9810903" y="2852850"/>
            <a:ext cx="382447" cy="382446"/>
            <a:chOff x="879475" y="5100638"/>
            <a:chExt cx="287338" cy="287337"/>
          </a:xfrm>
          <a:solidFill>
            <a:schemeClr val="accent4">
              <a:lumMod val="75000"/>
            </a:schemeClr>
          </a:solidFill>
        </p:grpSpPr>
        <p:sp>
          <p:nvSpPr>
            <p:cNvPr id="136" name="Freeform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7" name="Freeform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8" name="Freeform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9" name="Freeform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0" name="Freeform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1817706" y="1372998"/>
            <a:ext cx="5391176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b="1" dirty="0">
                <a:latin typeface="+mj-lt"/>
              </a:rPr>
              <a:t>Scope Document</a:t>
            </a:r>
          </a:p>
          <a:p>
            <a:pPr algn="just"/>
            <a:endParaRPr lang="en-US" sz="4400" b="1" dirty="0">
              <a:latin typeface="+mj-lt"/>
            </a:endParaRPr>
          </a:p>
          <a:p>
            <a:pPr algn="just"/>
            <a:r>
              <a:rPr lang="en-US" sz="2400" b="1" dirty="0">
                <a:latin typeface="+mj-lt"/>
              </a:rPr>
              <a:t>         	      </a:t>
            </a:r>
            <a:r>
              <a:rPr lang="en-US" sz="3600" b="1" dirty="0">
                <a:latin typeface="+mj-lt"/>
              </a:rPr>
              <a:t>Goals</a:t>
            </a:r>
          </a:p>
          <a:p>
            <a:pPr algn="just"/>
            <a:endParaRPr lang="en-US" sz="2800" b="1" dirty="0">
              <a:latin typeface="+mj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Experimental Application.</a:t>
            </a:r>
          </a:p>
          <a:p>
            <a:pPr algn="just"/>
            <a:endParaRPr lang="en-US" sz="2400" b="1" dirty="0">
              <a:latin typeface="+mj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Deep Learning Algorithm.</a:t>
            </a:r>
          </a:p>
          <a:p>
            <a:pPr algn="just"/>
            <a:endParaRPr lang="en-US" sz="2400" b="1" dirty="0">
              <a:latin typeface="+mj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Competitive Code Output.</a:t>
            </a:r>
          </a:p>
          <a:p>
            <a:pPr algn="just"/>
            <a:endParaRPr lang="en-US" sz="2400" b="1" dirty="0">
              <a:latin typeface="+mj-lt"/>
            </a:endParaRPr>
          </a:p>
          <a:p>
            <a:pPr algn="just"/>
            <a:r>
              <a:rPr lang="en-US" sz="2400" b="1" dirty="0">
                <a:latin typeface="+mj-lt"/>
              </a:rPr>
              <a:t>		</a:t>
            </a:r>
          </a:p>
          <a:p>
            <a:pPr algn="just"/>
            <a:endParaRPr lang="en-US" sz="2400" b="1" dirty="0">
              <a:latin typeface="+mj-lt"/>
            </a:endParaRPr>
          </a:p>
          <a:p>
            <a:pPr algn="just"/>
            <a:endParaRPr lang="en-US" sz="2400" b="1" dirty="0">
              <a:latin typeface="+mj-lt"/>
            </a:endParaRP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611189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85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76457" y="522898"/>
            <a:ext cx="461554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Initiating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137299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9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160891" y="3879035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73444" y="301390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4607766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Circle: Hollow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205197" y="2247144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3" name="Group 112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11161423" y="1980414"/>
            <a:ext cx="378221" cy="380335"/>
            <a:chOff x="3171788" y="779462"/>
            <a:chExt cx="284163" cy="285751"/>
          </a:xfrm>
          <a:solidFill>
            <a:schemeClr val="accent3">
              <a:lumMod val="75000"/>
            </a:schemeClr>
          </a:solidFill>
        </p:grpSpPr>
        <p:sp>
          <p:nvSpPr>
            <p:cNvPr id="114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6" name="Group 115" descr="Icon of books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9785614" y="4484741"/>
            <a:ext cx="344413" cy="382447"/>
            <a:chOff x="2608263" y="1920875"/>
            <a:chExt cx="258763" cy="287338"/>
          </a:xfrm>
          <a:solidFill>
            <a:schemeClr val="accent4">
              <a:lumMod val="75000"/>
            </a:schemeClr>
          </a:solidFill>
        </p:grpSpPr>
        <p:sp>
          <p:nvSpPr>
            <p:cNvPr id="117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Freeform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Freeform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8" name="Freeform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9" name="Freeform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1" name="Freeform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2" name="Freeform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3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11180206" y="3620670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11159311" y="5214528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35" name="Group 134" descr="Icon of computer monitors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9810903" y="2852850"/>
            <a:ext cx="382447" cy="382446"/>
            <a:chOff x="879475" y="5100638"/>
            <a:chExt cx="287338" cy="287337"/>
          </a:xfrm>
          <a:solidFill>
            <a:schemeClr val="accent4">
              <a:lumMod val="75000"/>
            </a:schemeClr>
          </a:solidFill>
        </p:grpSpPr>
        <p:sp>
          <p:nvSpPr>
            <p:cNvPr id="136" name="Freeform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7" name="Freeform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8" name="Freeform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9" name="Freeform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0" name="Freeform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1817706" y="1372998"/>
            <a:ext cx="539117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b="1" dirty="0">
                <a:latin typeface="+mj-lt"/>
              </a:rPr>
              <a:t>Scope Document</a:t>
            </a:r>
          </a:p>
          <a:p>
            <a:pPr algn="just"/>
            <a:endParaRPr lang="en-US" sz="4400" b="1" dirty="0">
              <a:latin typeface="+mj-lt"/>
            </a:endParaRPr>
          </a:p>
          <a:p>
            <a:pPr algn="just"/>
            <a:r>
              <a:rPr lang="en-US" sz="2400" b="1" dirty="0">
                <a:latin typeface="+mj-lt"/>
              </a:rPr>
              <a:t>         	 </a:t>
            </a:r>
            <a:r>
              <a:rPr lang="en-US" sz="3600" b="1" dirty="0">
                <a:latin typeface="+mj-lt"/>
              </a:rPr>
              <a:t>Total Budget</a:t>
            </a:r>
          </a:p>
          <a:p>
            <a:pPr algn="just"/>
            <a:endParaRPr lang="en-US" sz="2800" b="1" dirty="0">
              <a:latin typeface="+mj-lt"/>
            </a:endParaRPr>
          </a:p>
          <a:p>
            <a:pPr algn="just"/>
            <a:r>
              <a:rPr lang="en-US" sz="2400" b="1" dirty="0">
                <a:latin typeface="+mj-lt"/>
              </a:rPr>
              <a:t> </a:t>
            </a:r>
            <a:endParaRPr lang="en-US" sz="1600" b="1" dirty="0">
              <a:latin typeface="+mj-lt"/>
            </a:endParaRPr>
          </a:p>
          <a:p>
            <a:pPr algn="just"/>
            <a:r>
              <a:rPr lang="en-US" sz="1600" b="1" dirty="0">
                <a:latin typeface="+mj-lt"/>
              </a:rPr>
              <a:t>       	          </a:t>
            </a:r>
            <a:r>
              <a:rPr lang="en-US" sz="3200" dirty="0">
                <a:latin typeface="+mj-lt"/>
              </a:rPr>
              <a:t>100,000$</a:t>
            </a:r>
            <a:endParaRPr lang="en-US" sz="1600" dirty="0">
              <a:latin typeface="+mj-lt"/>
            </a:endParaRPr>
          </a:p>
          <a:p>
            <a:pPr algn="just"/>
            <a:r>
              <a:rPr lang="en-US" sz="2400" b="1" dirty="0">
                <a:latin typeface="+mj-lt"/>
              </a:rPr>
              <a:t>		</a:t>
            </a:r>
          </a:p>
          <a:p>
            <a:pPr algn="just"/>
            <a:endParaRPr lang="en-US" sz="2400" b="1" dirty="0">
              <a:latin typeface="+mj-lt"/>
            </a:endParaRPr>
          </a:p>
          <a:p>
            <a:pPr algn="just"/>
            <a:endParaRPr lang="en-US" sz="2400" b="1" dirty="0">
              <a:latin typeface="+mj-lt"/>
            </a:endParaRP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611189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963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76457" y="522898"/>
            <a:ext cx="461554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Initiating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137299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9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160891" y="3879035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73444" y="301390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4607766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Circle: Hollow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205197" y="2247144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3" name="Group 112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11161423" y="1980414"/>
            <a:ext cx="378221" cy="380335"/>
            <a:chOff x="3171788" y="779462"/>
            <a:chExt cx="284163" cy="285751"/>
          </a:xfrm>
          <a:solidFill>
            <a:schemeClr val="accent3">
              <a:lumMod val="75000"/>
            </a:schemeClr>
          </a:solidFill>
        </p:grpSpPr>
        <p:sp>
          <p:nvSpPr>
            <p:cNvPr id="114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6" name="Group 115" descr="Icon of books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9785614" y="4484741"/>
            <a:ext cx="344413" cy="382447"/>
            <a:chOff x="2608263" y="1920875"/>
            <a:chExt cx="258763" cy="287338"/>
          </a:xfrm>
          <a:solidFill>
            <a:schemeClr val="accent4">
              <a:lumMod val="75000"/>
            </a:schemeClr>
          </a:solidFill>
        </p:grpSpPr>
        <p:sp>
          <p:nvSpPr>
            <p:cNvPr id="117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Freeform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Freeform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8" name="Freeform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9" name="Freeform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1" name="Freeform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2" name="Freeform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3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11180206" y="3620670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11159311" y="5214528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35" name="Group 134" descr="Icon of computer monitors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9810903" y="2852850"/>
            <a:ext cx="382447" cy="382446"/>
            <a:chOff x="879475" y="5100638"/>
            <a:chExt cx="287338" cy="287337"/>
          </a:xfrm>
          <a:solidFill>
            <a:schemeClr val="accent4">
              <a:lumMod val="75000"/>
            </a:schemeClr>
          </a:solidFill>
        </p:grpSpPr>
        <p:sp>
          <p:nvSpPr>
            <p:cNvPr id="136" name="Freeform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7" name="Freeform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8" name="Freeform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9" name="Freeform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0" name="Freeform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1817705" y="1372998"/>
            <a:ext cx="6039083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b="1" dirty="0">
                <a:latin typeface="+mj-lt"/>
              </a:rPr>
              <a:t>Scope Document</a:t>
            </a:r>
          </a:p>
          <a:p>
            <a:pPr algn="just"/>
            <a:endParaRPr lang="en-US" sz="4400" b="1" dirty="0">
              <a:latin typeface="+mj-lt"/>
            </a:endParaRPr>
          </a:p>
          <a:p>
            <a:pPr algn="just"/>
            <a:r>
              <a:rPr lang="en-US" sz="2400" b="1" dirty="0">
                <a:latin typeface="+mj-lt"/>
              </a:rPr>
              <a:t>        </a:t>
            </a:r>
            <a:r>
              <a:rPr lang="en-US" sz="3600" b="1" dirty="0">
                <a:latin typeface="+mj-lt"/>
              </a:rPr>
              <a:t>Project TimeLine</a:t>
            </a:r>
          </a:p>
          <a:p>
            <a:pPr algn="just"/>
            <a:endParaRPr lang="en-US" sz="2800" b="1" dirty="0">
              <a:latin typeface="+mj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Begin : </a:t>
            </a:r>
            <a:r>
              <a:rPr lang="en-US" sz="2400" b="1" dirty="0" smtClean="0">
                <a:latin typeface="+mj-lt"/>
              </a:rPr>
              <a:t>22– June </a:t>
            </a:r>
            <a:r>
              <a:rPr lang="en-US" sz="2400" b="1" dirty="0">
                <a:latin typeface="+mj-lt"/>
              </a:rPr>
              <a:t>– </a:t>
            </a:r>
            <a:r>
              <a:rPr lang="en-US" sz="2400" b="1" dirty="0" smtClean="0">
                <a:latin typeface="+mj-lt"/>
              </a:rPr>
              <a:t>2022</a:t>
            </a:r>
            <a:endParaRPr lang="en-US" sz="2400" b="1" dirty="0">
              <a:latin typeface="+mj-lt"/>
            </a:endParaRPr>
          </a:p>
          <a:p>
            <a:pPr algn="just"/>
            <a:endParaRPr lang="en-US" sz="2400" b="1" dirty="0">
              <a:latin typeface="+mj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Deliver by : </a:t>
            </a:r>
            <a:r>
              <a:rPr lang="en-US" sz="2400" b="1" dirty="0" smtClean="0">
                <a:latin typeface="+mj-lt"/>
              </a:rPr>
              <a:t>8-July-2023</a:t>
            </a:r>
            <a:endParaRPr lang="en-US" sz="2400" dirty="0">
              <a:latin typeface="+mj-lt"/>
            </a:endParaRPr>
          </a:p>
          <a:p>
            <a:pPr algn="just"/>
            <a:r>
              <a:rPr lang="en-US" sz="2400" b="1" dirty="0">
                <a:latin typeface="+mj-lt"/>
              </a:rPr>
              <a:t>		</a:t>
            </a:r>
          </a:p>
          <a:p>
            <a:pPr algn="just"/>
            <a:endParaRPr lang="en-US" sz="2400" b="1" dirty="0">
              <a:latin typeface="+mj-lt"/>
            </a:endParaRPr>
          </a:p>
          <a:p>
            <a:pPr algn="just"/>
            <a:endParaRPr lang="en-US" sz="2400" b="1" dirty="0">
              <a:latin typeface="+mj-lt"/>
            </a:endParaRP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611189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707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76457" y="522898"/>
            <a:ext cx="461554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Initiating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137299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9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160891" y="3879035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73444" y="301390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4607766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Circle: Hollow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205197" y="2247144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3" name="Group 112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11161423" y="1980414"/>
            <a:ext cx="378221" cy="380335"/>
            <a:chOff x="3171788" y="779462"/>
            <a:chExt cx="284163" cy="285751"/>
          </a:xfrm>
          <a:solidFill>
            <a:schemeClr val="accent3">
              <a:lumMod val="75000"/>
            </a:schemeClr>
          </a:solidFill>
        </p:grpSpPr>
        <p:sp>
          <p:nvSpPr>
            <p:cNvPr id="114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6" name="Group 115" descr="Icon of books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9785614" y="4484741"/>
            <a:ext cx="344413" cy="382447"/>
            <a:chOff x="2608263" y="1920875"/>
            <a:chExt cx="258763" cy="287338"/>
          </a:xfrm>
          <a:solidFill>
            <a:schemeClr val="accent4">
              <a:lumMod val="75000"/>
            </a:schemeClr>
          </a:solidFill>
        </p:grpSpPr>
        <p:sp>
          <p:nvSpPr>
            <p:cNvPr id="117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Freeform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Freeform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8" name="Freeform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9" name="Freeform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1" name="Freeform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2" name="Freeform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3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11180206" y="3620670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11159311" y="5214528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35" name="Group 134" descr="Icon of computer monitors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9810903" y="2852850"/>
            <a:ext cx="382447" cy="382446"/>
            <a:chOff x="879475" y="5100638"/>
            <a:chExt cx="287338" cy="287337"/>
          </a:xfrm>
          <a:solidFill>
            <a:schemeClr val="accent4">
              <a:lumMod val="75000"/>
            </a:schemeClr>
          </a:solidFill>
        </p:grpSpPr>
        <p:sp>
          <p:nvSpPr>
            <p:cNvPr id="136" name="Freeform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7" name="Freeform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8" name="Freeform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9" name="Freeform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0" name="Freeform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1702463" y="1464694"/>
            <a:ext cx="6039083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b="1" dirty="0">
                <a:latin typeface="+mj-lt"/>
              </a:rPr>
              <a:t>Scope Document</a:t>
            </a:r>
          </a:p>
          <a:p>
            <a:pPr algn="just"/>
            <a:endParaRPr lang="en-US" sz="4400" b="1" dirty="0">
              <a:latin typeface="+mj-lt"/>
            </a:endParaRPr>
          </a:p>
          <a:p>
            <a:pPr algn="just"/>
            <a:r>
              <a:rPr lang="en-US" sz="2400" b="1" dirty="0">
                <a:latin typeface="+mj-lt"/>
              </a:rPr>
              <a:t>     </a:t>
            </a:r>
            <a:r>
              <a:rPr lang="en-US" sz="3600" b="1" dirty="0">
                <a:latin typeface="+mj-lt"/>
              </a:rPr>
              <a:t>Deliverables</a:t>
            </a:r>
          </a:p>
          <a:p>
            <a:pPr algn="just"/>
            <a:endParaRPr lang="en-US" sz="2800" b="1" dirty="0">
              <a:latin typeface="+mj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Scope Document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Project Plan (Gantt Chart)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Budget Distribution List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Progress Report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Test Reports</a:t>
            </a:r>
          </a:p>
          <a:p>
            <a:pPr algn="just"/>
            <a:endParaRPr lang="en-US" sz="2400" b="1" dirty="0">
              <a:latin typeface="+mj-lt"/>
            </a:endParaRP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611189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5243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76457" y="522898"/>
            <a:ext cx="461554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Initiating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137299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9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160891" y="3879035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73444" y="301390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4607766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Circle: Hollow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205197" y="2247144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3" name="Group 112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11161423" y="1980414"/>
            <a:ext cx="378221" cy="380335"/>
            <a:chOff x="3171788" y="779462"/>
            <a:chExt cx="284163" cy="285751"/>
          </a:xfrm>
          <a:solidFill>
            <a:schemeClr val="accent3">
              <a:lumMod val="75000"/>
            </a:schemeClr>
          </a:solidFill>
        </p:grpSpPr>
        <p:sp>
          <p:nvSpPr>
            <p:cNvPr id="114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6" name="Group 115" descr="Icon of books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9785614" y="4484741"/>
            <a:ext cx="344413" cy="382447"/>
            <a:chOff x="2608263" y="1920875"/>
            <a:chExt cx="258763" cy="287338"/>
          </a:xfrm>
          <a:solidFill>
            <a:schemeClr val="accent4">
              <a:lumMod val="75000"/>
            </a:schemeClr>
          </a:solidFill>
        </p:grpSpPr>
        <p:sp>
          <p:nvSpPr>
            <p:cNvPr id="117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Freeform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Freeform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8" name="Freeform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9" name="Freeform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1" name="Freeform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2" name="Freeform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3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11180206" y="3620670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11159311" y="5214528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35" name="Group 134" descr="Icon of computer monitors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9810903" y="2852850"/>
            <a:ext cx="382447" cy="382446"/>
            <a:chOff x="879475" y="5100638"/>
            <a:chExt cx="287338" cy="287337"/>
          </a:xfrm>
          <a:solidFill>
            <a:schemeClr val="accent4">
              <a:lumMod val="75000"/>
            </a:schemeClr>
          </a:solidFill>
        </p:grpSpPr>
        <p:sp>
          <p:nvSpPr>
            <p:cNvPr id="136" name="Freeform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7" name="Freeform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8" name="Freeform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9" name="Freeform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0" name="Freeform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1702463" y="1464694"/>
            <a:ext cx="6039083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b="1" dirty="0">
                <a:latin typeface="+mj-lt"/>
              </a:rPr>
              <a:t>Scope Document</a:t>
            </a:r>
          </a:p>
          <a:p>
            <a:pPr algn="just"/>
            <a:endParaRPr lang="en-US" sz="4400" b="1" dirty="0">
              <a:latin typeface="+mj-lt"/>
            </a:endParaRPr>
          </a:p>
          <a:p>
            <a:pPr algn="just"/>
            <a:r>
              <a:rPr lang="en-US" sz="2400" b="1" dirty="0">
                <a:latin typeface="+mj-lt"/>
              </a:rPr>
              <a:t>    </a:t>
            </a:r>
            <a:r>
              <a:rPr lang="en-US" sz="3600" b="1" dirty="0">
                <a:latin typeface="+mj-lt"/>
              </a:rPr>
              <a:t>Constraints</a:t>
            </a:r>
          </a:p>
          <a:p>
            <a:pPr algn="just"/>
            <a:endParaRPr lang="en-US" sz="2800" b="1" dirty="0">
              <a:latin typeface="+mj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Hyper Complexity.</a:t>
            </a:r>
          </a:p>
          <a:p>
            <a:pPr algn="just"/>
            <a:endParaRPr lang="en-US" sz="2400" b="1" dirty="0">
              <a:latin typeface="+mj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Processing Power Limitation.</a:t>
            </a:r>
          </a:p>
          <a:p>
            <a:pPr algn="just"/>
            <a:endParaRPr lang="en-US" sz="2400" b="1" dirty="0">
              <a:latin typeface="+mj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Difficulty In recognizing intent of Statements. 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611189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137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76457" y="522898"/>
            <a:ext cx="461554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Initiating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137299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9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160891" y="3879035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73444" y="301390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4607766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Circle: Hollow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205197" y="2247144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3" name="Group 112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11161423" y="1980414"/>
            <a:ext cx="378221" cy="380335"/>
            <a:chOff x="3171788" y="779462"/>
            <a:chExt cx="284163" cy="285751"/>
          </a:xfrm>
          <a:solidFill>
            <a:schemeClr val="accent3">
              <a:lumMod val="75000"/>
            </a:schemeClr>
          </a:solidFill>
        </p:grpSpPr>
        <p:sp>
          <p:nvSpPr>
            <p:cNvPr id="114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6" name="Group 115" descr="Icon of books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9785614" y="4484741"/>
            <a:ext cx="344413" cy="382447"/>
            <a:chOff x="2608263" y="1920875"/>
            <a:chExt cx="258763" cy="287338"/>
          </a:xfrm>
          <a:solidFill>
            <a:schemeClr val="accent4">
              <a:lumMod val="75000"/>
            </a:schemeClr>
          </a:solidFill>
        </p:grpSpPr>
        <p:sp>
          <p:nvSpPr>
            <p:cNvPr id="117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Freeform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Freeform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8" name="Freeform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9" name="Freeform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1" name="Freeform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2" name="Freeform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3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11180206" y="3620670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11159311" y="5214528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35" name="Group 134" descr="Icon of computer monitors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9810903" y="2852850"/>
            <a:ext cx="382447" cy="382446"/>
            <a:chOff x="879475" y="5100638"/>
            <a:chExt cx="287338" cy="287337"/>
          </a:xfrm>
          <a:solidFill>
            <a:schemeClr val="accent4">
              <a:lumMod val="75000"/>
            </a:schemeClr>
          </a:solidFill>
        </p:grpSpPr>
        <p:sp>
          <p:nvSpPr>
            <p:cNvPr id="136" name="Freeform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7" name="Freeform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8" name="Freeform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9" name="Freeform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0" name="Freeform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1702463" y="1464694"/>
            <a:ext cx="603908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b="1" dirty="0">
                <a:latin typeface="+mj-lt"/>
              </a:rPr>
              <a:t>Scope Document</a:t>
            </a:r>
          </a:p>
          <a:p>
            <a:pPr algn="just"/>
            <a:endParaRPr lang="en-US" sz="4400" b="1" dirty="0">
              <a:latin typeface="+mj-lt"/>
            </a:endParaRPr>
          </a:p>
          <a:p>
            <a:pPr algn="just"/>
            <a:r>
              <a:rPr lang="en-US" sz="2400" b="1" dirty="0">
                <a:latin typeface="+mj-lt"/>
              </a:rPr>
              <a:t>    </a:t>
            </a:r>
            <a:r>
              <a:rPr lang="en-US" sz="3600" b="1" dirty="0">
                <a:latin typeface="+mj-lt"/>
              </a:rPr>
              <a:t>Risks</a:t>
            </a:r>
          </a:p>
          <a:p>
            <a:pPr algn="just"/>
            <a:endParaRPr lang="en-US" sz="2800" b="1" dirty="0">
              <a:latin typeface="+mj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Crashing due to buffer overload.</a:t>
            </a:r>
          </a:p>
          <a:p>
            <a:pPr algn="just"/>
            <a:endParaRPr lang="en-US" sz="2400" b="1" dirty="0">
              <a:latin typeface="+mj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Miss-identification of Variables.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b="1" dirty="0">
              <a:latin typeface="+mj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Input not identifiable.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b="1" dirty="0">
              <a:latin typeface="+mj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Limitation of algorithm.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611189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30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76457" y="522898"/>
            <a:ext cx="461554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Initiating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137299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9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160891" y="3879035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73444" y="301390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4607766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Circle: Hollow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205197" y="2247144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3" name="Group 112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11161423" y="1980414"/>
            <a:ext cx="378221" cy="380335"/>
            <a:chOff x="3171788" y="779462"/>
            <a:chExt cx="284163" cy="285751"/>
          </a:xfrm>
          <a:solidFill>
            <a:schemeClr val="accent3">
              <a:lumMod val="75000"/>
            </a:schemeClr>
          </a:solidFill>
        </p:grpSpPr>
        <p:sp>
          <p:nvSpPr>
            <p:cNvPr id="114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6" name="Group 115" descr="Icon of books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9785614" y="4484741"/>
            <a:ext cx="344413" cy="382447"/>
            <a:chOff x="2608263" y="1920875"/>
            <a:chExt cx="258763" cy="287338"/>
          </a:xfrm>
          <a:solidFill>
            <a:schemeClr val="accent4">
              <a:lumMod val="75000"/>
            </a:schemeClr>
          </a:solidFill>
        </p:grpSpPr>
        <p:sp>
          <p:nvSpPr>
            <p:cNvPr id="117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Freeform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Freeform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8" name="Freeform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9" name="Freeform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1" name="Freeform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2" name="Freeform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3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11180206" y="3620670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11159311" y="5214528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35" name="Group 134" descr="Icon of computer monitors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9810903" y="2852850"/>
            <a:ext cx="382447" cy="382446"/>
            <a:chOff x="879475" y="5100638"/>
            <a:chExt cx="287338" cy="287337"/>
          </a:xfrm>
          <a:solidFill>
            <a:schemeClr val="accent4">
              <a:lumMod val="75000"/>
            </a:schemeClr>
          </a:solidFill>
        </p:grpSpPr>
        <p:sp>
          <p:nvSpPr>
            <p:cNvPr id="136" name="Freeform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7" name="Freeform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8" name="Freeform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9" name="Freeform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0" name="Freeform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1702463" y="1464694"/>
            <a:ext cx="603908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b="1" dirty="0">
                <a:latin typeface="+mj-lt"/>
              </a:rPr>
              <a:t>Requirements of the development team</a:t>
            </a:r>
            <a:endParaRPr lang="en-US" sz="4400" b="1" dirty="0">
              <a:latin typeface="+mj-lt"/>
            </a:endParaRPr>
          </a:p>
          <a:p>
            <a:pPr algn="just"/>
            <a:endParaRPr lang="en-US" sz="2800" b="1" dirty="0">
              <a:latin typeface="+mj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TPU enabled Work Station </a:t>
            </a:r>
          </a:p>
          <a:p>
            <a:pPr algn="just"/>
            <a:endParaRPr lang="en-US" sz="2400" b="1" dirty="0">
              <a:latin typeface="+mj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Deep Learning Concepts</a:t>
            </a:r>
          </a:p>
          <a:p>
            <a:pPr algn="just"/>
            <a:endParaRPr lang="en-US" sz="2400" b="1" dirty="0">
              <a:latin typeface="+mj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Algorithm Design Concepts</a:t>
            </a:r>
          </a:p>
          <a:p>
            <a:pPr algn="just"/>
            <a:endParaRPr lang="en-US" sz="2400" b="1" dirty="0">
              <a:latin typeface="+mj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NLP Expert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611189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8642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76457" y="522898"/>
            <a:ext cx="461554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Initiating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137299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9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160891" y="3879035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73444" y="301390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4607766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Circle: Hollow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205197" y="2247144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3" name="Group 112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11161423" y="1980414"/>
            <a:ext cx="378221" cy="380335"/>
            <a:chOff x="3171788" y="779462"/>
            <a:chExt cx="284163" cy="285751"/>
          </a:xfrm>
          <a:solidFill>
            <a:schemeClr val="accent3">
              <a:lumMod val="75000"/>
            </a:schemeClr>
          </a:solidFill>
        </p:grpSpPr>
        <p:sp>
          <p:nvSpPr>
            <p:cNvPr id="114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6" name="Group 115" descr="Icon of books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9785614" y="4484741"/>
            <a:ext cx="344413" cy="382447"/>
            <a:chOff x="2608263" y="1920875"/>
            <a:chExt cx="258763" cy="287338"/>
          </a:xfrm>
          <a:solidFill>
            <a:schemeClr val="accent4">
              <a:lumMod val="75000"/>
            </a:schemeClr>
          </a:solidFill>
        </p:grpSpPr>
        <p:sp>
          <p:nvSpPr>
            <p:cNvPr id="117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Freeform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Freeform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8" name="Freeform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9" name="Freeform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1" name="Freeform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2" name="Freeform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3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11180206" y="3620670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11159311" y="5214528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35" name="Group 134" descr="Icon of computer monitors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9810903" y="2852850"/>
            <a:ext cx="382447" cy="382446"/>
            <a:chOff x="879475" y="5100638"/>
            <a:chExt cx="287338" cy="287337"/>
          </a:xfrm>
          <a:solidFill>
            <a:schemeClr val="accent4">
              <a:lumMod val="75000"/>
            </a:schemeClr>
          </a:solidFill>
        </p:grpSpPr>
        <p:sp>
          <p:nvSpPr>
            <p:cNvPr id="136" name="Freeform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7" name="Freeform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8" name="Freeform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9" name="Freeform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0" name="Freeform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1214846" y="1464694"/>
            <a:ext cx="7452607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b="1" dirty="0">
                <a:latin typeface="+mj-lt"/>
              </a:rPr>
              <a:t>Requirements of the development team</a:t>
            </a:r>
            <a:endParaRPr lang="en-US" sz="4400" b="1" dirty="0">
              <a:latin typeface="+mj-lt"/>
            </a:endParaRPr>
          </a:p>
          <a:p>
            <a:pPr algn="just"/>
            <a:endParaRPr lang="en-US" sz="2800" b="1" dirty="0">
              <a:latin typeface="+mj-lt"/>
            </a:endParaRPr>
          </a:p>
          <a:p>
            <a:pPr algn="just"/>
            <a:endParaRPr lang="en-US" sz="2800" b="1" dirty="0">
              <a:latin typeface="+mj-lt"/>
            </a:endParaRPr>
          </a:p>
          <a:p>
            <a:pPr algn="just"/>
            <a:r>
              <a:rPr lang="en-US" sz="2800" b="1" dirty="0">
                <a:latin typeface="+mj-lt"/>
              </a:rPr>
              <a:t>Request for Project Manager : </a:t>
            </a:r>
            <a:r>
              <a:rPr lang="en-US" sz="2800" b="1" dirty="0" smtClean="0">
                <a:latin typeface="+mj-lt"/>
              </a:rPr>
              <a:t>Allah </a:t>
            </a:r>
            <a:r>
              <a:rPr lang="en-US" sz="2800" b="1" dirty="0" err="1" smtClean="0">
                <a:latin typeface="+mj-lt"/>
              </a:rPr>
              <a:t>Deta</a:t>
            </a:r>
            <a:endParaRPr lang="en-US" sz="2800" b="1" dirty="0">
              <a:latin typeface="+mj-lt"/>
            </a:endParaRPr>
          </a:p>
          <a:p>
            <a:pPr algn="just"/>
            <a:endParaRPr lang="en-US" sz="2800" b="1" dirty="0">
              <a:latin typeface="+mj-lt"/>
            </a:endParaRPr>
          </a:p>
          <a:p>
            <a:pPr algn="just"/>
            <a:r>
              <a:rPr lang="en-US" sz="2800" b="1" dirty="0">
                <a:latin typeface="+mj-lt"/>
              </a:rPr>
              <a:t>Request has been granted by the performing organization body.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611189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9480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76457" y="522898"/>
            <a:ext cx="461554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Initiating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137299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9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160891" y="3879035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73444" y="301390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4607766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Circle: Hollow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205197" y="2247144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3" name="Group 112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11161423" y="1980414"/>
            <a:ext cx="378221" cy="380335"/>
            <a:chOff x="3171788" y="779462"/>
            <a:chExt cx="284163" cy="285751"/>
          </a:xfrm>
          <a:solidFill>
            <a:schemeClr val="accent3">
              <a:lumMod val="75000"/>
            </a:schemeClr>
          </a:solidFill>
        </p:grpSpPr>
        <p:sp>
          <p:nvSpPr>
            <p:cNvPr id="114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6" name="Group 115" descr="Icon of books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9785614" y="4484741"/>
            <a:ext cx="344413" cy="382447"/>
            <a:chOff x="2608263" y="1920875"/>
            <a:chExt cx="258763" cy="287338"/>
          </a:xfrm>
          <a:solidFill>
            <a:schemeClr val="accent4">
              <a:lumMod val="75000"/>
            </a:schemeClr>
          </a:solidFill>
        </p:grpSpPr>
        <p:sp>
          <p:nvSpPr>
            <p:cNvPr id="117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Freeform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Freeform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8" name="Freeform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9" name="Freeform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1" name="Freeform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2" name="Freeform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3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11180206" y="3620670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11159311" y="5214528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35" name="Group 134" descr="Icon of computer monitors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9810903" y="2852850"/>
            <a:ext cx="382447" cy="382446"/>
            <a:chOff x="879475" y="5100638"/>
            <a:chExt cx="287338" cy="287337"/>
          </a:xfrm>
          <a:solidFill>
            <a:schemeClr val="accent4">
              <a:lumMod val="75000"/>
            </a:schemeClr>
          </a:solidFill>
        </p:grpSpPr>
        <p:sp>
          <p:nvSpPr>
            <p:cNvPr id="136" name="Freeform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7" name="Freeform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8" name="Freeform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9" name="Freeform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0" name="Freeform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1214846" y="1464694"/>
            <a:ext cx="745260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b="1" dirty="0">
                <a:latin typeface="+mj-lt"/>
              </a:rPr>
              <a:t>Authorization:</a:t>
            </a:r>
            <a:endParaRPr lang="en-US" sz="2800" b="1" dirty="0">
              <a:latin typeface="+mj-lt"/>
            </a:endParaRPr>
          </a:p>
          <a:p>
            <a:pPr algn="just"/>
            <a:endParaRPr lang="en-US" sz="2800" b="1" dirty="0">
              <a:latin typeface="+mj-lt"/>
            </a:endParaRPr>
          </a:p>
          <a:p>
            <a:pPr algn="just"/>
            <a:r>
              <a:rPr lang="en-US" sz="2800" b="1" dirty="0">
                <a:latin typeface="+mj-lt"/>
              </a:rPr>
              <a:t>In light of the scope document,</a:t>
            </a:r>
          </a:p>
          <a:p>
            <a:pPr algn="just"/>
            <a:endParaRPr lang="en-US" sz="2800" b="1" dirty="0">
              <a:latin typeface="+mj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The Client “Acceleron Corps.” has authorized to began work.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b="1" dirty="0">
              <a:latin typeface="+mj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The performing organization “Zed Developers” has authorized to began work.</a:t>
            </a:r>
          </a:p>
          <a:p>
            <a:pPr algn="just"/>
            <a:endParaRPr lang="en-US" sz="2800" b="1" dirty="0">
              <a:latin typeface="+mj-lt"/>
            </a:endParaRP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611189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45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438606" y="522898"/>
            <a:ext cx="3753394" cy="3918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Building a Plan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137299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9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160891" y="3879035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73444" y="301390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4607766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Circle: Hollow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205197" y="2247144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3" name="Group 112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11161423" y="1980414"/>
            <a:ext cx="378221" cy="380335"/>
            <a:chOff x="3171788" y="779462"/>
            <a:chExt cx="284163" cy="285751"/>
          </a:xfrm>
          <a:solidFill>
            <a:schemeClr val="accent2">
              <a:lumMod val="75000"/>
            </a:schemeClr>
          </a:solidFill>
        </p:grpSpPr>
        <p:sp>
          <p:nvSpPr>
            <p:cNvPr id="114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6" name="Group 115" descr="Icon of books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9785614" y="4484741"/>
            <a:ext cx="344413" cy="382447"/>
            <a:chOff x="2608263" y="1920875"/>
            <a:chExt cx="258763" cy="287338"/>
          </a:xfrm>
          <a:solidFill>
            <a:schemeClr val="accent6">
              <a:lumMod val="75000"/>
            </a:schemeClr>
          </a:solidFill>
        </p:grpSpPr>
        <p:sp>
          <p:nvSpPr>
            <p:cNvPr id="117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Freeform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Freeform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8" name="Freeform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9" name="Freeform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1" name="Freeform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2" name="Freeform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3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11180206" y="3620670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11159311" y="5214528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35" name="Group 134" descr="Icon of computer monitors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9810903" y="2852850"/>
            <a:ext cx="382447" cy="382446"/>
            <a:chOff x="879475" y="5100638"/>
            <a:chExt cx="287338" cy="287337"/>
          </a:xfrm>
          <a:solidFill>
            <a:schemeClr val="accent6">
              <a:lumMod val="75000"/>
            </a:schemeClr>
          </a:solidFill>
        </p:grpSpPr>
        <p:sp>
          <p:nvSpPr>
            <p:cNvPr id="136" name="Freeform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7" name="Freeform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8" name="Freeform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9" name="Freeform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0" name="Freeform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2571710" y="1905277"/>
            <a:ext cx="6616584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800" b="1" dirty="0">
              <a:latin typeface="+mj-lt"/>
            </a:endParaRPr>
          </a:p>
          <a:p>
            <a:pPr algn="just"/>
            <a:r>
              <a:rPr lang="en-US" sz="3600" b="1" dirty="0">
                <a:latin typeface="+mj-lt"/>
              </a:rPr>
              <a:t>Development Model </a:t>
            </a:r>
          </a:p>
          <a:p>
            <a:pPr algn="just"/>
            <a:endParaRPr lang="en-US" sz="2800" b="1" dirty="0">
              <a:latin typeface="+mj-lt"/>
            </a:endParaRPr>
          </a:p>
          <a:p>
            <a:pPr algn="just"/>
            <a:endParaRPr lang="en-US" sz="2800" b="1" dirty="0">
              <a:latin typeface="+mj-lt"/>
            </a:endParaRPr>
          </a:p>
          <a:p>
            <a:pPr algn="just"/>
            <a:endParaRPr lang="en-US" sz="2800" b="1" dirty="0">
              <a:latin typeface="+mj-lt"/>
            </a:endParaRPr>
          </a:p>
          <a:p>
            <a:pPr algn="just"/>
            <a:r>
              <a:rPr lang="en-US" sz="3600" b="1" dirty="0">
                <a:latin typeface="+mj-lt"/>
              </a:rPr>
              <a:t>         Water Fall 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6576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061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438606" y="522898"/>
            <a:ext cx="3753394" cy="3918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Building a Plan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137299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9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160891" y="3879035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73444" y="301390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4607766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Circle: Hollow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205197" y="2247144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3" name="Group 112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11161423" y="1980414"/>
            <a:ext cx="378221" cy="380335"/>
            <a:chOff x="3171788" y="779462"/>
            <a:chExt cx="284163" cy="285751"/>
          </a:xfrm>
          <a:solidFill>
            <a:schemeClr val="accent2">
              <a:lumMod val="75000"/>
            </a:schemeClr>
          </a:solidFill>
        </p:grpSpPr>
        <p:sp>
          <p:nvSpPr>
            <p:cNvPr id="114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6" name="Group 115" descr="Icon of books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9785614" y="4484741"/>
            <a:ext cx="344413" cy="382447"/>
            <a:chOff x="2608263" y="1920875"/>
            <a:chExt cx="258763" cy="287338"/>
          </a:xfrm>
          <a:solidFill>
            <a:schemeClr val="accent6">
              <a:lumMod val="75000"/>
            </a:schemeClr>
          </a:solidFill>
        </p:grpSpPr>
        <p:sp>
          <p:nvSpPr>
            <p:cNvPr id="117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Freeform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Freeform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8" name="Freeform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9" name="Freeform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1" name="Freeform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2" name="Freeform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3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11180206" y="3620670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11159311" y="5214528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35" name="Group 134" descr="Icon of computer monitors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9810903" y="2852850"/>
            <a:ext cx="382447" cy="382446"/>
            <a:chOff x="879475" y="5100638"/>
            <a:chExt cx="287338" cy="287337"/>
          </a:xfrm>
          <a:solidFill>
            <a:schemeClr val="accent6">
              <a:lumMod val="75000"/>
            </a:schemeClr>
          </a:solidFill>
        </p:grpSpPr>
        <p:sp>
          <p:nvSpPr>
            <p:cNvPr id="136" name="Freeform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7" name="Freeform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8" name="Freeform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9" name="Freeform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0" name="Freeform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1214846" y="1464694"/>
            <a:ext cx="745260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800" b="1" dirty="0">
              <a:latin typeface="+mj-lt"/>
            </a:endParaRPr>
          </a:p>
          <a:p>
            <a:pPr algn="just"/>
            <a:r>
              <a:rPr lang="en-US" sz="2800" b="1" dirty="0">
                <a:latin typeface="+mj-lt"/>
              </a:rPr>
              <a:t>For the whole lifetime of the project; </a:t>
            </a:r>
          </a:p>
          <a:p>
            <a:pPr algn="just"/>
            <a:r>
              <a:rPr lang="en-US" sz="2800" b="1" dirty="0">
                <a:latin typeface="+mj-lt"/>
              </a:rPr>
              <a:t>It has been divided into 4 work packages.</a:t>
            </a:r>
          </a:p>
          <a:p>
            <a:pPr algn="just"/>
            <a:endParaRPr lang="en-US" sz="2800" b="1" dirty="0">
              <a:latin typeface="+mj-lt"/>
            </a:endParaRPr>
          </a:p>
          <a:p>
            <a:pPr marL="514350" indent="-514350" algn="just">
              <a:buAutoNum type="arabicParenR"/>
            </a:pPr>
            <a:r>
              <a:rPr lang="en-US" sz="2800" b="1" dirty="0">
                <a:latin typeface="+mj-lt"/>
              </a:rPr>
              <a:t>WP1. Inception</a:t>
            </a:r>
          </a:p>
          <a:p>
            <a:pPr marL="514350" indent="-514350" algn="just">
              <a:buAutoNum type="arabicParenR"/>
            </a:pPr>
            <a:r>
              <a:rPr lang="en-US" sz="2800" b="1" dirty="0">
                <a:latin typeface="+mj-lt"/>
              </a:rPr>
              <a:t>WP2. Construction</a:t>
            </a:r>
          </a:p>
          <a:p>
            <a:pPr marL="514350" indent="-514350" algn="just">
              <a:buAutoNum type="arabicParenR"/>
            </a:pPr>
            <a:r>
              <a:rPr lang="en-US" sz="2800" b="1" dirty="0">
                <a:latin typeface="+mj-lt"/>
              </a:rPr>
              <a:t>WP3. Deployment</a:t>
            </a:r>
          </a:p>
          <a:p>
            <a:pPr marL="514350" indent="-514350" algn="just">
              <a:buAutoNum type="arabicParenR"/>
            </a:pPr>
            <a:r>
              <a:rPr lang="en-US" sz="2800" b="1" dirty="0">
                <a:latin typeface="+mj-lt"/>
              </a:rPr>
              <a:t>WP4. Experimentation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6576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214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438606" y="522898"/>
            <a:ext cx="3753394" cy="3918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Building a Plan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6576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844058" y="1003063"/>
            <a:ext cx="4402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+mj-lt"/>
              </a:rPr>
              <a:t>Work Breakdown Structure</a:t>
            </a:r>
            <a:endParaRPr lang="en-US" sz="2400" b="1" dirty="0">
              <a:latin typeface="+mj-lt"/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52" y="1563932"/>
            <a:ext cx="11480348" cy="487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2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438606" y="522898"/>
            <a:ext cx="3753394" cy="3918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0391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Building a Plan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6576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4694"/>
            <a:ext cx="11592993" cy="492606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7568" y="952187"/>
            <a:ext cx="1995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+mj-lt"/>
              </a:rPr>
              <a:t>Gantt Chart</a:t>
            </a:r>
            <a:endParaRPr lang="en-US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50370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438606" y="522898"/>
            <a:ext cx="3753394" cy="3918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Building a Plan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6576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97" y="2057144"/>
            <a:ext cx="11507806" cy="389915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236516" y="1066679"/>
            <a:ext cx="1995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+mj-lt"/>
              </a:rPr>
              <a:t>Gantt Chart</a:t>
            </a:r>
            <a:endParaRPr lang="en-US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9940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438606" y="522898"/>
            <a:ext cx="3753394" cy="3918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Building a Plan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137299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9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160891" y="3879035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73444" y="301390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4607766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Circle: Hollow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205197" y="2247144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3" name="Group 112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11161423" y="1980414"/>
            <a:ext cx="378221" cy="380335"/>
            <a:chOff x="3171788" y="779462"/>
            <a:chExt cx="284163" cy="285751"/>
          </a:xfrm>
          <a:solidFill>
            <a:schemeClr val="accent2">
              <a:lumMod val="75000"/>
            </a:schemeClr>
          </a:solidFill>
        </p:grpSpPr>
        <p:sp>
          <p:nvSpPr>
            <p:cNvPr id="114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6" name="Group 115" descr="Icon of books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9785614" y="4484741"/>
            <a:ext cx="344413" cy="382447"/>
            <a:chOff x="2608263" y="1920875"/>
            <a:chExt cx="258763" cy="287338"/>
          </a:xfrm>
          <a:solidFill>
            <a:schemeClr val="accent6">
              <a:lumMod val="75000"/>
            </a:schemeClr>
          </a:solidFill>
        </p:grpSpPr>
        <p:sp>
          <p:nvSpPr>
            <p:cNvPr id="117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Freeform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Freeform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8" name="Freeform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9" name="Freeform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1" name="Freeform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2" name="Freeform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3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11180206" y="3620670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11159311" y="5214528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35" name="Group 134" descr="Icon of computer monitors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9810903" y="2852850"/>
            <a:ext cx="382447" cy="382446"/>
            <a:chOff x="879475" y="5100638"/>
            <a:chExt cx="287338" cy="287337"/>
          </a:xfrm>
          <a:solidFill>
            <a:schemeClr val="accent6">
              <a:lumMod val="75000"/>
            </a:schemeClr>
          </a:solidFill>
        </p:grpSpPr>
        <p:sp>
          <p:nvSpPr>
            <p:cNvPr id="136" name="Freeform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7" name="Freeform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8" name="Freeform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9" name="Freeform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0" name="Freeform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1214846" y="1464694"/>
            <a:ext cx="745260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b="1" dirty="0">
                <a:latin typeface="+mj-lt"/>
              </a:rPr>
              <a:t>Deliverable from Client</a:t>
            </a:r>
          </a:p>
          <a:p>
            <a:pPr algn="just"/>
            <a:endParaRPr lang="en-US" sz="3600" b="1" dirty="0">
              <a:latin typeface="+mj-lt"/>
            </a:endParaRPr>
          </a:p>
          <a:p>
            <a:pPr algn="just"/>
            <a:r>
              <a:rPr lang="en-US" sz="2800" b="1" dirty="0">
                <a:latin typeface="+mj-lt"/>
              </a:rPr>
              <a:t>List of candidates for WP4</a:t>
            </a:r>
          </a:p>
          <a:p>
            <a:pPr algn="just"/>
            <a:endParaRPr lang="en-US" sz="2800" b="1" dirty="0">
              <a:latin typeface="+mj-lt"/>
            </a:endParaRPr>
          </a:p>
          <a:p>
            <a:pPr algn="just"/>
            <a:endParaRPr lang="en-US" sz="2800" b="1" dirty="0">
              <a:latin typeface="+mj-lt"/>
            </a:endParaRPr>
          </a:p>
          <a:p>
            <a:pPr algn="just"/>
            <a:endParaRPr lang="en-US" sz="3600" b="1" dirty="0">
              <a:latin typeface="+mj-lt"/>
            </a:endParaRPr>
          </a:p>
          <a:p>
            <a:pPr algn="just"/>
            <a:endParaRPr lang="en-US" sz="3600" b="1" dirty="0">
              <a:latin typeface="+mj-lt"/>
            </a:endParaRP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6576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718618010"/>
              </p:ext>
            </p:extLst>
          </p:nvPr>
        </p:nvGraphicFramePr>
        <p:xfrm>
          <a:off x="2032000" y="3370217"/>
          <a:ext cx="4264297" cy="27681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3228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642764" y="522898"/>
            <a:ext cx="2549236" cy="3918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 smtClean="0">
                <a:solidFill>
                  <a:schemeClr val="accent5"/>
                </a:solidFill>
              </a:rPr>
              <a:t>Creating a Budget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137299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9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160891" y="3879035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73444" y="301390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4607766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Circle: Hollow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205197" y="2247144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3" name="Group 112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11161423" y="1980414"/>
            <a:ext cx="378221" cy="380335"/>
            <a:chOff x="3171788" y="779462"/>
            <a:chExt cx="284163" cy="285751"/>
          </a:xfrm>
          <a:solidFill>
            <a:schemeClr val="accent2">
              <a:lumMod val="75000"/>
            </a:schemeClr>
          </a:solidFill>
        </p:grpSpPr>
        <p:sp>
          <p:nvSpPr>
            <p:cNvPr id="114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6" name="Group 115" descr="Icon of books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9785614" y="4484741"/>
            <a:ext cx="344413" cy="382447"/>
            <a:chOff x="2608263" y="1920875"/>
            <a:chExt cx="258763" cy="287338"/>
          </a:xfrm>
          <a:solidFill>
            <a:schemeClr val="accent6">
              <a:lumMod val="75000"/>
            </a:schemeClr>
          </a:solidFill>
        </p:grpSpPr>
        <p:sp>
          <p:nvSpPr>
            <p:cNvPr id="117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Freeform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Freeform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8" name="Freeform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9" name="Freeform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1" name="Freeform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2" name="Freeform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3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11180206" y="3620670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11159311" y="5214528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35" name="Group 134" descr="Icon of computer monitors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9810903" y="2852850"/>
            <a:ext cx="382447" cy="382446"/>
            <a:chOff x="879475" y="5100638"/>
            <a:chExt cx="287338" cy="287337"/>
          </a:xfrm>
          <a:solidFill>
            <a:schemeClr val="accent6">
              <a:lumMod val="75000"/>
            </a:schemeClr>
          </a:solidFill>
        </p:grpSpPr>
        <p:sp>
          <p:nvSpPr>
            <p:cNvPr id="136" name="Freeform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7" name="Freeform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8" name="Freeform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9" name="Freeform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0" name="Freeform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2365566" y="2807399"/>
            <a:ext cx="537820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1" dirty="0" smtClean="0">
                <a:latin typeface="+mj-lt"/>
              </a:rPr>
              <a:t>Cost of Resources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b="1" dirty="0">
              <a:latin typeface="+mj-lt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1" dirty="0" smtClean="0">
                <a:latin typeface="+mj-lt"/>
              </a:rPr>
              <a:t>Budget Estimation</a:t>
            </a:r>
          </a:p>
          <a:p>
            <a:pPr algn="just"/>
            <a:endParaRPr lang="en-US" sz="3600" b="1" dirty="0" smtClean="0">
              <a:latin typeface="+mj-lt"/>
            </a:endParaRPr>
          </a:p>
          <a:p>
            <a:pPr algn="just"/>
            <a:endParaRPr lang="en-US" sz="2800" b="1" dirty="0">
              <a:latin typeface="+mj-lt"/>
            </a:endParaRPr>
          </a:p>
          <a:p>
            <a:pPr algn="just"/>
            <a:endParaRPr lang="en-US" sz="2800" b="1" dirty="0">
              <a:latin typeface="+mj-lt"/>
            </a:endParaRPr>
          </a:p>
          <a:p>
            <a:pPr algn="just"/>
            <a:endParaRPr lang="en-US" sz="3600" b="1" dirty="0">
              <a:latin typeface="+mj-lt"/>
            </a:endParaRPr>
          </a:p>
          <a:p>
            <a:pPr algn="just"/>
            <a:endParaRPr lang="en-US" sz="3600" b="1" dirty="0">
              <a:latin typeface="+mj-lt"/>
            </a:endParaRP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260465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27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642764" y="522898"/>
            <a:ext cx="2549236" cy="3918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 smtClean="0">
                <a:solidFill>
                  <a:schemeClr val="accent5"/>
                </a:solidFill>
              </a:rPr>
              <a:t>Creating a Budget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137299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73444" y="301390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4607766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3" name="Group 112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11161423" y="1980414"/>
            <a:ext cx="378221" cy="380335"/>
            <a:chOff x="3171788" y="779462"/>
            <a:chExt cx="284163" cy="285751"/>
          </a:xfrm>
          <a:solidFill>
            <a:schemeClr val="accent2">
              <a:lumMod val="75000"/>
            </a:schemeClr>
          </a:solidFill>
        </p:grpSpPr>
        <p:sp>
          <p:nvSpPr>
            <p:cNvPr id="114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3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11180206" y="3620670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11159311" y="5214528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260465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908281"/>
              </p:ext>
            </p:extLst>
          </p:nvPr>
        </p:nvGraphicFramePr>
        <p:xfrm>
          <a:off x="526469" y="1372998"/>
          <a:ext cx="9900359" cy="5282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0060">
                  <a:extLst>
                    <a:ext uri="{9D8B030D-6E8A-4147-A177-3AD203B41FA5}">
                      <a16:colId xmlns:a16="http://schemas.microsoft.com/office/drawing/2014/main" val="1301310285"/>
                    </a:ext>
                  </a:extLst>
                </a:gridCol>
                <a:gridCol w="1650060">
                  <a:extLst>
                    <a:ext uri="{9D8B030D-6E8A-4147-A177-3AD203B41FA5}">
                      <a16:colId xmlns:a16="http://schemas.microsoft.com/office/drawing/2014/main" val="2556853421"/>
                    </a:ext>
                  </a:extLst>
                </a:gridCol>
                <a:gridCol w="1743454">
                  <a:extLst>
                    <a:ext uri="{9D8B030D-6E8A-4147-A177-3AD203B41FA5}">
                      <a16:colId xmlns:a16="http://schemas.microsoft.com/office/drawing/2014/main" val="3721313025"/>
                    </a:ext>
                  </a:extLst>
                </a:gridCol>
                <a:gridCol w="1556665">
                  <a:extLst>
                    <a:ext uri="{9D8B030D-6E8A-4147-A177-3AD203B41FA5}">
                      <a16:colId xmlns:a16="http://schemas.microsoft.com/office/drawing/2014/main" val="3627794689"/>
                    </a:ext>
                  </a:extLst>
                </a:gridCol>
                <a:gridCol w="1650060">
                  <a:extLst>
                    <a:ext uri="{9D8B030D-6E8A-4147-A177-3AD203B41FA5}">
                      <a16:colId xmlns:a16="http://schemas.microsoft.com/office/drawing/2014/main" val="1087486324"/>
                    </a:ext>
                  </a:extLst>
                </a:gridCol>
                <a:gridCol w="1650060">
                  <a:extLst>
                    <a:ext uri="{9D8B030D-6E8A-4147-A177-3AD203B41FA5}">
                      <a16:colId xmlns:a16="http://schemas.microsoft.com/office/drawing/2014/main" val="2748494156"/>
                    </a:ext>
                  </a:extLst>
                </a:gridCol>
              </a:tblGrid>
              <a:tr h="4638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Maximum Availability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Cost </a:t>
                      </a:r>
                    </a:p>
                    <a:p>
                      <a:pPr algn="ctr"/>
                      <a:r>
                        <a:rPr lang="en-US" dirty="0" smtClean="0"/>
                        <a:t>($/h)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Overtime</a:t>
                      </a:r>
                    </a:p>
                    <a:p>
                      <a:pPr algn="ctr"/>
                      <a:r>
                        <a:rPr lang="en-US" dirty="0" smtClean="0"/>
                        <a:t>($/h)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Accrue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855113"/>
                  </a:ext>
                </a:extLst>
              </a:tr>
              <a:tr h="4638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R1. Requirement</a:t>
                      </a:r>
                      <a:r>
                        <a:rPr lang="en-US" sz="1600" baseline="0" dirty="0" smtClean="0"/>
                        <a:t> Specialist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Work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Prorated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989317"/>
                  </a:ext>
                </a:extLst>
              </a:tr>
              <a:tr h="4638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R2. System Architect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Work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Prorated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920236"/>
                  </a:ext>
                </a:extLst>
              </a:tr>
              <a:tr h="4638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R3. Developer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Work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Prorated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233155"/>
                  </a:ext>
                </a:extLst>
              </a:tr>
              <a:tr h="4638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R4. Developer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Work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Prorated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742410"/>
                  </a:ext>
                </a:extLst>
              </a:tr>
              <a:tr h="4638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R5. NLP</a:t>
                      </a:r>
                      <a:r>
                        <a:rPr lang="en-US" baseline="0" dirty="0" smtClean="0"/>
                        <a:t> Expert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Work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Prorated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247154"/>
                  </a:ext>
                </a:extLst>
              </a:tr>
              <a:tr h="4638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R6. Tester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Work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Prorated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931458"/>
                  </a:ext>
                </a:extLst>
              </a:tr>
              <a:tr h="4638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PM. Project Manager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Work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Prorated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051062"/>
                  </a:ext>
                </a:extLst>
              </a:tr>
              <a:tr h="4638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R7. Researcher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Advice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Prorated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771612"/>
                  </a:ext>
                </a:extLst>
              </a:tr>
              <a:tr h="4638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R8.</a:t>
                      </a:r>
                      <a:r>
                        <a:rPr lang="en-US" baseline="0" dirty="0" smtClean="0"/>
                        <a:t> TPUs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Equipment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Prorated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57174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593273" y="886691"/>
            <a:ext cx="28248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+mj-lt"/>
              </a:rPr>
              <a:t>Cost of Resources</a:t>
            </a:r>
            <a:endParaRPr lang="en-US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47068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642764" y="522898"/>
            <a:ext cx="2549236" cy="3918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 smtClean="0">
                <a:solidFill>
                  <a:schemeClr val="accent5"/>
                </a:solidFill>
              </a:rPr>
              <a:t>Creating a Budget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0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63804" y="2475552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63804" y="4108224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3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11159114" y="3082314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11195765" y="4761131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260465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356212"/>
              </p:ext>
            </p:extLst>
          </p:nvPr>
        </p:nvGraphicFramePr>
        <p:xfrm>
          <a:off x="640080" y="783772"/>
          <a:ext cx="9781171" cy="5780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675">
                  <a:extLst>
                    <a:ext uri="{9D8B030D-6E8A-4147-A177-3AD203B41FA5}">
                      <a16:colId xmlns:a16="http://schemas.microsoft.com/office/drawing/2014/main" val="2604220342"/>
                    </a:ext>
                  </a:extLst>
                </a:gridCol>
                <a:gridCol w="3226491">
                  <a:extLst>
                    <a:ext uri="{9D8B030D-6E8A-4147-A177-3AD203B41FA5}">
                      <a16:colId xmlns:a16="http://schemas.microsoft.com/office/drawing/2014/main" val="174373007"/>
                    </a:ext>
                  </a:extLst>
                </a:gridCol>
                <a:gridCol w="1880004">
                  <a:extLst>
                    <a:ext uri="{9D8B030D-6E8A-4147-A177-3AD203B41FA5}">
                      <a16:colId xmlns:a16="http://schemas.microsoft.com/office/drawing/2014/main" val="4163488912"/>
                    </a:ext>
                  </a:extLst>
                </a:gridCol>
                <a:gridCol w="1880001">
                  <a:extLst>
                    <a:ext uri="{9D8B030D-6E8A-4147-A177-3AD203B41FA5}">
                      <a16:colId xmlns:a16="http://schemas.microsoft.com/office/drawing/2014/main" val="81505677"/>
                    </a:ext>
                  </a:extLst>
                </a:gridCol>
              </a:tblGrid>
              <a:tr h="510668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Task Name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Resource Name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Work ( Days)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Cost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22581"/>
                  </a:ext>
                </a:extLst>
              </a:tr>
              <a:tr h="439142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Project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445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70,000$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512538"/>
                  </a:ext>
                </a:extLst>
              </a:tr>
              <a:tr h="439142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Inception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120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10,000$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527494"/>
                  </a:ext>
                </a:extLst>
              </a:tr>
              <a:tr h="439142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Requirements Definition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R1. Requirements Specialist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20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2000$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337887"/>
                  </a:ext>
                </a:extLst>
              </a:tr>
              <a:tr h="439142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Design (API)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R2. System Architect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4000$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666910"/>
                  </a:ext>
                </a:extLst>
              </a:tr>
              <a:tr h="439142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Concept Preparation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R7. Designer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30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1000$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278636"/>
                  </a:ext>
                </a:extLst>
              </a:tr>
              <a:tr h="439142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Design Validation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R1. Requirements Specialist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20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1000$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567310"/>
                  </a:ext>
                </a:extLst>
              </a:tr>
              <a:tr h="439142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System Specifications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R2. System Architect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2000%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943661"/>
                  </a:ext>
                </a:extLst>
              </a:tr>
              <a:tr h="439142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Construction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250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40,000$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499457"/>
                  </a:ext>
                </a:extLst>
              </a:tr>
              <a:tr h="439142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Text</a:t>
                      </a:r>
                      <a:r>
                        <a:rPr lang="en-US" sz="2000" baseline="0" dirty="0" smtClean="0"/>
                        <a:t> Parser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R3. Developer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8000$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92577"/>
                  </a:ext>
                </a:extLst>
              </a:tr>
              <a:tr h="439142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Variable Identifier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R3. Developer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20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2000$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4875446"/>
                  </a:ext>
                </a:extLst>
              </a:tr>
              <a:tr h="439142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Dependence</a:t>
                      </a:r>
                      <a:r>
                        <a:rPr lang="en-US" sz="2000" baseline="0" dirty="0" smtClean="0"/>
                        <a:t> Engine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R3. Developer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50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4000$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6767"/>
                  </a:ext>
                </a:extLst>
              </a:tr>
              <a:tr h="439142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Conceptualizer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R4. Developer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30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5000$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839576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0421251" y="1260386"/>
            <a:ext cx="22363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+mj-lt"/>
              </a:rPr>
              <a:t>Budget Estimation</a:t>
            </a:r>
            <a:endParaRPr 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5509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642764" y="522898"/>
            <a:ext cx="2549236" cy="3918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62A9"/>
                </a:solidFill>
                <a:effectLst/>
                <a:uLnTx/>
                <a:uFillTx/>
                <a:latin typeface="Century Gothic"/>
                <a:ea typeface="+mj-ea"/>
                <a:cs typeface="+mj-cs"/>
              </a:rPr>
              <a:t>Creating a Budget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entury Gothic"/>
                <a:ea typeface="+mj-ea"/>
                <a:cs typeface="+mj-cs"/>
              </a:rPr>
              <a:t/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entury Gothic"/>
                <a:ea typeface="+mj-ea"/>
                <a:cs typeface="+mj-cs"/>
              </a:rPr>
            </a:b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entury Gothic"/>
              <a:ea typeface="+mj-ea"/>
              <a:cs typeface="+mj-cs"/>
            </a:endParaRPr>
          </a:p>
        </p:txBody>
      </p:sp>
      <p:sp>
        <p:nvSpPr>
          <p:cNvPr id="108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137299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10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73444" y="301390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11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4607766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grpSp>
        <p:nvGrpSpPr>
          <p:cNvPr id="113" name="Group 112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11161423" y="1980414"/>
            <a:ext cx="378221" cy="380335"/>
            <a:chOff x="3171788" y="779462"/>
            <a:chExt cx="284163" cy="285751"/>
          </a:xfrm>
          <a:solidFill>
            <a:schemeClr val="accent2">
              <a:lumMod val="75000"/>
            </a:schemeClr>
          </a:solidFill>
        </p:grpSpPr>
        <p:sp>
          <p:nvSpPr>
            <p:cNvPr id="114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  <p:sp>
          <p:nvSpPr>
            <p:cNvPr id="115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</p:grpSp>
      <p:sp>
        <p:nvSpPr>
          <p:cNvPr id="133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11180206" y="3620670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34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11159311" y="5214528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260465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492931"/>
              </p:ext>
            </p:extLst>
          </p:nvPr>
        </p:nvGraphicFramePr>
        <p:xfrm>
          <a:off x="541248" y="747278"/>
          <a:ext cx="9992517" cy="5909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4546">
                  <a:extLst>
                    <a:ext uri="{9D8B030D-6E8A-4147-A177-3AD203B41FA5}">
                      <a16:colId xmlns:a16="http://schemas.microsoft.com/office/drawing/2014/main" val="2604220342"/>
                    </a:ext>
                  </a:extLst>
                </a:gridCol>
                <a:gridCol w="2309706">
                  <a:extLst>
                    <a:ext uri="{9D8B030D-6E8A-4147-A177-3AD203B41FA5}">
                      <a16:colId xmlns:a16="http://schemas.microsoft.com/office/drawing/2014/main" val="174373007"/>
                    </a:ext>
                  </a:extLst>
                </a:gridCol>
                <a:gridCol w="2185149">
                  <a:extLst>
                    <a:ext uri="{9D8B030D-6E8A-4147-A177-3AD203B41FA5}">
                      <a16:colId xmlns:a16="http://schemas.microsoft.com/office/drawing/2014/main" val="4163488912"/>
                    </a:ext>
                  </a:extLst>
                </a:gridCol>
                <a:gridCol w="2133116">
                  <a:extLst>
                    <a:ext uri="{9D8B030D-6E8A-4147-A177-3AD203B41FA5}">
                      <a16:colId xmlns:a16="http://schemas.microsoft.com/office/drawing/2014/main" val="81505677"/>
                    </a:ext>
                  </a:extLst>
                </a:gridCol>
              </a:tblGrid>
              <a:tr h="43914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Task Name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Resource Name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Work (IN Days)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Cost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22581"/>
                  </a:ext>
                </a:extLst>
              </a:tr>
              <a:tr h="43914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Algorithm Design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R4. NLP</a:t>
                      </a:r>
                      <a:r>
                        <a:rPr lang="en-US" sz="1800" baseline="0" dirty="0" smtClean="0"/>
                        <a:t> Expert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1000$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512538"/>
                  </a:ext>
                </a:extLst>
              </a:tr>
              <a:tr h="43914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Neural</a:t>
                      </a:r>
                      <a:r>
                        <a:rPr lang="en-US" sz="1800" baseline="0" dirty="0" smtClean="0"/>
                        <a:t> Engine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R4. Developer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10,000$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527494"/>
                  </a:ext>
                </a:extLst>
              </a:tr>
              <a:tr h="43914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Interface</a:t>
                      </a:r>
                      <a:r>
                        <a:rPr lang="en-US" sz="1800" baseline="0" dirty="0" smtClean="0"/>
                        <a:t> Engine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R5. Developer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7000$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337887"/>
                  </a:ext>
                </a:extLst>
              </a:tr>
              <a:tr h="43914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.NET</a:t>
                      </a:r>
                      <a:r>
                        <a:rPr lang="en-US" sz="1800" baseline="0" dirty="0" smtClean="0"/>
                        <a:t> Desktop Adaptation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R7. Developer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15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3000$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666910"/>
                  </a:ext>
                </a:extLst>
              </a:tr>
              <a:tr h="43914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Deployment in Testing </a:t>
                      </a:r>
                      <a:r>
                        <a:rPr lang="en-US" sz="1800" dirty="0" err="1" smtClean="0"/>
                        <a:t>Env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R3. Developer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500$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278636"/>
                  </a:ext>
                </a:extLst>
              </a:tr>
              <a:tr h="43914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Design Validation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15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200$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567310"/>
                  </a:ext>
                </a:extLst>
              </a:tr>
              <a:tr h="43914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System Ready for Testing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50$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943661"/>
                  </a:ext>
                </a:extLst>
              </a:tr>
              <a:tr h="43914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Test Case Definition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R6. Tester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1000$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499457"/>
                  </a:ext>
                </a:extLst>
              </a:tr>
              <a:tr h="43914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Test Cases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R6. Tester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1500$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92577"/>
                  </a:ext>
                </a:extLst>
              </a:tr>
              <a:tr h="43914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System Testing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R6. Tester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1000$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4875446"/>
                  </a:ext>
                </a:extLst>
              </a:tr>
              <a:tr h="43914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System Fixing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R3. Developer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2400$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6767"/>
                  </a:ext>
                </a:extLst>
              </a:tr>
              <a:tr h="43914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System Ready for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dirty="0" smtClean="0"/>
                        <a:t>Deployment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50$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839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038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642764" y="522898"/>
            <a:ext cx="2549236" cy="3918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 smtClean="0">
                <a:solidFill>
                  <a:schemeClr val="accent5"/>
                </a:solidFill>
              </a:rPr>
              <a:t>Creating a Budget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137299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73444" y="301390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4607766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3" name="Group 112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11161423" y="1980414"/>
            <a:ext cx="378221" cy="380335"/>
            <a:chOff x="3171788" y="779462"/>
            <a:chExt cx="284163" cy="285751"/>
          </a:xfrm>
          <a:solidFill>
            <a:schemeClr val="accent2">
              <a:lumMod val="75000"/>
            </a:schemeClr>
          </a:solidFill>
        </p:grpSpPr>
        <p:sp>
          <p:nvSpPr>
            <p:cNvPr id="114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3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11180206" y="3620670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11159311" y="5214528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260465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475471"/>
              </p:ext>
            </p:extLst>
          </p:nvPr>
        </p:nvGraphicFramePr>
        <p:xfrm>
          <a:off x="1249499" y="894485"/>
          <a:ext cx="8940800" cy="5670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200">
                  <a:extLst>
                    <a:ext uri="{9D8B030D-6E8A-4147-A177-3AD203B41FA5}">
                      <a16:colId xmlns:a16="http://schemas.microsoft.com/office/drawing/2014/main" val="774083428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181006748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841974952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1059433397"/>
                    </a:ext>
                  </a:extLst>
                </a:gridCol>
              </a:tblGrid>
              <a:tr h="62200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Task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Resource</a:t>
                      </a:r>
                      <a:r>
                        <a:rPr lang="en-US" baseline="0" dirty="0" smtClean="0"/>
                        <a:t> Allocation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Work (In Days)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Cost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088843"/>
                  </a:ext>
                </a:extLst>
              </a:tr>
              <a:tr h="622001">
                <a:tc>
                  <a:txBody>
                    <a:bodyPr/>
                    <a:lstStyle/>
                    <a:p>
                      <a:r>
                        <a:rPr lang="en-US" dirty="0" smtClean="0"/>
                        <a:t>Deployment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20,000$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718115"/>
                  </a:ext>
                </a:extLst>
              </a:tr>
              <a:tr h="622001">
                <a:tc>
                  <a:txBody>
                    <a:bodyPr/>
                    <a:lstStyle/>
                    <a:p>
                      <a:r>
                        <a:rPr lang="en-US" dirty="0" smtClean="0"/>
                        <a:t>System Installation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R2. Developer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2000$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970849"/>
                  </a:ext>
                </a:extLst>
              </a:tr>
              <a:tr h="622001">
                <a:tc>
                  <a:txBody>
                    <a:bodyPr/>
                    <a:lstStyle/>
                    <a:p>
                      <a:r>
                        <a:rPr lang="en-US" dirty="0" smtClean="0"/>
                        <a:t>System Ready for Experimentation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500$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787567"/>
                  </a:ext>
                </a:extLst>
              </a:tr>
              <a:tr h="622001">
                <a:tc>
                  <a:txBody>
                    <a:bodyPr/>
                    <a:lstStyle/>
                    <a:p>
                      <a:r>
                        <a:rPr lang="en-US" dirty="0" smtClean="0"/>
                        <a:t>Experimentation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R7. Developer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2000$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862506"/>
                  </a:ext>
                </a:extLst>
              </a:tr>
              <a:tr h="622001">
                <a:tc>
                  <a:txBody>
                    <a:bodyPr/>
                    <a:lstStyle/>
                    <a:p>
                      <a:r>
                        <a:rPr lang="en-US" dirty="0" smtClean="0"/>
                        <a:t>Candidates for Test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7000$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004894"/>
                  </a:ext>
                </a:extLst>
              </a:tr>
              <a:tr h="62200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Experimentation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1000$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145957"/>
                  </a:ext>
                </a:extLst>
              </a:tr>
              <a:tr h="622001">
                <a:tc>
                  <a:txBody>
                    <a:bodyPr/>
                    <a:lstStyle/>
                    <a:p>
                      <a:r>
                        <a:rPr lang="en-US" dirty="0" smtClean="0"/>
                        <a:t>Corrective Maintenance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R5. Developer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500$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203814"/>
                  </a:ext>
                </a:extLst>
              </a:tr>
              <a:tr h="622001">
                <a:tc>
                  <a:txBody>
                    <a:bodyPr/>
                    <a:lstStyle/>
                    <a:p>
                      <a:r>
                        <a:rPr lang="en-US" dirty="0" smtClean="0"/>
                        <a:t>Project Management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PM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Project Manager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1500%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350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980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293531" y="522898"/>
            <a:ext cx="1898469" cy="3918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Changing plan to meet deadline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137299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9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160891" y="3879035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73444" y="301390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4607766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Circle: Hollow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205197" y="2247144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3" name="Group 112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11161423" y="1980414"/>
            <a:ext cx="378221" cy="380335"/>
            <a:chOff x="3171788" y="779462"/>
            <a:chExt cx="284163" cy="285751"/>
          </a:xfrm>
          <a:solidFill>
            <a:schemeClr val="accent2">
              <a:lumMod val="75000"/>
            </a:schemeClr>
          </a:solidFill>
        </p:grpSpPr>
        <p:sp>
          <p:nvSpPr>
            <p:cNvPr id="114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6" name="Group 115" descr="Icon of books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9785614" y="4484741"/>
            <a:ext cx="344413" cy="382447"/>
            <a:chOff x="2608263" y="1920875"/>
            <a:chExt cx="258763" cy="287338"/>
          </a:xfrm>
          <a:solidFill>
            <a:schemeClr val="accent6">
              <a:lumMod val="75000"/>
            </a:schemeClr>
          </a:solidFill>
        </p:grpSpPr>
        <p:sp>
          <p:nvSpPr>
            <p:cNvPr id="117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Freeform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Freeform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8" name="Freeform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9" name="Freeform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1" name="Freeform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2" name="Freeform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3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11180206" y="3620670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11159311" y="5214528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35" name="Group 134" descr="Icon of computer monitors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9810903" y="2852850"/>
            <a:ext cx="382447" cy="382446"/>
            <a:chOff x="879475" y="5100638"/>
            <a:chExt cx="287338" cy="287337"/>
          </a:xfrm>
          <a:solidFill>
            <a:schemeClr val="accent6">
              <a:lumMod val="75000"/>
            </a:schemeClr>
          </a:solidFill>
        </p:grpSpPr>
        <p:sp>
          <p:nvSpPr>
            <p:cNvPr id="136" name="Freeform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7" name="Freeform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8" name="Freeform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9" name="Freeform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0" name="Freeform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2664007" y="1527136"/>
            <a:ext cx="504904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3600" b="1" dirty="0" smtClean="0">
              <a:latin typeface="+mj-lt"/>
            </a:endParaRPr>
          </a:p>
          <a:p>
            <a:pPr algn="just"/>
            <a:endParaRPr lang="en-US" sz="3600" b="1" dirty="0">
              <a:latin typeface="+mj-lt"/>
            </a:endParaRPr>
          </a:p>
          <a:p>
            <a:pPr algn="just"/>
            <a:endParaRPr lang="en-US" sz="3600" b="1" dirty="0" smtClean="0">
              <a:latin typeface="+mj-lt"/>
            </a:endParaRPr>
          </a:p>
          <a:p>
            <a:pPr algn="ctr"/>
            <a:r>
              <a:rPr lang="en-US" sz="3600" b="1" dirty="0" smtClean="0">
                <a:latin typeface="+mj-lt"/>
              </a:rPr>
              <a:t>For the given plan we are 1 </a:t>
            </a:r>
            <a:r>
              <a:rPr lang="en-US" sz="3600" b="1" dirty="0" smtClean="0">
                <a:latin typeface="+mj-lt"/>
              </a:rPr>
              <a:t>month </a:t>
            </a:r>
            <a:r>
              <a:rPr lang="en-US" sz="3600" b="1" dirty="0" smtClean="0">
                <a:latin typeface="+mj-lt"/>
              </a:rPr>
              <a:t>late.</a:t>
            </a:r>
            <a:endParaRPr lang="en-US" sz="3600" b="1" dirty="0">
              <a:latin typeface="+mj-lt"/>
            </a:endParaRPr>
          </a:p>
          <a:p>
            <a:pPr algn="just"/>
            <a:endParaRPr lang="en-US" sz="3600" b="1" dirty="0">
              <a:latin typeface="+mj-lt"/>
            </a:endParaRP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192024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93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293531" y="522898"/>
            <a:ext cx="1898469" cy="3918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Changing plan to meet deadline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137299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9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160891" y="3879035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73444" y="301390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4607766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Circle: Hollow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205197" y="2247144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3" name="Group 112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11161423" y="1980414"/>
            <a:ext cx="378221" cy="380335"/>
            <a:chOff x="3171788" y="779462"/>
            <a:chExt cx="284163" cy="285751"/>
          </a:xfrm>
          <a:solidFill>
            <a:schemeClr val="accent2">
              <a:lumMod val="75000"/>
            </a:schemeClr>
          </a:solidFill>
        </p:grpSpPr>
        <p:sp>
          <p:nvSpPr>
            <p:cNvPr id="114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6" name="Group 115" descr="Icon of books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9785614" y="4484741"/>
            <a:ext cx="344413" cy="382447"/>
            <a:chOff x="2608263" y="1920875"/>
            <a:chExt cx="258763" cy="287338"/>
          </a:xfrm>
          <a:solidFill>
            <a:schemeClr val="accent6">
              <a:lumMod val="75000"/>
            </a:schemeClr>
          </a:solidFill>
        </p:grpSpPr>
        <p:sp>
          <p:nvSpPr>
            <p:cNvPr id="117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Freeform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Freeform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8" name="Freeform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9" name="Freeform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1" name="Freeform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2" name="Freeform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3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11180206" y="3620670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11159311" y="5214528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35" name="Group 134" descr="Icon of computer monitors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9810903" y="2852850"/>
            <a:ext cx="382447" cy="382446"/>
            <a:chOff x="879475" y="5100638"/>
            <a:chExt cx="287338" cy="287337"/>
          </a:xfrm>
          <a:solidFill>
            <a:schemeClr val="accent6">
              <a:lumMod val="75000"/>
            </a:schemeClr>
          </a:solidFill>
        </p:grpSpPr>
        <p:sp>
          <p:nvSpPr>
            <p:cNvPr id="136" name="Freeform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7" name="Freeform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8" name="Freeform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9" name="Freeform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0" name="Freeform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1214846" y="1464694"/>
            <a:ext cx="745260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 smtClean="0">
                <a:latin typeface="+mj-lt"/>
              </a:rPr>
              <a:t>To </a:t>
            </a:r>
            <a:r>
              <a:rPr lang="en-US" sz="2800" b="1" dirty="0">
                <a:latin typeface="+mj-lt"/>
              </a:rPr>
              <a:t>meet deadline we have </a:t>
            </a:r>
            <a:r>
              <a:rPr lang="en-US" sz="2800" b="1" dirty="0" smtClean="0">
                <a:latin typeface="+mj-lt"/>
              </a:rPr>
              <a:t>2 </a:t>
            </a:r>
            <a:r>
              <a:rPr lang="en-US" sz="2800" b="1" dirty="0">
                <a:latin typeface="+mj-lt"/>
              </a:rPr>
              <a:t>options</a:t>
            </a:r>
          </a:p>
          <a:p>
            <a:pPr algn="just"/>
            <a:endParaRPr lang="en-US" sz="2800" b="1" dirty="0" smtClean="0">
              <a:latin typeface="+mj-lt"/>
            </a:endParaRPr>
          </a:p>
          <a:p>
            <a:pPr algn="just"/>
            <a:endParaRPr lang="en-US" sz="2800" b="1" dirty="0">
              <a:latin typeface="+mj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Changing the Project Approach</a:t>
            </a:r>
          </a:p>
          <a:p>
            <a:pPr algn="just"/>
            <a:endParaRPr lang="en-US" sz="2800" b="1" dirty="0">
              <a:latin typeface="+mj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Fast Tracking</a:t>
            </a:r>
          </a:p>
          <a:p>
            <a:pPr algn="just"/>
            <a:endParaRPr lang="en-US" sz="3600" b="1" dirty="0">
              <a:latin typeface="+mj-lt"/>
            </a:endParaRPr>
          </a:p>
          <a:p>
            <a:pPr algn="just"/>
            <a:endParaRPr lang="en-US" sz="3600" b="1" dirty="0">
              <a:latin typeface="+mj-lt"/>
            </a:endParaRP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192024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7098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293531" y="522898"/>
            <a:ext cx="1898469" cy="3918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Changing plan to meet deadline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137299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9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160891" y="3879035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73444" y="301390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4607766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Circle: Hollow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205197" y="2247144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3" name="Group 112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11161423" y="1980414"/>
            <a:ext cx="378221" cy="380335"/>
            <a:chOff x="3171788" y="779462"/>
            <a:chExt cx="284163" cy="285751"/>
          </a:xfrm>
          <a:solidFill>
            <a:schemeClr val="accent2">
              <a:lumMod val="75000"/>
            </a:schemeClr>
          </a:solidFill>
        </p:grpSpPr>
        <p:sp>
          <p:nvSpPr>
            <p:cNvPr id="114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6" name="Group 115" descr="Icon of books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9785614" y="4484741"/>
            <a:ext cx="344413" cy="382447"/>
            <a:chOff x="2608263" y="1920875"/>
            <a:chExt cx="258763" cy="287338"/>
          </a:xfrm>
          <a:solidFill>
            <a:schemeClr val="accent6">
              <a:lumMod val="75000"/>
            </a:schemeClr>
          </a:solidFill>
        </p:grpSpPr>
        <p:sp>
          <p:nvSpPr>
            <p:cNvPr id="117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Freeform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Freeform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8" name="Freeform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9" name="Freeform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1" name="Freeform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2" name="Freeform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3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11180206" y="3620670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11159311" y="5214528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35" name="Group 134" descr="Icon of computer monitors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9810903" y="2852850"/>
            <a:ext cx="382447" cy="382446"/>
            <a:chOff x="879475" y="5100638"/>
            <a:chExt cx="287338" cy="287337"/>
          </a:xfrm>
          <a:solidFill>
            <a:schemeClr val="accent6">
              <a:lumMod val="75000"/>
            </a:schemeClr>
          </a:solidFill>
        </p:grpSpPr>
        <p:sp>
          <p:nvSpPr>
            <p:cNvPr id="136" name="Freeform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7" name="Freeform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8" name="Freeform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9" name="Freeform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0" name="Freeform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1144771" y="1464694"/>
            <a:ext cx="745260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+mj-lt"/>
              </a:rPr>
              <a:t>We have decided to Change the Project Approach</a:t>
            </a:r>
          </a:p>
          <a:p>
            <a:pPr algn="just"/>
            <a:endParaRPr lang="en-US" sz="2800" b="1" dirty="0">
              <a:latin typeface="+mj-lt"/>
            </a:endParaRPr>
          </a:p>
          <a:p>
            <a:pPr algn="just"/>
            <a:r>
              <a:rPr lang="en-US" sz="2800" b="1" dirty="0" smtClean="0">
                <a:latin typeface="+mj-lt"/>
              </a:rPr>
              <a:t>Make three contracts </a:t>
            </a:r>
          </a:p>
          <a:p>
            <a:pPr algn="just"/>
            <a:endParaRPr lang="en-US" sz="2800" dirty="0">
              <a:latin typeface="+mj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+mj-lt"/>
              </a:rPr>
              <a:t>Initiation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+mj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+mj-lt"/>
              </a:rPr>
              <a:t>Construction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+mj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+mj-lt"/>
              </a:rPr>
              <a:t>Deployment and Experimentation</a:t>
            </a:r>
            <a:endParaRPr lang="en-US" sz="3600" dirty="0">
              <a:latin typeface="+mj-lt"/>
            </a:endParaRPr>
          </a:p>
          <a:p>
            <a:pPr algn="just"/>
            <a:endParaRPr lang="en-US" sz="3600" b="1" dirty="0">
              <a:latin typeface="+mj-lt"/>
            </a:endParaRP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192024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8263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293531" y="522898"/>
            <a:ext cx="1898469" cy="3918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Changing plan to meet deadline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137299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9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160891" y="3879035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73444" y="301390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4607766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Circle: Hollow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205197" y="2247144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3" name="Group 112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11161423" y="1980414"/>
            <a:ext cx="378221" cy="380335"/>
            <a:chOff x="3171788" y="779462"/>
            <a:chExt cx="284163" cy="285751"/>
          </a:xfrm>
          <a:solidFill>
            <a:schemeClr val="accent2">
              <a:lumMod val="75000"/>
            </a:schemeClr>
          </a:solidFill>
        </p:grpSpPr>
        <p:sp>
          <p:nvSpPr>
            <p:cNvPr id="114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6" name="Group 115" descr="Icon of books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9785614" y="4484741"/>
            <a:ext cx="344413" cy="382447"/>
            <a:chOff x="2608263" y="1920875"/>
            <a:chExt cx="258763" cy="287338"/>
          </a:xfrm>
          <a:solidFill>
            <a:schemeClr val="accent6">
              <a:lumMod val="75000"/>
            </a:schemeClr>
          </a:solidFill>
        </p:grpSpPr>
        <p:sp>
          <p:nvSpPr>
            <p:cNvPr id="117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Freeform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Freeform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8" name="Freeform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9" name="Freeform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1" name="Freeform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2" name="Freeform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3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11180206" y="3620670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11159311" y="5214528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35" name="Group 134" descr="Icon of computer monitors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9810903" y="2852850"/>
            <a:ext cx="382447" cy="382446"/>
            <a:chOff x="879475" y="5100638"/>
            <a:chExt cx="287338" cy="287337"/>
          </a:xfrm>
          <a:solidFill>
            <a:schemeClr val="accent6">
              <a:lumMod val="75000"/>
            </a:schemeClr>
          </a:solidFill>
        </p:grpSpPr>
        <p:sp>
          <p:nvSpPr>
            <p:cNvPr id="136" name="Freeform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7" name="Freeform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8" name="Freeform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9" name="Freeform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0" name="Freeform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1214846" y="1464694"/>
            <a:ext cx="7452607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 smtClean="0">
                <a:latin typeface="+mj-lt"/>
              </a:rPr>
              <a:t>We have decided to Change </a:t>
            </a:r>
            <a:r>
              <a:rPr lang="en-US" sz="2800" b="1" dirty="0">
                <a:latin typeface="+mj-lt"/>
              </a:rPr>
              <a:t>the Project </a:t>
            </a:r>
            <a:r>
              <a:rPr lang="en-US" sz="2800" b="1" dirty="0" smtClean="0">
                <a:latin typeface="+mj-lt"/>
              </a:rPr>
              <a:t>Approach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b="1" dirty="0" smtClean="0">
              <a:latin typeface="+mj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b="1" dirty="0">
              <a:latin typeface="+mj-lt"/>
            </a:endParaRPr>
          </a:p>
          <a:p>
            <a:pPr algn="just"/>
            <a:endParaRPr lang="en-US" sz="2800" b="1" dirty="0" smtClean="0">
              <a:latin typeface="+mj-lt"/>
            </a:endParaRPr>
          </a:p>
          <a:p>
            <a:pPr algn="just"/>
            <a:endParaRPr lang="en-US" sz="2800" b="1" dirty="0" smtClean="0">
              <a:latin typeface="+mj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+mj-lt"/>
              </a:rPr>
              <a:t>Parallel Model of Development</a:t>
            </a:r>
          </a:p>
          <a:p>
            <a:pPr algn="just"/>
            <a:endParaRPr lang="en-US" sz="2800" b="1" dirty="0" smtClean="0">
              <a:latin typeface="+mj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b="1" dirty="0" smtClean="0">
              <a:latin typeface="+mj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b="1" dirty="0">
              <a:latin typeface="+mj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b="1" dirty="0">
              <a:latin typeface="+mj-lt"/>
            </a:endParaRPr>
          </a:p>
          <a:p>
            <a:pPr algn="just"/>
            <a:endParaRPr lang="en-US" sz="3600" b="1" dirty="0">
              <a:latin typeface="+mj-lt"/>
            </a:endParaRPr>
          </a:p>
          <a:p>
            <a:pPr algn="just"/>
            <a:endParaRPr lang="en-US" sz="3600" b="1" dirty="0">
              <a:latin typeface="+mj-lt"/>
            </a:endParaRP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192024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98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293531" y="522898"/>
            <a:ext cx="1898469" cy="3918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accent5"/>
                </a:solidFill>
              </a:rPr>
              <a:t>Changing plan to meet deadline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137299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9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160891" y="3879035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0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73444" y="3013908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0553605" y="4607766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Circle: Hollow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205197" y="2247144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3" name="Group 112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11161423" y="1980414"/>
            <a:ext cx="378221" cy="380335"/>
            <a:chOff x="3171788" y="779462"/>
            <a:chExt cx="284163" cy="285751"/>
          </a:xfrm>
          <a:solidFill>
            <a:schemeClr val="accent2">
              <a:lumMod val="75000"/>
            </a:schemeClr>
          </a:solidFill>
        </p:grpSpPr>
        <p:sp>
          <p:nvSpPr>
            <p:cNvPr id="114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6" name="Group 115" descr="Icon of books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9785614" y="4484741"/>
            <a:ext cx="344413" cy="382447"/>
            <a:chOff x="2608263" y="1920875"/>
            <a:chExt cx="258763" cy="287338"/>
          </a:xfrm>
          <a:solidFill>
            <a:schemeClr val="accent6">
              <a:lumMod val="75000"/>
            </a:schemeClr>
          </a:solidFill>
        </p:grpSpPr>
        <p:sp>
          <p:nvSpPr>
            <p:cNvPr id="117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Freeform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Freeform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8" name="Freeform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9" name="Freeform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1" name="Freeform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2" name="Freeform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3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11180206" y="3620670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11159311" y="5214528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35" name="Group 134" descr="Icon of computer monitors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9810903" y="2852850"/>
            <a:ext cx="382447" cy="382446"/>
            <a:chOff x="879475" y="5100638"/>
            <a:chExt cx="287338" cy="287337"/>
          </a:xfrm>
          <a:solidFill>
            <a:schemeClr val="accent6">
              <a:lumMod val="75000"/>
            </a:schemeClr>
          </a:solidFill>
        </p:grpSpPr>
        <p:sp>
          <p:nvSpPr>
            <p:cNvPr id="136" name="Freeform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7" name="Freeform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8" name="Freeform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9" name="Freeform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0" name="Freeform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1214846" y="1464694"/>
            <a:ext cx="7452607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+mj-lt"/>
              </a:rPr>
              <a:t>Fast Tracking</a:t>
            </a:r>
          </a:p>
          <a:p>
            <a:pPr algn="just"/>
            <a:endParaRPr lang="en-US" sz="3600" b="1" dirty="0" smtClean="0">
              <a:latin typeface="+mj-lt"/>
            </a:endParaRPr>
          </a:p>
          <a:p>
            <a:pPr algn="just"/>
            <a:endParaRPr lang="en-US" sz="3600" b="1" dirty="0">
              <a:latin typeface="+mj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+mj-lt"/>
              </a:rPr>
              <a:t>Start Testing each module in construction package after it’s completion.</a:t>
            </a:r>
          </a:p>
          <a:p>
            <a:pPr algn="just"/>
            <a:endParaRPr lang="en-US" sz="2800" b="1" dirty="0" smtClean="0">
              <a:latin typeface="+mj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b="1" dirty="0" smtClean="0">
              <a:latin typeface="+mj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b="1" dirty="0">
              <a:latin typeface="+mj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b="1" dirty="0">
              <a:latin typeface="+mj-lt"/>
            </a:endParaRPr>
          </a:p>
          <a:p>
            <a:pPr algn="just"/>
            <a:endParaRPr lang="en-US" sz="3600" b="1" dirty="0">
              <a:latin typeface="+mj-lt"/>
            </a:endParaRPr>
          </a:p>
          <a:p>
            <a:pPr algn="just"/>
            <a:endParaRPr lang="en-US" sz="3600" b="1" dirty="0">
              <a:latin typeface="+mj-lt"/>
            </a:endParaRP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192024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668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accent4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19A0BF-83F1-46AE-BECC-8E5CF8EC7E04}"/>
              </a:ext>
            </a:extLst>
          </p:cNvPr>
          <p:cNvSpPr txBox="1"/>
          <p:nvPr/>
        </p:nvSpPr>
        <p:spPr>
          <a:xfrm>
            <a:off x="1302326" y="5878723"/>
            <a:ext cx="10390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+mj-lt"/>
              </a:rPr>
              <a:t>Presented by Zain Khalid (FA19-BCS-112) and Zohaib Mehmood (FA19-BCS-087)</a:t>
            </a:r>
            <a:endParaRPr lang="en-PK" sz="20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59261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F609EDA-869E-4BE5-AE5D-B898C584B6FF}">
  <ds:schemaRefs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dcmitype/"/>
    <ds:schemaRef ds:uri="http://purl.org/dc/elements/1.1/"/>
    <ds:schemaRef ds:uri="71af3243-3dd4-4a8d-8c0d-dd76da1f02a5"/>
    <ds:schemaRef ds:uri="http://schemas.microsoft.com/office/2006/metadata/properties"/>
    <ds:schemaRef ds:uri="16c05727-aa75-4e4a-9b5f-8a80a1165891"/>
  </ds:schemaRefs>
</ds:datastoreItem>
</file>

<file path=customXml/itemProps3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TotalTime>0</TotalTime>
  <Words>1082</Words>
  <Application>Microsoft Office PowerPoint</Application>
  <PresentationFormat>Widescreen</PresentationFormat>
  <Paragraphs>504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Century Gothic</vt:lpstr>
      <vt:lpstr>Segoe UI</vt:lpstr>
      <vt:lpstr>Segoe UI Light</vt:lpstr>
      <vt:lpstr>Office Theme</vt:lpstr>
      <vt:lpstr>Report on ‘DeltaCode’  Project Management Presentation</vt:lpstr>
      <vt:lpstr>Project analysis slide 2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2022-06-21T13:01:10Z</dcterms:created>
  <dcterms:modified xsi:type="dcterms:W3CDTF">2022-06-29T11:02:28Z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